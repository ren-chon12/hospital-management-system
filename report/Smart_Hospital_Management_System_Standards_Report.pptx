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7559675" cy="106918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243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77CAB-50D7-F49D-AB0F-E7E7811C44E4}"/>
              </a:ext>
            </a:extLst>
          </p:cNvPr>
          <p:cNvSpPr>
            <a:spLocks noGrp="1"/>
          </p:cNvSpPr>
          <p:nvPr>
            <p:ph type="ctrTitle"/>
          </p:nvPr>
        </p:nvSpPr>
        <p:spPr>
          <a:xfrm>
            <a:off x="944960" y="1749795"/>
            <a:ext cx="5669756" cy="3722335"/>
          </a:xfrm>
        </p:spPr>
        <p:txBody>
          <a:bodyPr anchor="b"/>
          <a:lstStyle>
            <a:lvl1pPr algn="ctr">
              <a:defRPr sz="3721"/>
            </a:lvl1pPr>
          </a:lstStyle>
          <a:p>
            <a:r>
              <a:rPr lang="en-US"/>
              <a:t>Click to edit Master title style</a:t>
            </a:r>
            <a:endParaRPr lang="en-IN"/>
          </a:p>
        </p:txBody>
      </p:sp>
      <p:sp>
        <p:nvSpPr>
          <p:cNvPr id="3" name="Subtitle 2">
            <a:extLst>
              <a:ext uri="{FF2B5EF4-FFF2-40B4-BE49-F238E27FC236}">
                <a16:creationId xmlns:a16="http://schemas.microsoft.com/office/drawing/2014/main" id="{F3D748A1-ED6D-52B2-9F4C-F0DC628D6581}"/>
              </a:ext>
            </a:extLst>
          </p:cNvPr>
          <p:cNvSpPr>
            <a:spLocks noGrp="1"/>
          </p:cNvSpPr>
          <p:nvPr>
            <p:ph type="subTitle" idx="1"/>
          </p:nvPr>
        </p:nvSpPr>
        <p:spPr>
          <a:xfrm>
            <a:off x="944960" y="5615678"/>
            <a:ext cx="5669756" cy="2581379"/>
          </a:xfrm>
        </p:spPr>
        <p:txBody>
          <a:bodyPr/>
          <a:lstStyle>
            <a:lvl1pPr marL="0" indent="0" algn="ctr">
              <a:buNone/>
              <a:defRPr sz="1488"/>
            </a:lvl1pPr>
            <a:lvl2pPr marL="283510" indent="0" algn="ctr">
              <a:buNone/>
              <a:defRPr sz="1240"/>
            </a:lvl2pPr>
            <a:lvl3pPr marL="567019" indent="0" algn="ctr">
              <a:buNone/>
              <a:defRPr sz="1116"/>
            </a:lvl3pPr>
            <a:lvl4pPr marL="850529" indent="0" algn="ctr">
              <a:buNone/>
              <a:defRPr sz="992"/>
            </a:lvl4pPr>
            <a:lvl5pPr marL="1134039" indent="0" algn="ctr">
              <a:buNone/>
              <a:defRPr sz="992"/>
            </a:lvl5pPr>
            <a:lvl6pPr marL="1417549" indent="0" algn="ctr">
              <a:buNone/>
              <a:defRPr sz="992"/>
            </a:lvl6pPr>
            <a:lvl7pPr marL="1701058" indent="0" algn="ctr">
              <a:buNone/>
              <a:defRPr sz="992"/>
            </a:lvl7pPr>
            <a:lvl8pPr marL="1984568" indent="0" algn="ctr">
              <a:buNone/>
              <a:defRPr sz="992"/>
            </a:lvl8pPr>
            <a:lvl9pPr marL="2268078" indent="0" algn="ctr">
              <a:buNone/>
              <a:defRPr sz="992"/>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BAAE33-C663-793F-62AD-F4B91039A199}"/>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5" name="Footer Placeholder 4">
            <a:extLst>
              <a:ext uri="{FF2B5EF4-FFF2-40B4-BE49-F238E27FC236}">
                <a16:creationId xmlns:a16="http://schemas.microsoft.com/office/drawing/2014/main" id="{083B5295-D048-E37F-EBD4-D94C2CFEC2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C751F3-7F3E-93EE-EC4E-5C7B5973C1AA}"/>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3019969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576BE-AB7F-FE35-8EC2-703B55BFDE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F7742F-69D7-A47C-48EB-FD63E8D8E5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62DB35-D25A-48D9-DB4D-5D26FDE76A30}"/>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5" name="Footer Placeholder 4">
            <a:extLst>
              <a:ext uri="{FF2B5EF4-FFF2-40B4-BE49-F238E27FC236}">
                <a16:creationId xmlns:a16="http://schemas.microsoft.com/office/drawing/2014/main" id="{AF68135B-7B73-3314-F678-41CDB249FD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29E21C-AFCB-CC8F-C4C1-461E186DC426}"/>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2513056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B39C0-3636-C01E-AF86-6CC37033E0CE}"/>
              </a:ext>
            </a:extLst>
          </p:cNvPr>
          <p:cNvSpPr>
            <a:spLocks noGrp="1"/>
          </p:cNvSpPr>
          <p:nvPr>
            <p:ph type="title"/>
          </p:nvPr>
        </p:nvSpPr>
        <p:spPr>
          <a:xfrm>
            <a:off x="515790" y="2665532"/>
            <a:ext cx="6520220" cy="4447496"/>
          </a:xfrm>
        </p:spPr>
        <p:txBody>
          <a:bodyPr anchor="b"/>
          <a:lstStyle>
            <a:lvl1pPr>
              <a:defRPr sz="3721"/>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9F07C4-CC8A-89ED-9B35-F1CE060D8CA9}"/>
              </a:ext>
            </a:extLst>
          </p:cNvPr>
          <p:cNvSpPr>
            <a:spLocks noGrp="1"/>
          </p:cNvSpPr>
          <p:nvPr>
            <p:ph type="body" idx="1"/>
          </p:nvPr>
        </p:nvSpPr>
        <p:spPr>
          <a:xfrm>
            <a:off x="515790" y="7155103"/>
            <a:ext cx="6520220" cy="2338833"/>
          </a:xfrm>
        </p:spPr>
        <p:txBody>
          <a:bodyPr/>
          <a:lstStyle>
            <a:lvl1pPr marL="0" indent="0">
              <a:buNone/>
              <a:defRPr sz="1488">
                <a:solidFill>
                  <a:schemeClr val="tx1">
                    <a:tint val="82000"/>
                  </a:schemeClr>
                </a:solidFill>
              </a:defRPr>
            </a:lvl1pPr>
            <a:lvl2pPr marL="283510" indent="0">
              <a:buNone/>
              <a:defRPr sz="1240">
                <a:solidFill>
                  <a:schemeClr val="tx1">
                    <a:tint val="82000"/>
                  </a:schemeClr>
                </a:solidFill>
              </a:defRPr>
            </a:lvl2pPr>
            <a:lvl3pPr marL="567019" indent="0">
              <a:buNone/>
              <a:defRPr sz="1116">
                <a:solidFill>
                  <a:schemeClr val="tx1">
                    <a:tint val="82000"/>
                  </a:schemeClr>
                </a:solidFill>
              </a:defRPr>
            </a:lvl3pPr>
            <a:lvl4pPr marL="850529" indent="0">
              <a:buNone/>
              <a:defRPr sz="992">
                <a:solidFill>
                  <a:schemeClr val="tx1">
                    <a:tint val="82000"/>
                  </a:schemeClr>
                </a:solidFill>
              </a:defRPr>
            </a:lvl4pPr>
            <a:lvl5pPr marL="1134039" indent="0">
              <a:buNone/>
              <a:defRPr sz="992">
                <a:solidFill>
                  <a:schemeClr val="tx1">
                    <a:tint val="82000"/>
                  </a:schemeClr>
                </a:solidFill>
              </a:defRPr>
            </a:lvl5pPr>
            <a:lvl6pPr marL="1417549" indent="0">
              <a:buNone/>
              <a:defRPr sz="992">
                <a:solidFill>
                  <a:schemeClr val="tx1">
                    <a:tint val="82000"/>
                  </a:schemeClr>
                </a:solidFill>
              </a:defRPr>
            </a:lvl6pPr>
            <a:lvl7pPr marL="1701058" indent="0">
              <a:buNone/>
              <a:defRPr sz="992">
                <a:solidFill>
                  <a:schemeClr val="tx1">
                    <a:tint val="82000"/>
                  </a:schemeClr>
                </a:solidFill>
              </a:defRPr>
            </a:lvl7pPr>
            <a:lvl8pPr marL="1984568" indent="0">
              <a:buNone/>
              <a:defRPr sz="992">
                <a:solidFill>
                  <a:schemeClr val="tx1">
                    <a:tint val="82000"/>
                  </a:schemeClr>
                </a:solidFill>
              </a:defRPr>
            </a:lvl8pPr>
            <a:lvl9pPr marL="2268078" indent="0">
              <a:buNone/>
              <a:defRPr sz="99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2A255D-E933-E608-169D-02BCF8E06412}"/>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5" name="Footer Placeholder 4">
            <a:extLst>
              <a:ext uri="{FF2B5EF4-FFF2-40B4-BE49-F238E27FC236}">
                <a16:creationId xmlns:a16="http://schemas.microsoft.com/office/drawing/2014/main" id="{28D5270A-C223-347D-894B-E6B4FE0120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B66276-48E5-EEF3-2DE6-3FBDBEF3FB87}"/>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246151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57036-E3F7-A330-5672-33715DBE72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BFAF1B-5025-2B5C-5B0B-141D8B84D07E}"/>
              </a:ext>
            </a:extLst>
          </p:cNvPr>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CD9E621-1D7E-6895-659E-4B56E5E9357C}"/>
              </a:ext>
            </a:extLst>
          </p:cNvPr>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0263E0-94DD-94A7-57C7-2431167B8E3B}"/>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6" name="Footer Placeholder 5">
            <a:extLst>
              <a:ext uri="{FF2B5EF4-FFF2-40B4-BE49-F238E27FC236}">
                <a16:creationId xmlns:a16="http://schemas.microsoft.com/office/drawing/2014/main" id="{59761A89-BBBC-4263-96EE-ACB024AAF0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4954E8-0392-FA32-ED12-4A2C6102945F}"/>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92706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F547-0F0A-679E-9370-EBE83661B3EF}"/>
              </a:ext>
            </a:extLst>
          </p:cNvPr>
          <p:cNvSpPr>
            <a:spLocks noGrp="1"/>
          </p:cNvSpPr>
          <p:nvPr>
            <p:ph type="title"/>
          </p:nvPr>
        </p:nvSpPr>
        <p:spPr>
          <a:xfrm>
            <a:off x="520712" y="569242"/>
            <a:ext cx="6520220" cy="206659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169DF2-0E46-97D3-DC18-4E9F81AF6E3D}"/>
              </a:ext>
            </a:extLst>
          </p:cNvPr>
          <p:cNvSpPr>
            <a:spLocks noGrp="1"/>
          </p:cNvSpPr>
          <p:nvPr>
            <p:ph type="body" idx="1"/>
          </p:nvPr>
        </p:nvSpPr>
        <p:spPr>
          <a:xfrm>
            <a:off x="520713" y="2620980"/>
            <a:ext cx="3198097" cy="1284502"/>
          </a:xfrm>
        </p:spPr>
        <p:txBody>
          <a:bodyPr anchor="b"/>
          <a:lstStyle>
            <a:lvl1pPr marL="0" indent="0">
              <a:buNone/>
              <a:defRPr sz="1488" b="1"/>
            </a:lvl1pPr>
            <a:lvl2pPr marL="283510" indent="0">
              <a:buNone/>
              <a:defRPr sz="1240" b="1"/>
            </a:lvl2pPr>
            <a:lvl3pPr marL="567019" indent="0">
              <a:buNone/>
              <a:defRPr sz="1116" b="1"/>
            </a:lvl3pPr>
            <a:lvl4pPr marL="850529" indent="0">
              <a:buNone/>
              <a:defRPr sz="992" b="1"/>
            </a:lvl4pPr>
            <a:lvl5pPr marL="1134039" indent="0">
              <a:buNone/>
              <a:defRPr sz="992" b="1"/>
            </a:lvl5pPr>
            <a:lvl6pPr marL="1417549" indent="0">
              <a:buNone/>
              <a:defRPr sz="992" b="1"/>
            </a:lvl6pPr>
            <a:lvl7pPr marL="1701058" indent="0">
              <a:buNone/>
              <a:defRPr sz="992" b="1"/>
            </a:lvl7pPr>
            <a:lvl8pPr marL="1984568" indent="0">
              <a:buNone/>
              <a:defRPr sz="992" b="1"/>
            </a:lvl8pPr>
            <a:lvl9pPr marL="2268078" indent="0">
              <a:buNone/>
              <a:defRPr sz="992" b="1"/>
            </a:lvl9pPr>
          </a:lstStyle>
          <a:p>
            <a:pPr lvl="0"/>
            <a:r>
              <a:rPr lang="en-US"/>
              <a:t>Click to edit Master text styles</a:t>
            </a:r>
          </a:p>
        </p:txBody>
      </p:sp>
      <p:sp>
        <p:nvSpPr>
          <p:cNvPr id="4" name="Content Placeholder 3">
            <a:extLst>
              <a:ext uri="{FF2B5EF4-FFF2-40B4-BE49-F238E27FC236}">
                <a16:creationId xmlns:a16="http://schemas.microsoft.com/office/drawing/2014/main" id="{19218AC0-B118-D6CF-A58E-E1AA39E8A113}"/>
              </a:ext>
            </a:extLst>
          </p:cNvPr>
          <p:cNvSpPr>
            <a:spLocks noGrp="1"/>
          </p:cNvSpPr>
          <p:nvPr>
            <p:ph sz="half" idx="2"/>
          </p:nvPr>
        </p:nvSpPr>
        <p:spPr>
          <a:xfrm>
            <a:off x="520713" y="3905482"/>
            <a:ext cx="319809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7B839A-229B-776D-82A2-891CC0025BCA}"/>
              </a:ext>
            </a:extLst>
          </p:cNvPr>
          <p:cNvSpPr>
            <a:spLocks noGrp="1"/>
          </p:cNvSpPr>
          <p:nvPr>
            <p:ph type="body" sz="quarter" idx="3"/>
          </p:nvPr>
        </p:nvSpPr>
        <p:spPr>
          <a:xfrm>
            <a:off x="3827086" y="2620980"/>
            <a:ext cx="3213847" cy="1284502"/>
          </a:xfrm>
        </p:spPr>
        <p:txBody>
          <a:bodyPr anchor="b"/>
          <a:lstStyle>
            <a:lvl1pPr marL="0" indent="0">
              <a:buNone/>
              <a:defRPr sz="1488" b="1"/>
            </a:lvl1pPr>
            <a:lvl2pPr marL="283510" indent="0">
              <a:buNone/>
              <a:defRPr sz="1240" b="1"/>
            </a:lvl2pPr>
            <a:lvl3pPr marL="567019" indent="0">
              <a:buNone/>
              <a:defRPr sz="1116" b="1"/>
            </a:lvl3pPr>
            <a:lvl4pPr marL="850529" indent="0">
              <a:buNone/>
              <a:defRPr sz="992" b="1"/>
            </a:lvl4pPr>
            <a:lvl5pPr marL="1134039" indent="0">
              <a:buNone/>
              <a:defRPr sz="992" b="1"/>
            </a:lvl5pPr>
            <a:lvl6pPr marL="1417549" indent="0">
              <a:buNone/>
              <a:defRPr sz="992" b="1"/>
            </a:lvl6pPr>
            <a:lvl7pPr marL="1701058" indent="0">
              <a:buNone/>
              <a:defRPr sz="992" b="1"/>
            </a:lvl7pPr>
            <a:lvl8pPr marL="1984568" indent="0">
              <a:buNone/>
              <a:defRPr sz="992" b="1"/>
            </a:lvl8pPr>
            <a:lvl9pPr marL="2268078" indent="0">
              <a:buNone/>
              <a:defRPr sz="992" b="1"/>
            </a:lvl9pPr>
          </a:lstStyle>
          <a:p>
            <a:pPr lvl="0"/>
            <a:r>
              <a:rPr lang="en-US"/>
              <a:t>Click to edit Master text styles</a:t>
            </a:r>
          </a:p>
        </p:txBody>
      </p:sp>
      <p:sp>
        <p:nvSpPr>
          <p:cNvPr id="6" name="Content Placeholder 5">
            <a:extLst>
              <a:ext uri="{FF2B5EF4-FFF2-40B4-BE49-F238E27FC236}">
                <a16:creationId xmlns:a16="http://schemas.microsoft.com/office/drawing/2014/main" id="{E35FDA89-B282-5BFA-7D94-B05E82839E20}"/>
              </a:ext>
            </a:extLst>
          </p:cNvPr>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993390-E870-D660-A5CA-2050B934A70F}"/>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8" name="Footer Placeholder 7">
            <a:extLst>
              <a:ext uri="{FF2B5EF4-FFF2-40B4-BE49-F238E27FC236}">
                <a16:creationId xmlns:a16="http://schemas.microsoft.com/office/drawing/2014/main" id="{C4E7C36C-4EB3-0B0C-B828-AC10F795C9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4014FB-6AB2-2419-C8A9-8A99DC8EBC7D}"/>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2877674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3585-9AA9-1882-4513-B200AADC39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30C9B1-6BF6-37EA-BDB1-ABEDC8B94016}"/>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4" name="Footer Placeholder 3">
            <a:extLst>
              <a:ext uri="{FF2B5EF4-FFF2-40B4-BE49-F238E27FC236}">
                <a16:creationId xmlns:a16="http://schemas.microsoft.com/office/drawing/2014/main" id="{45EF1F6E-C61F-8D14-1385-6AB5F67FC4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63B0C5-8428-EB7E-4A9B-DA8840D408B2}"/>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284490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DCCF6-240E-0B37-922E-40CB0C5EAB77}"/>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3" name="Footer Placeholder 2">
            <a:extLst>
              <a:ext uri="{FF2B5EF4-FFF2-40B4-BE49-F238E27FC236}">
                <a16:creationId xmlns:a16="http://schemas.microsoft.com/office/drawing/2014/main" id="{22190597-331B-CE3D-AEF6-C699CE362B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B26F98B-2120-AB2F-DFE4-42D476A60658}"/>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1191224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51C26-2DF0-891A-9CE7-361A5B24D99D}"/>
              </a:ext>
            </a:extLst>
          </p:cNvPr>
          <p:cNvSpPr>
            <a:spLocks noGrp="1"/>
          </p:cNvSpPr>
          <p:nvPr>
            <p:ph type="title"/>
          </p:nvPr>
        </p:nvSpPr>
        <p:spPr>
          <a:xfrm>
            <a:off x="520712" y="712788"/>
            <a:ext cx="2438192" cy="2494756"/>
          </a:xfrm>
        </p:spPr>
        <p:txBody>
          <a:bodyPr anchor="b"/>
          <a:lstStyle>
            <a:lvl1pPr>
              <a:defRPr sz="1984"/>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6C805F-E7A3-EB09-E362-450C5907C030}"/>
              </a:ext>
            </a:extLst>
          </p:cNvPr>
          <p:cNvSpPr>
            <a:spLocks noGrp="1"/>
          </p:cNvSpPr>
          <p:nvPr>
            <p:ph idx="1"/>
          </p:nvPr>
        </p:nvSpPr>
        <p:spPr>
          <a:xfrm>
            <a:off x="3213848" y="1539425"/>
            <a:ext cx="3827085" cy="7598117"/>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CD43E6-9175-01D1-962D-3883FDD0198E}"/>
              </a:ext>
            </a:extLst>
          </p:cNvPr>
          <p:cNvSpPr>
            <a:spLocks noGrp="1"/>
          </p:cNvSpPr>
          <p:nvPr>
            <p:ph type="body" sz="half" idx="2"/>
          </p:nvPr>
        </p:nvSpPr>
        <p:spPr>
          <a:xfrm>
            <a:off x="520712" y="3207544"/>
            <a:ext cx="2438192" cy="5942372"/>
          </a:xfrm>
        </p:spPr>
        <p:txBody>
          <a:bodyPr/>
          <a:lstStyle>
            <a:lvl1pPr marL="0" indent="0">
              <a:buNone/>
              <a:defRPr sz="992"/>
            </a:lvl1pPr>
            <a:lvl2pPr marL="283510" indent="0">
              <a:buNone/>
              <a:defRPr sz="868"/>
            </a:lvl2pPr>
            <a:lvl3pPr marL="567019" indent="0">
              <a:buNone/>
              <a:defRPr sz="744"/>
            </a:lvl3pPr>
            <a:lvl4pPr marL="850529" indent="0">
              <a:buNone/>
              <a:defRPr sz="620"/>
            </a:lvl4pPr>
            <a:lvl5pPr marL="1134039" indent="0">
              <a:buNone/>
              <a:defRPr sz="620"/>
            </a:lvl5pPr>
            <a:lvl6pPr marL="1417549" indent="0">
              <a:buNone/>
              <a:defRPr sz="620"/>
            </a:lvl6pPr>
            <a:lvl7pPr marL="1701058" indent="0">
              <a:buNone/>
              <a:defRPr sz="620"/>
            </a:lvl7pPr>
            <a:lvl8pPr marL="1984568" indent="0">
              <a:buNone/>
              <a:defRPr sz="620"/>
            </a:lvl8pPr>
            <a:lvl9pPr marL="2268078"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F7E78D2F-8A17-07BB-B8B1-2BFCD1D615E9}"/>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6" name="Footer Placeholder 5">
            <a:extLst>
              <a:ext uri="{FF2B5EF4-FFF2-40B4-BE49-F238E27FC236}">
                <a16:creationId xmlns:a16="http://schemas.microsoft.com/office/drawing/2014/main" id="{CFB5F773-070D-AF3B-CB5C-FA624E0225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E66A9D-FA4C-0EBE-2657-9BD4EC088E14}"/>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4187613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3BD91-E5C0-117E-7848-4363DEB25EE1}"/>
              </a:ext>
            </a:extLst>
          </p:cNvPr>
          <p:cNvSpPr>
            <a:spLocks noGrp="1"/>
          </p:cNvSpPr>
          <p:nvPr>
            <p:ph type="title"/>
          </p:nvPr>
        </p:nvSpPr>
        <p:spPr>
          <a:xfrm>
            <a:off x="520712" y="712788"/>
            <a:ext cx="2438192" cy="2494756"/>
          </a:xfrm>
        </p:spPr>
        <p:txBody>
          <a:bodyPr anchor="b"/>
          <a:lstStyle>
            <a:lvl1pPr>
              <a:defRPr sz="1984"/>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FA45E0-5645-72B1-093A-7E80D810022B}"/>
              </a:ext>
            </a:extLst>
          </p:cNvPr>
          <p:cNvSpPr>
            <a:spLocks noGrp="1"/>
          </p:cNvSpPr>
          <p:nvPr>
            <p:ph type="pic" idx="1"/>
          </p:nvPr>
        </p:nvSpPr>
        <p:spPr>
          <a:xfrm>
            <a:off x="3213848" y="1539425"/>
            <a:ext cx="3827085" cy="7598117"/>
          </a:xfrm>
        </p:spPr>
        <p:txBody>
          <a:bodyPr/>
          <a:lstStyle>
            <a:lvl1pPr marL="0" indent="0">
              <a:buNone/>
              <a:defRPr sz="1984"/>
            </a:lvl1pPr>
            <a:lvl2pPr marL="283510" indent="0">
              <a:buNone/>
              <a:defRPr sz="1736"/>
            </a:lvl2pPr>
            <a:lvl3pPr marL="567019" indent="0">
              <a:buNone/>
              <a:defRPr sz="1488"/>
            </a:lvl3pPr>
            <a:lvl4pPr marL="850529" indent="0">
              <a:buNone/>
              <a:defRPr sz="1240"/>
            </a:lvl4pPr>
            <a:lvl5pPr marL="1134039" indent="0">
              <a:buNone/>
              <a:defRPr sz="1240"/>
            </a:lvl5pPr>
            <a:lvl6pPr marL="1417549" indent="0">
              <a:buNone/>
              <a:defRPr sz="1240"/>
            </a:lvl6pPr>
            <a:lvl7pPr marL="1701058" indent="0">
              <a:buNone/>
              <a:defRPr sz="1240"/>
            </a:lvl7pPr>
            <a:lvl8pPr marL="1984568" indent="0">
              <a:buNone/>
              <a:defRPr sz="1240"/>
            </a:lvl8pPr>
            <a:lvl9pPr marL="2268078" indent="0">
              <a:buNone/>
              <a:defRPr sz="1240"/>
            </a:lvl9pPr>
          </a:lstStyle>
          <a:p>
            <a:endParaRPr lang="en-IN"/>
          </a:p>
        </p:txBody>
      </p:sp>
      <p:sp>
        <p:nvSpPr>
          <p:cNvPr id="4" name="Text Placeholder 3">
            <a:extLst>
              <a:ext uri="{FF2B5EF4-FFF2-40B4-BE49-F238E27FC236}">
                <a16:creationId xmlns:a16="http://schemas.microsoft.com/office/drawing/2014/main" id="{56B7F6C8-8BC9-B361-1135-844A7FF057AB}"/>
              </a:ext>
            </a:extLst>
          </p:cNvPr>
          <p:cNvSpPr>
            <a:spLocks noGrp="1"/>
          </p:cNvSpPr>
          <p:nvPr>
            <p:ph type="body" sz="half" idx="2"/>
          </p:nvPr>
        </p:nvSpPr>
        <p:spPr>
          <a:xfrm>
            <a:off x="520712" y="3207544"/>
            <a:ext cx="2438192" cy="5942372"/>
          </a:xfrm>
        </p:spPr>
        <p:txBody>
          <a:bodyPr/>
          <a:lstStyle>
            <a:lvl1pPr marL="0" indent="0">
              <a:buNone/>
              <a:defRPr sz="992"/>
            </a:lvl1pPr>
            <a:lvl2pPr marL="283510" indent="0">
              <a:buNone/>
              <a:defRPr sz="868"/>
            </a:lvl2pPr>
            <a:lvl3pPr marL="567019" indent="0">
              <a:buNone/>
              <a:defRPr sz="744"/>
            </a:lvl3pPr>
            <a:lvl4pPr marL="850529" indent="0">
              <a:buNone/>
              <a:defRPr sz="620"/>
            </a:lvl4pPr>
            <a:lvl5pPr marL="1134039" indent="0">
              <a:buNone/>
              <a:defRPr sz="620"/>
            </a:lvl5pPr>
            <a:lvl6pPr marL="1417549" indent="0">
              <a:buNone/>
              <a:defRPr sz="620"/>
            </a:lvl6pPr>
            <a:lvl7pPr marL="1701058" indent="0">
              <a:buNone/>
              <a:defRPr sz="620"/>
            </a:lvl7pPr>
            <a:lvl8pPr marL="1984568" indent="0">
              <a:buNone/>
              <a:defRPr sz="620"/>
            </a:lvl8pPr>
            <a:lvl9pPr marL="2268078"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42F809D0-E096-5B1B-50C6-4AB709C45271}"/>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6" name="Footer Placeholder 5">
            <a:extLst>
              <a:ext uri="{FF2B5EF4-FFF2-40B4-BE49-F238E27FC236}">
                <a16:creationId xmlns:a16="http://schemas.microsoft.com/office/drawing/2014/main" id="{E3F160D2-A174-2339-4F32-FFFF946C65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A58CDB-8F6F-34B5-F566-B6BDA1B4724A}"/>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1237467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1BEE0-2EC1-9A1B-780F-90F28C7950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D33F05-A163-1288-14F9-42C1ECAD45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35A56B-C188-447B-49E6-73F7A9B1C024}"/>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5" name="Footer Placeholder 4">
            <a:extLst>
              <a:ext uri="{FF2B5EF4-FFF2-40B4-BE49-F238E27FC236}">
                <a16:creationId xmlns:a16="http://schemas.microsoft.com/office/drawing/2014/main" id="{D7C5EEC0-20FC-0A7B-E0EE-A20F6911E5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D5813D-0F57-3C70-34D5-1113A919984F}"/>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981195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A38E55-671B-8D78-788A-98BE47BD1BBB}"/>
              </a:ext>
            </a:extLst>
          </p:cNvPr>
          <p:cNvSpPr>
            <a:spLocks noGrp="1"/>
          </p:cNvSpPr>
          <p:nvPr>
            <p:ph type="title" orient="vert"/>
          </p:nvPr>
        </p:nvSpPr>
        <p:spPr>
          <a:xfrm>
            <a:off x="5409893" y="569240"/>
            <a:ext cx="1630055" cy="906081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BED422-E824-6BC6-1063-6EDE1411495E}"/>
              </a:ext>
            </a:extLst>
          </p:cNvPr>
          <p:cNvSpPr>
            <a:spLocks noGrp="1"/>
          </p:cNvSpPr>
          <p:nvPr>
            <p:ph type="body" orient="vert" idx="1"/>
          </p:nvPr>
        </p:nvSpPr>
        <p:spPr>
          <a:xfrm>
            <a:off x="519729"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0C2375-3492-26D9-5B7A-C5762BE8CFF3}"/>
              </a:ext>
            </a:extLst>
          </p:cNvPr>
          <p:cNvSpPr>
            <a:spLocks noGrp="1"/>
          </p:cNvSpPr>
          <p:nvPr>
            <p:ph type="dt" sz="half" idx="10"/>
          </p:nvPr>
        </p:nvSpPr>
        <p:spPr/>
        <p:txBody>
          <a:bodyPr/>
          <a:lstStyle/>
          <a:p>
            <a:fld id="{F65912FE-6FD4-4A70-8072-B521AF06A73E}" type="datetimeFigureOut">
              <a:rPr lang="en-IN" smtClean="0"/>
              <a:t>18-04-2026</a:t>
            </a:fld>
            <a:endParaRPr lang="en-IN"/>
          </a:p>
        </p:txBody>
      </p:sp>
      <p:sp>
        <p:nvSpPr>
          <p:cNvPr id="5" name="Footer Placeholder 4">
            <a:extLst>
              <a:ext uri="{FF2B5EF4-FFF2-40B4-BE49-F238E27FC236}">
                <a16:creationId xmlns:a16="http://schemas.microsoft.com/office/drawing/2014/main" id="{6255EDBA-890C-B5C1-91B7-52A3AD5F02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B1C37D-6E3E-F4B5-0564-7DEACD49D430}"/>
              </a:ext>
            </a:extLst>
          </p:cNvPr>
          <p:cNvSpPr>
            <a:spLocks noGrp="1"/>
          </p:cNvSpPr>
          <p:nvPr>
            <p:ph type="sldNum" sz="quarter" idx="12"/>
          </p:nvPr>
        </p:nvSpPr>
        <p:spPr/>
        <p:txBody>
          <a:bodyPr/>
          <a:lstStyle/>
          <a:p>
            <a:fld id="{D55D1DD0-AEB5-4549-82A0-BA1235CC0DB8}" type="slidenum">
              <a:rPr lang="en-IN" smtClean="0"/>
              <a:t>‹#›</a:t>
            </a:fld>
            <a:endParaRPr lang="en-IN"/>
          </a:p>
        </p:txBody>
      </p:sp>
    </p:spTree>
    <p:extLst>
      <p:ext uri="{BB962C8B-B14F-4D97-AF65-F5344CB8AC3E}">
        <p14:creationId xmlns:p14="http://schemas.microsoft.com/office/powerpoint/2010/main" val="2982789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4C3507-A7DA-F766-EB41-A4348167CB94}"/>
              </a:ext>
            </a:extLst>
          </p:cNvPr>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FD8AB4-CA90-8BEA-1113-16ECC7ABF913}"/>
              </a:ext>
            </a:extLst>
          </p:cNvPr>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125DAF-5975-6EBF-17FF-9435DAA7E3EF}"/>
              </a:ext>
            </a:extLst>
          </p:cNvPr>
          <p:cNvSpPr>
            <a:spLocks noGrp="1"/>
          </p:cNvSpPr>
          <p:nvPr>
            <p:ph type="dt" sz="half" idx="2"/>
          </p:nvPr>
        </p:nvSpPr>
        <p:spPr>
          <a:xfrm>
            <a:off x="519729" y="9909729"/>
            <a:ext cx="1700927" cy="569240"/>
          </a:xfrm>
          <a:prstGeom prst="rect">
            <a:avLst/>
          </a:prstGeom>
        </p:spPr>
        <p:txBody>
          <a:bodyPr vert="horz" lIns="91440" tIns="45720" rIns="91440" bIns="45720" rtlCol="0" anchor="ctr"/>
          <a:lstStyle>
            <a:lvl1pPr algn="l">
              <a:defRPr sz="744">
                <a:solidFill>
                  <a:schemeClr val="tx1">
                    <a:tint val="82000"/>
                  </a:schemeClr>
                </a:solidFill>
              </a:defRPr>
            </a:lvl1pPr>
          </a:lstStyle>
          <a:p>
            <a:fld id="{F65912FE-6FD4-4A70-8072-B521AF06A73E}" type="datetimeFigureOut">
              <a:rPr lang="en-IN" smtClean="0"/>
              <a:t>18-04-2026</a:t>
            </a:fld>
            <a:endParaRPr lang="en-IN"/>
          </a:p>
        </p:txBody>
      </p:sp>
      <p:sp>
        <p:nvSpPr>
          <p:cNvPr id="5" name="Footer Placeholder 4">
            <a:extLst>
              <a:ext uri="{FF2B5EF4-FFF2-40B4-BE49-F238E27FC236}">
                <a16:creationId xmlns:a16="http://schemas.microsoft.com/office/drawing/2014/main" id="{90C936F1-58BA-91F5-C664-4478BAE10CBE}"/>
              </a:ext>
            </a:extLst>
          </p:cNvPr>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4E1A8CE-6990-4EEB-4481-2C8650B6C589}"/>
              </a:ext>
            </a:extLst>
          </p:cNvPr>
          <p:cNvSpPr>
            <a:spLocks noGrp="1"/>
          </p:cNvSpPr>
          <p:nvPr>
            <p:ph type="sldNum" sz="quarter" idx="4"/>
          </p:nvPr>
        </p:nvSpPr>
        <p:spPr>
          <a:xfrm>
            <a:off x="5339021" y="9909729"/>
            <a:ext cx="1700927" cy="569240"/>
          </a:xfrm>
          <a:prstGeom prst="rect">
            <a:avLst/>
          </a:prstGeom>
        </p:spPr>
        <p:txBody>
          <a:bodyPr vert="horz" lIns="91440" tIns="45720" rIns="91440" bIns="45720" rtlCol="0" anchor="ctr"/>
          <a:lstStyle>
            <a:lvl1pPr algn="r">
              <a:defRPr sz="744">
                <a:solidFill>
                  <a:schemeClr val="tx1">
                    <a:tint val="82000"/>
                  </a:schemeClr>
                </a:solidFill>
              </a:defRPr>
            </a:lvl1pPr>
          </a:lstStyle>
          <a:p>
            <a:fld id="{D55D1DD0-AEB5-4549-82A0-BA1235CC0DB8}" type="slidenum">
              <a:rPr lang="en-IN" smtClean="0"/>
              <a:t>‹#›</a:t>
            </a:fld>
            <a:endParaRPr lang="en-IN"/>
          </a:p>
        </p:txBody>
      </p:sp>
    </p:spTree>
    <p:extLst>
      <p:ext uri="{BB962C8B-B14F-4D97-AF65-F5344CB8AC3E}">
        <p14:creationId xmlns:p14="http://schemas.microsoft.com/office/powerpoint/2010/main" val="3199711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7019"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55" indent="-141755" algn="l" defTabSz="567019"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65" indent="-141755" algn="l" defTabSz="567019"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774" indent="-141755" algn="l" defTabSz="567019"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284" indent="-141755" algn="l" defTabSz="567019"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794" indent="-141755" algn="l" defTabSz="567019"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03" indent="-141755" algn="l" defTabSz="567019"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813" indent="-141755" algn="l" defTabSz="567019"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323" indent="-141755" algn="l" defTabSz="567019"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833" indent="-141755" algn="l" defTabSz="567019"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19" rtl="0" eaLnBrk="1" latinLnBrk="0" hangingPunct="1">
        <a:defRPr sz="1116" kern="1200">
          <a:solidFill>
            <a:schemeClr val="tx1"/>
          </a:solidFill>
          <a:latin typeface="+mn-lt"/>
          <a:ea typeface="+mn-ea"/>
          <a:cs typeface="+mn-cs"/>
        </a:defRPr>
      </a:lvl1pPr>
      <a:lvl2pPr marL="283510" algn="l" defTabSz="567019" rtl="0" eaLnBrk="1" latinLnBrk="0" hangingPunct="1">
        <a:defRPr sz="1116" kern="1200">
          <a:solidFill>
            <a:schemeClr val="tx1"/>
          </a:solidFill>
          <a:latin typeface="+mn-lt"/>
          <a:ea typeface="+mn-ea"/>
          <a:cs typeface="+mn-cs"/>
        </a:defRPr>
      </a:lvl2pPr>
      <a:lvl3pPr marL="567019" algn="l" defTabSz="567019" rtl="0" eaLnBrk="1" latinLnBrk="0" hangingPunct="1">
        <a:defRPr sz="1116" kern="1200">
          <a:solidFill>
            <a:schemeClr val="tx1"/>
          </a:solidFill>
          <a:latin typeface="+mn-lt"/>
          <a:ea typeface="+mn-ea"/>
          <a:cs typeface="+mn-cs"/>
        </a:defRPr>
      </a:lvl3pPr>
      <a:lvl4pPr marL="850529" algn="l" defTabSz="567019" rtl="0" eaLnBrk="1" latinLnBrk="0" hangingPunct="1">
        <a:defRPr sz="1116" kern="1200">
          <a:solidFill>
            <a:schemeClr val="tx1"/>
          </a:solidFill>
          <a:latin typeface="+mn-lt"/>
          <a:ea typeface="+mn-ea"/>
          <a:cs typeface="+mn-cs"/>
        </a:defRPr>
      </a:lvl4pPr>
      <a:lvl5pPr marL="1134039" algn="l" defTabSz="567019" rtl="0" eaLnBrk="1" latinLnBrk="0" hangingPunct="1">
        <a:defRPr sz="1116" kern="1200">
          <a:solidFill>
            <a:schemeClr val="tx1"/>
          </a:solidFill>
          <a:latin typeface="+mn-lt"/>
          <a:ea typeface="+mn-ea"/>
          <a:cs typeface="+mn-cs"/>
        </a:defRPr>
      </a:lvl5pPr>
      <a:lvl6pPr marL="1417549" algn="l" defTabSz="567019" rtl="0" eaLnBrk="1" latinLnBrk="0" hangingPunct="1">
        <a:defRPr sz="1116" kern="1200">
          <a:solidFill>
            <a:schemeClr val="tx1"/>
          </a:solidFill>
          <a:latin typeface="+mn-lt"/>
          <a:ea typeface="+mn-ea"/>
          <a:cs typeface="+mn-cs"/>
        </a:defRPr>
      </a:lvl6pPr>
      <a:lvl7pPr marL="1701058" algn="l" defTabSz="567019" rtl="0" eaLnBrk="1" latinLnBrk="0" hangingPunct="1">
        <a:defRPr sz="1116" kern="1200">
          <a:solidFill>
            <a:schemeClr val="tx1"/>
          </a:solidFill>
          <a:latin typeface="+mn-lt"/>
          <a:ea typeface="+mn-ea"/>
          <a:cs typeface="+mn-cs"/>
        </a:defRPr>
      </a:lvl7pPr>
      <a:lvl8pPr marL="1984568" algn="l" defTabSz="567019" rtl="0" eaLnBrk="1" latinLnBrk="0" hangingPunct="1">
        <a:defRPr sz="1116" kern="1200">
          <a:solidFill>
            <a:schemeClr val="tx1"/>
          </a:solidFill>
          <a:latin typeface="+mn-lt"/>
          <a:ea typeface="+mn-ea"/>
          <a:cs typeface="+mn-cs"/>
        </a:defRPr>
      </a:lvl8pPr>
      <a:lvl9pPr marL="2268078" algn="l" defTabSz="567019" rtl="0" eaLnBrk="1" latinLnBrk="0"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1FE06E-441A-C914-54DE-5F562ED32F28}"/>
              </a:ext>
            </a:extLst>
          </p:cNvPr>
          <p:cNvSpPr/>
          <p:nvPr/>
        </p:nvSpPr>
        <p:spPr>
          <a:xfrm>
            <a:off x="0" y="0"/>
            <a:ext cx="7560310" cy="1143000"/>
          </a:xfrm>
          <a:prstGeom prst="rect">
            <a:avLst/>
          </a:prstGeom>
          <a:solidFill>
            <a:srgbClr val="EAEA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CB0A98C9-D78D-2693-8AF8-5E857415A42B}"/>
              </a:ext>
            </a:extLst>
          </p:cNvPr>
          <p:cNvSpPr/>
          <p:nvPr/>
        </p:nvSpPr>
        <p:spPr>
          <a:xfrm>
            <a:off x="2984500" y="1498600"/>
            <a:ext cx="1587500" cy="1587500"/>
          </a:xfrm>
          <a:prstGeom prst="ellipse">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000" b="1">
                <a:solidFill>
                  <a:srgbClr val="FFFFFF"/>
                </a:solidFill>
                <a:latin typeface="Times New Roman" panose="02020603050405020304" pitchFamily="18" charset="0"/>
              </a:rPr>
              <a:t>ASD</a:t>
            </a:r>
          </a:p>
        </p:txBody>
      </p:sp>
      <p:sp>
        <p:nvSpPr>
          <p:cNvPr id="4" name="TextBox 3">
            <a:extLst>
              <a:ext uri="{FF2B5EF4-FFF2-40B4-BE49-F238E27FC236}">
                <a16:creationId xmlns:a16="http://schemas.microsoft.com/office/drawing/2014/main" id="{5F258BA0-0118-5C38-08A9-A28266722700}"/>
              </a:ext>
            </a:extLst>
          </p:cNvPr>
          <p:cNvSpPr txBox="1"/>
          <p:nvPr/>
        </p:nvSpPr>
        <p:spPr>
          <a:xfrm>
            <a:off x="952500" y="355600"/>
            <a:ext cx="5715000" cy="426912"/>
          </a:xfrm>
          <a:prstGeom prst="rect">
            <a:avLst/>
          </a:prstGeom>
          <a:noFill/>
        </p:spPr>
        <p:txBody>
          <a:bodyPr vert="horz" wrap="square" rtlCol="0">
            <a:spAutoFit/>
          </a:bodyPr>
          <a:lstStyle/>
          <a:p>
            <a:pPr algn="ctr">
              <a:lnSpc>
                <a:spcPct val="135000"/>
              </a:lnSpc>
              <a:spcAft>
                <a:spcPts val="600"/>
              </a:spcAft>
            </a:pPr>
            <a:r>
              <a:rPr lang="en-IN" b="1">
                <a:solidFill>
                  <a:srgbClr val="0C0428"/>
                </a:solidFill>
                <a:latin typeface="Times New Roman" panose="02020603050405020304" pitchFamily="18" charset="0"/>
              </a:rPr>
              <a:t>ACADEMY OF SKILL DEVELOPMENT</a:t>
            </a:r>
          </a:p>
        </p:txBody>
      </p:sp>
      <p:sp>
        <p:nvSpPr>
          <p:cNvPr id="5" name="TextBox 4">
            <a:extLst>
              <a:ext uri="{FF2B5EF4-FFF2-40B4-BE49-F238E27FC236}">
                <a16:creationId xmlns:a16="http://schemas.microsoft.com/office/drawing/2014/main" id="{C8FE2FC5-143D-8F5E-134A-BD071A0A700B}"/>
              </a:ext>
            </a:extLst>
          </p:cNvPr>
          <p:cNvSpPr txBox="1"/>
          <p:nvPr/>
        </p:nvSpPr>
        <p:spPr>
          <a:xfrm>
            <a:off x="2159000" y="914400"/>
            <a:ext cx="3302000" cy="352597"/>
          </a:xfrm>
          <a:prstGeom prst="rect">
            <a:avLst/>
          </a:prstGeom>
          <a:noFill/>
        </p:spPr>
        <p:txBody>
          <a:bodyPr vert="horz" wrap="square" rtlCol="0">
            <a:spAutoFit/>
          </a:bodyPr>
          <a:lstStyle/>
          <a:p>
            <a:pPr algn="ctr">
              <a:lnSpc>
                <a:spcPct val="135000"/>
              </a:lnSpc>
              <a:spcAft>
                <a:spcPts val="600"/>
              </a:spcAft>
            </a:pPr>
            <a:r>
              <a:rPr lang="en-IN" sz="1400" b="1">
                <a:solidFill>
                  <a:srgbClr val="696969"/>
                </a:solidFill>
                <a:latin typeface="Times New Roman" panose="02020603050405020304" pitchFamily="18" charset="0"/>
              </a:rPr>
              <a:t>Major Project Report</a:t>
            </a:r>
          </a:p>
        </p:txBody>
      </p:sp>
      <p:sp>
        <p:nvSpPr>
          <p:cNvPr id="6" name="TextBox 5">
            <a:extLst>
              <a:ext uri="{FF2B5EF4-FFF2-40B4-BE49-F238E27FC236}">
                <a16:creationId xmlns:a16="http://schemas.microsoft.com/office/drawing/2014/main" id="{4E1E5CDA-8DEC-1EDA-FE79-332952F92ECD}"/>
              </a:ext>
            </a:extLst>
          </p:cNvPr>
          <p:cNvSpPr txBox="1"/>
          <p:nvPr/>
        </p:nvSpPr>
        <p:spPr>
          <a:xfrm>
            <a:off x="1079500" y="3581400"/>
            <a:ext cx="5397500" cy="1037015"/>
          </a:xfrm>
          <a:prstGeom prst="rect">
            <a:avLst/>
          </a:prstGeom>
          <a:noFill/>
        </p:spPr>
        <p:txBody>
          <a:bodyPr vert="horz" wrap="square" rtlCol="0">
            <a:spAutoFit/>
          </a:bodyPr>
          <a:lstStyle/>
          <a:p>
            <a:pPr algn="ctr">
              <a:lnSpc>
                <a:spcPct val="135000"/>
              </a:lnSpc>
              <a:spcAft>
                <a:spcPts val="600"/>
              </a:spcAft>
            </a:pPr>
            <a:r>
              <a:rPr lang="en-IN" sz="2400" b="1">
                <a:solidFill>
                  <a:srgbClr val="0C0428"/>
                </a:solidFill>
                <a:latin typeface="Times New Roman" panose="02020603050405020304" pitchFamily="18" charset="0"/>
              </a:rPr>
              <a:t>SMART HOSPITAL MANAGEMENT SYSTEM</a:t>
            </a:r>
          </a:p>
        </p:txBody>
      </p:sp>
      <p:sp>
        <p:nvSpPr>
          <p:cNvPr id="7" name="TextBox 6">
            <a:extLst>
              <a:ext uri="{FF2B5EF4-FFF2-40B4-BE49-F238E27FC236}">
                <a16:creationId xmlns:a16="http://schemas.microsoft.com/office/drawing/2014/main" id="{CDF8584E-FD57-491F-145C-256B4891AB04}"/>
              </a:ext>
            </a:extLst>
          </p:cNvPr>
          <p:cNvSpPr txBox="1"/>
          <p:nvPr/>
        </p:nvSpPr>
        <p:spPr>
          <a:xfrm>
            <a:off x="1079500" y="4140200"/>
            <a:ext cx="5397500" cy="315343"/>
          </a:xfrm>
          <a:prstGeom prst="rect">
            <a:avLst/>
          </a:prstGeom>
          <a:noFill/>
        </p:spPr>
        <p:txBody>
          <a:bodyPr vert="horz" wrap="square" rtlCol="0">
            <a:spAutoFit/>
          </a:bodyPr>
          <a:lstStyle/>
          <a:p>
            <a:pPr algn="ctr">
              <a:lnSpc>
                <a:spcPct val="135000"/>
              </a:lnSpc>
              <a:spcAft>
                <a:spcPts val="600"/>
              </a:spcAft>
            </a:pPr>
            <a:r>
              <a:rPr lang="en-US" sz="1200" i="1">
                <a:solidFill>
                  <a:srgbClr val="696969"/>
                </a:solidFill>
                <a:latin typeface="Times New Roman" panose="02020603050405020304" pitchFamily="18" charset="0"/>
              </a:rPr>
              <a:t>A report prepared in accordance with the prescribed project report standards</a:t>
            </a:r>
            <a:endParaRPr lang="en-IN" sz="1200" i="1">
              <a:solidFill>
                <a:srgbClr val="696969"/>
              </a:solidFill>
              <a:latin typeface="Times New Roman" panose="02020603050405020304" pitchFamily="18" charset="0"/>
            </a:endParaRPr>
          </a:p>
        </p:txBody>
      </p:sp>
      <p:sp>
        <p:nvSpPr>
          <p:cNvPr id="8" name="Rectangle: Rounded Corners 7">
            <a:extLst>
              <a:ext uri="{FF2B5EF4-FFF2-40B4-BE49-F238E27FC236}">
                <a16:creationId xmlns:a16="http://schemas.microsoft.com/office/drawing/2014/main" id="{F28D949A-B6F9-A38F-EEE0-CC262E4CC26B}"/>
              </a:ext>
            </a:extLst>
          </p:cNvPr>
          <p:cNvSpPr/>
          <p:nvPr/>
        </p:nvSpPr>
        <p:spPr>
          <a:xfrm>
            <a:off x="889000" y="5334000"/>
            <a:ext cx="2413000" cy="1143000"/>
          </a:xfrm>
          <a:prstGeom prst="round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Times New Roman" panose="02020603050405020304" pitchFamily="18" charset="0"/>
              </a:rPr>
              <a:t>Submitted By</a:t>
            </a:r>
          </a:p>
          <a:p>
            <a:pPr algn="ctr"/>
            <a:r>
              <a:rPr lang="en-US" sz="1200">
                <a:latin typeface="Times New Roman" panose="02020603050405020304" pitchFamily="18" charset="0"/>
              </a:rPr>
              <a:t>Shreyansh Verma</a:t>
            </a:r>
          </a:p>
          <a:p>
            <a:pPr algn="ctr"/>
            <a:r>
              <a:rPr lang="en-US" sz="1200">
                <a:latin typeface="Times New Roman" panose="02020603050405020304" pitchFamily="18" charset="0"/>
              </a:rPr>
              <a:t>Tavis Mariageorge James</a:t>
            </a:r>
            <a:endParaRPr lang="en-IN" sz="1200">
              <a:latin typeface="Times New Roman" panose="02020603050405020304" pitchFamily="18" charset="0"/>
            </a:endParaRPr>
          </a:p>
        </p:txBody>
      </p:sp>
      <p:sp>
        <p:nvSpPr>
          <p:cNvPr id="9" name="Rectangle: Rounded Corners 8">
            <a:extLst>
              <a:ext uri="{FF2B5EF4-FFF2-40B4-BE49-F238E27FC236}">
                <a16:creationId xmlns:a16="http://schemas.microsoft.com/office/drawing/2014/main" id="{2D2F29B7-A905-3764-7770-CED6227C9149}"/>
              </a:ext>
            </a:extLst>
          </p:cNvPr>
          <p:cNvSpPr/>
          <p:nvPr/>
        </p:nvSpPr>
        <p:spPr>
          <a:xfrm>
            <a:off x="4254500" y="5334000"/>
            <a:ext cx="2413000" cy="1143000"/>
          </a:xfrm>
          <a:prstGeom prst="round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Times New Roman" panose="02020603050405020304" pitchFamily="18" charset="0"/>
              </a:rPr>
              <a:t>Project Guide</a:t>
            </a:r>
          </a:p>
          <a:p>
            <a:pPr algn="ctr"/>
            <a:r>
              <a:rPr lang="en-US" sz="1200">
                <a:latin typeface="Times New Roman" panose="02020603050405020304" pitchFamily="18" charset="0"/>
              </a:rPr>
              <a:t>Mr. Subhojit Santra</a:t>
            </a:r>
            <a:endParaRPr lang="en-IN" sz="1200">
              <a:latin typeface="Times New Roman" panose="02020603050405020304" pitchFamily="18" charset="0"/>
            </a:endParaRPr>
          </a:p>
        </p:txBody>
      </p:sp>
      <p:sp>
        <p:nvSpPr>
          <p:cNvPr id="10" name="TextBox 9">
            <a:extLst>
              <a:ext uri="{FF2B5EF4-FFF2-40B4-BE49-F238E27FC236}">
                <a16:creationId xmlns:a16="http://schemas.microsoft.com/office/drawing/2014/main" id="{326D12EA-7B24-C8E5-AD0E-A1F90BDA6571}"/>
              </a:ext>
            </a:extLst>
          </p:cNvPr>
          <p:cNvSpPr txBox="1"/>
          <p:nvPr/>
        </p:nvSpPr>
        <p:spPr>
          <a:xfrm>
            <a:off x="1524000" y="7112000"/>
            <a:ext cx="4572000" cy="315343"/>
          </a:xfrm>
          <a:prstGeom prst="rect">
            <a:avLst/>
          </a:prstGeom>
          <a:noFill/>
        </p:spPr>
        <p:txBody>
          <a:bodyPr vert="horz" wrap="square" rtlCol="0">
            <a:spAutoFit/>
          </a:bodyPr>
          <a:lstStyle/>
          <a:p>
            <a:pPr algn="ctr">
              <a:lnSpc>
                <a:spcPct val="135000"/>
              </a:lnSpc>
              <a:spcAft>
                <a:spcPts val="600"/>
              </a:spcAft>
            </a:pPr>
            <a:r>
              <a:rPr lang="en-US" sz="1200">
                <a:solidFill>
                  <a:srgbClr val="30241E"/>
                </a:solidFill>
                <a:latin typeface="Times New Roman" panose="02020603050405020304" pitchFamily="18" charset="0"/>
              </a:rPr>
              <a:t>Department / Program : Major Project Submission</a:t>
            </a:r>
            <a:endParaRPr lang="en-IN" sz="1200">
              <a:solidFill>
                <a:srgbClr val="30241E"/>
              </a:solidFill>
              <a:latin typeface="Times New Roman" panose="02020603050405020304" pitchFamily="18" charset="0"/>
            </a:endParaRPr>
          </a:p>
        </p:txBody>
      </p:sp>
      <p:sp>
        <p:nvSpPr>
          <p:cNvPr id="11" name="TextBox 10">
            <a:extLst>
              <a:ext uri="{FF2B5EF4-FFF2-40B4-BE49-F238E27FC236}">
                <a16:creationId xmlns:a16="http://schemas.microsoft.com/office/drawing/2014/main" id="{575685F0-B010-B901-0FF6-CE18B9B76D0A}"/>
              </a:ext>
            </a:extLst>
          </p:cNvPr>
          <p:cNvSpPr txBox="1"/>
          <p:nvPr/>
        </p:nvSpPr>
        <p:spPr>
          <a:xfrm>
            <a:off x="2159000" y="7442200"/>
            <a:ext cx="3302000" cy="315343"/>
          </a:xfrm>
          <a:prstGeom prst="rect">
            <a:avLst/>
          </a:prstGeom>
          <a:noFill/>
        </p:spPr>
        <p:txBody>
          <a:bodyPr vert="horz" wrap="square" rtlCol="0">
            <a:spAutoFit/>
          </a:bodyPr>
          <a:lstStyle/>
          <a:p>
            <a:pPr algn="ctr">
              <a:lnSpc>
                <a:spcPct val="135000"/>
              </a:lnSpc>
              <a:spcAft>
                <a:spcPts val="600"/>
              </a:spcAft>
            </a:pPr>
            <a:r>
              <a:rPr lang="en-IN" sz="1200">
                <a:solidFill>
                  <a:srgbClr val="30241E"/>
                </a:solidFill>
                <a:latin typeface="Times New Roman" panose="02020603050405020304" pitchFamily="18" charset="0"/>
              </a:rPr>
              <a:t>Academic Session : 2025 - 2026</a:t>
            </a:r>
          </a:p>
        </p:txBody>
      </p:sp>
      <p:sp>
        <p:nvSpPr>
          <p:cNvPr id="12" name="TextBox 11">
            <a:extLst>
              <a:ext uri="{FF2B5EF4-FFF2-40B4-BE49-F238E27FC236}">
                <a16:creationId xmlns:a16="http://schemas.microsoft.com/office/drawing/2014/main" id="{626875C3-A9E5-70F3-A201-4AFEA9F705B8}"/>
              </a:ext>
            </a:extLst>
          </p:cNvPr>
          <p:cNvSpPr txBox="1"/>
          <p:nvPr/>
        </p:nvSpPr>
        <p:spPr>
          <a:xfrm>
            <a:off x="1524000" y="7772400"/>
            <a:ext cx="4572000" cy="296813"/>
          </a:xfrm>
          <a:prstGeom prst="rect">
            <a:avLst/>
          </a:prstGeom>
          <a:noFill/>
        </p:spPr>
        <p:txBody>
          <a:bodyPr vert="horz" wrap="square" rtlCol="0">
            <a:spAutoFit/>
          </a:bodyPr>
          <a:lstStyle/>
          <a:p>
            <a:pPr algn="ctr">
              <a:lnSpc>
                <a:spcPct val="135000"/>
              </a:lnSpc>
              <a:spcAft>
                <a:spcPts val="600"/>
              </a:spcAft>
            </a:pPr>
            <a:r>
              <a:rPr lang="en-US" sz="1100">
                <a:solidFill>
                  <a:srgbClr val="696969"/>
                </a:solidFill>
                <a:latin typeface="Times New Roman" panose="02020603050405020304" pitchFamily="18" charset="0"/>
              </a:rPr>
              <a:t>Prepared for academic evaluation and final submission in PDF form</a:t>
            </a:r>
            <a:endParaRPr lang="en-IN" sz="1100">
              <a:solidFill>
                <a:srgbClr val="696969"/>
              </a:solidFill>
              <a:latin typeface="Times New Roman" panose="02020603050405020304" pitchFamily="18" charset="0"/>
            </a:endParaRPr>
          </a:p>
        </p:txBody>
      </p:sp>
      <p:sp>
        <p:nvSpPr>
          <p:cNvPr id="13" name="TextBox 12">
            <a:extLst>
              <a:ext uri="{FF2B5EF4-FFF2-40B4-BE49-F238E27FC236}">
                <a16:creationId xmlns:a16="http://schemas.microsoft.com/office/drawing/2014/main" id="{DAA817CB-2B24-CECA-8986-A57B8D399566}"/>
              </a:ext>
            </a:extLst>
          </p:cNvPr>
          <p:cNvSpPr txBox="1"/>
          <p:nvPr/>
        </p:nvSpPr>
        <p:spPr>
          <a:xfrm>
            <a:off x="1016000" y="9499600"/>
            <a:ext cx="55245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New report generated from project instructions, sample format, and the prior draft report.</a:t>
            </a:r>
            <a:endParaRPr lang="en-IN" sz="1000" i="1">
              <a:solidFill>
                <a:srgbClr val="696969"/>
              </a:solidFill>
              <a:latin typeface="Times New Roman" panose="02020603050405020304" pitchFamily="18" charset="0"/>
            </a:endParaRPr>
          </a:p>
        </p:txBody>
      </p:sp>
      <p:sp>
        <p:nvSpPr>
          <p:cNvPr id="14" name="TextBox 13">
            <a:extLst>
              <a:ext uri="{FF2B5EF4-FFF2-40B4-BE49-F238E27FC236}">
                <a16:creationId xmlns:a16="http://schemas.microsoft.com/office/drawing/2014/main" id="{0D6253B9-2E21-E376-30DC-1141425A5EBE}"/>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a:t>
            </a:r>
          </a:p>
        </p:txBody>
      </p:sp>
    </p:spTree>
    <p:extLst>
      <p:ext uri="{BB962C8B-B14F-4D97-AF65-F5344CB8AC3E}">
        <p14:creationId xmlns:p14="http://schemas.microsoft.com/office/powerpoint/2010/main" val="2573941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46D008-FA5C-848D-9953-2DF7C12AD1C3}"/>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CERTIFICATE</a:t>
            </a:r>
          </a:p>
        </p:txBody>
      </p:sp>
      <p:sp>
        <p:nvSpPr>
          <p:cNvPr id="3" name="Rectangle 2">
            <a:extLst>
              <a:ext uri="{FF2B5EF4-FFF2-40B4-BE49-F238E27FC236}">
                <a16:creationId xmlns:a16="http://schemas.microsoft.com/office/drawing/2014/main" id="{AB510D2D-BCD2-D848-DC52-F4C92E9680D4}"/>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5DCF3A0-03E8-A751-13C1-E0DDDF019DDD}"/>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a:t>
            </a:r>
          </a:p>
        </p:txBody>
      </p:sp>
      <p:sp>
        <p:nvSpPr>
          <p:cNvPr id="5" name="TextBox 4">
            <a:extLst>
              <a:ext uri="{FF2B5EF4-FFF2-40B4-BE49-F238E27FC236}">
                <a16:creationId xmlns:a16="http://schemas.microsoft.com/office/drawing/2014/main" id="{6E76C2D6-9460-D7CE-6DDD-6733B3DFAFEE}"/>
              </a:ext>
            </a:extLst>
          </p:cNvPr>
          <p:cNvSpPr txBox="1"/>
          <p:nvPr/>
        </p:nvSpPr>
        <p:spPr>
          <a:xfrm>
            <a:off x="584200" y="1397000"/>
            <a:ext cx="6388100" cy="3614707"/>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This is to certify that the project report entitled "Smart Hospital Management System" is a bona fide work carried out by Shreyansh Verma and Tavis Mariageorge James under the guidance and supervision of the undersigned during the academic session 2025 - 2026. The work presented in this report has been completed in accordance with the project report standards prescribed for major project submission.</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report demonstrates the analysis, design, implementation, testing, and evaluation of a web-based Smart Hospital Management System developed using the MERN stack and MVC architecture. To the best of our knowledge, the contents of this report are original and have not been submitted, either in full or in part, for the award of any other degree, diploma, or certificate.</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project fulfills the academic requirements for final submission and is recommended for evaluation.</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52332936-B29C-B6E8-E451-123F7C1CEF0C}"/>
              </a:ext>
            </a:extLst>
          </p:cNvPr>
          <p:cNvSpPr txBox="1"/>
          <p:nvPr/>
        </p:nvSpPr>
        <p:spPr>
          <a:xfrm>
            <a:off x="889000" y="7874000"/>
            <a:ext cx="1524000" cy="315343"/>
          </a:xfrm>
          <a:prstGeom prst="rect">
            <a:avLst/>
          </a:prstGeom>
          <a:noFill/>
        </p:spPr>
        <p:txBody>
          <a:bodyPr vert="horz" wrap="square" rtlCol="0">
            <a:spAutoFit/>
          </a:bodyPr>
          <a:lstStyle/>
          <a:p>
            <a:pPr>
              <a:lnSpc>
                <a:spcPct val="135000"/>
              </a:lnSpc>
              <a:spcAft>
                <a:spcPts val="600"/>
              </a:spcAft>
            </a:pPr>
            <a:r>
              <a:rPr lang="en-IN" sz="1200" b="1">
                <a:solidFill>
                  <a:srgbClr val="30241E"/>
                </a:solidFill>
                <a:latin typeface="Times New Roman" panose="02020603050405020304" pitchFamily="18" charset="0"/>
              </a:rPr>
              <a:t>Project Guide</a:t>
            </a:r>
          </a:p>
        </p:txBody>
      </p:sp>
      <p:cxnSp>
        <p:nvCxnSpPr>
          <p:cNvPr id="7" name="Straight Connector 6">
            <a:extLst>
              <a:ext uri="{FF2B5EF4-FFF2-40B4-BE49-F238E27FC236}">
                <a16:creationId xmlns:a16="http://schemas.microsoft.com/office/drawing/2014/main" id="{974E754F-0A65-4E89-D1AD-4A501AA34034}"/>
              </a:ext>
            </a:extLst>
          </p:cNvPr>
          <p:cNvCxnSpPr/>
          <p:nvPr/>
        </p:nvCxnSpPr>
        <p:spPr>
          <a:xfrm>
            <a:off x="889000" y="8483600"/>
            <a:ext cx="1651000" cy="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C495BC4-1E6B-3378-6A3B-93E07CE0CEA7}"/>
              </a:ext>
            </a:extLst>
          </p:cNvPr>
          <p:cNvSpPr txBox="1"/>
          <p:nvPr/>
        </p:nvSpPr>
        <p:spPr>
          <a:xfrm>
            <a:off x="3048000" y="7874000"/>
            <a:ext cx="1778000" cy="315343"/>
          </a:xfrm>
          <a:prstGeom prst="rect">
            <a:avLst/>
          </a:prstGeom>
          <a:noFill/>
        </p:spPr>
        <p:txBody>
          <a:bodyPr vert="horz" wrap="square" rtlCol="0">
            <a:spAutoFit/>
          </a:bodyPr>
          <a:lstStyle/>
          <a:p>
            <a:pPr>
              <a:lnSpc>
                <a:spcPct val="135000"/>
              </a:lnSpc>
              <a:spcAft>
                <a:spcPts val="600"/>
              </a:spcAft>
            </a:pPr>
            <a:r>
              <a:rPr lang="en-IN" sz="1200" b="1">
                <a:solidFill>
                  <a:srgbClr val="30241E"/>
                </a:solidFill>
                <a:latin typeface="Times New Roman" panose="02020603050405020304" pitchFamily="18" charset="0"/>
              </a:rPr>
              <a:t>Head of Department</a:t>
            </a:r>
          </a:p>
        </p:txBody>
      </p:sp>
      <p:cxnSp>
        <p:nvCxnSpPr>
          <p:cNvPr id="9" name="Straight Connector 8">
            <a:extLst>
              <a:ext uri="{FF2B5EF4-FFF2-40B4-BE49-F238E27FC236}">
                <a16:creationId xmlns:a16="http://schemas.microsoft.com/office/drawing/2014/main" id="{F18432D5-E337-E874-5B36-DA62648167C2}"/>
              </a:ext>
            </a:extLst>
          </p:cNvPr>
          <p:cNvCxnSpPr/>
          <p:nvPr/>
        </p:nvCxnSpPr>
        <p:spPr>
          <a:xfrm>
            <a:off x="3048000" y="8483600"/>
            <a:ext cx="1841500" cy="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96FEE0B-22C7-3398-630D-EA3A8A31296A}"/>
              </a:ext>
            </a:extLst>
          </p:cNvPr>
          <p:cNvSpPr txBox="1"/>
          <p:nvPr/>
        </p:nvSpPr>
        <p:spPr>
          <a:xfrm>
            <a:off x="5334000" y="7874000"/>
            <a:ext cx="1397000" cy="315343"/>
          </a:xfrm>
          <a:prstGeom prst="rect">
            <a:avLst/>
          </a:prstGeom>
          <a:noFill/>
        </p:spPr>
        <p:txBody>
          <a:bodyPr vert="horz" wrap="square" rtlCol="0">
            <a:spAutoFit/>
          </a:bodyPr>
          <a:lstStyle/>
          <a:p>
            <a:pPr>
              <a:lnSpc>
                <a:spcPct val="135000"/>
              </a:lnSpc>
              <a:spcAft>
                <a:spcPts val="600"/>
              </a:spcAft>
            </a:pPr>
            <a:r>
              <a:rPr lang="en-IN" sz="1200" b="1">
                <a:solidFill>
                  <a:srgbClr val="30241E"/>
                </a:solidFill>
                <a:latin typeface="Times New Roman" panose="02020603050405020304" pitchFamily="18" charset="0"/>
              </a:rPr>
              <a:t>Dean / Principal</a:t>
            </a:r>
          </a:p>
        </p:txBody>
      </p:sp>
      <p:cxnSp>
        <p:nvCxnSpPr>
          <p:cNvPr id="11" name="Straight Connector 10">
            <a:extLst>
              <a:ext uri="{FF2B5EF4-FFF2-40B4-BE49-F238E27FC236}">
                <a16:creationId xmlns:a16="http://schemas.microsoft.com/office/drawing/2014/main" id="{70E504C1-4DC3-CA5D-556D-90E0D70F7CA7}"/>
              </a:ext>
            </a:extLst>
          </p:cNvPr>
          <p:cNvCxnSpPr/>
          <p:nvPr/>
        </p:nvCxnSpPr>
        <p:spPr>
          <a:xfrm>
            <a:off x="5334000" y="8483600"/>
            <a:ext cx="1397000" cy="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A816CC2-F591-D409-B1BA-7A238BE5F3C9}"/>
              </a:ext>
            </a:extLst>
          </p:cNvPr>
          <p:cNvSpPr txBox="1"/>
          <p:nvPr/>
        </p:nvSpPr>
        <p:spPr>
          <a:xfrm>
            <a:off x="889000" y="9017000"/>
            <a:ext cx="1524000" cy="296813"/>
          </a:xfrm>
          <a:prstGeom prst="rect">
            <a:avLst/>
          </a:prstGeom>
          <a:noFill/>
        </p:spPr>
        <p:txBody>
          <a:bodyPr vert="horz" wrap="square" rtlCol="0">
            <a:spAutoFit/>
          </a:bodyPr>
          <a:lstStyle/>
          <a:p>
            <a:pPr>
              <a:lnSpc>
                <a:spcPct val="135000"/>
              </a:lnSpc>
              <a:spcAft>
                <a:spcPts val="600"/>
              </a:spcAft>
            </a:pPr>
            <a:r>
              <a:rPr lang="en-IN" sz="1100">
                <a:solidFill>
                  <a:srgbClr val="30241E"/>
                </a:solidFill>
                <a:latin typeface="Times New Roman" panose="02020603050405020304" pitchFamily="18" charset="0"/>
              </a:rPr>
              <a:t>Date: ____________</a:t>
            </a:r>
          </a:p>
        </p:txBody>
      </p:sp>
      <p:sp>
        <p:nvSpPr>
          <p:cNvPr id="13" name="TextBox 12">
            <a:extLst>
              <a:ext uri="{FF2B5EF4-FFF2-40B4-BE49-F238E27FC236}">
                <a16:creationId xmlns:a16="http://schemas.microsoft.com/office/drawing/2014/main" id="{B9FAA37F-2A92-7032-1808-B374394B354B}"/>
              </a:ext>
            </a:extLst>
          </p:cNvPr>
          <p:cNvSpPr txBox="1"/>
          <p:nvPr/>
        </p:nvSpPr>
        <p:spPr>
          <a:xfrm>
            <a:off x="3048000" y="9017000"/>
            <a:ext cx="1524000" cy="296813"/>
          </a:xfrm>
          <a:prstGeom prst="rect">
            <a:avLst/>
          </a:prstGeom>
          <a:noFill/>
        </p:spPr>
        <p:txBody>
          <a:bodyPr vert="horz" wrap="square" rtlCol="0">
            <a:spAutoFit/>
          </a:bodyPr>
          <a:lstStyle/>
          <a:p>
            <a:pPr>
              <a:lnSpc>
                <a:spcPct val="135000"/>
              </a:lnSpc>
              <a:spcAft>
                <a:spcPts val="600"/>
              </a:spcAft>
            </a:pPr>
            <a:r>
              <a:rPr lang="en-IN" sz="1100">
                <a:solidFill>
                  <a:srgbClr val="30241E"/>
                </a:solidFill>
                <a:latin typeface="Times New Roman" panose="02020603050405020304" pitchFamily="18" charset="0"/>
              </a:rPr>
              <a:t>Place: ____________</a:t>
            </a:r>
          </a:p>
        </p:txBody>
      </p:sp>
    </p:spTree>
    <p:extLst>
      <p:ext uri="{BB962C8B-B14F-4D97-AF65-F5344CB8AC3E}">
        <p14:creationId xmlns:p14="http://schemas.microsoft.com/office/powerpoint/2010/main" val="2254699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80A0CB-2A18-91DE-F543-9AB179D7AD41}"/>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DECLARATION</a:t>
            </a:r>
          </a:p>
        </p:txBody>
      </p:sp>
      <p:sp>
        <p:nvSpPr>
          <p:cNvPr id="3" name="Rectangle 2">
            <a:extLst>
              <a:ext uri="{FF2B5EF4-FFF2-40B4-BE49-F238E27FC236}">
                <a16:creationId xmlns:a16="http://schemas.microsoft.com/office/drawing/2014/main" id="{39D2F30C-2FDF-B306-A745-5EA7240A481F}"/>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0F89190-6A45-B684-BC63-60A605CE3D23}"/>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a:t>
            </a:r>
          </a:p>
        </p:txBody>
      </p:sp>
      <p:sp>
        <p:nvSpPr>
          <p:cNvPr id="5" name="TextBox 4">
            <a:extLst>
              <a:ext uri="{FF2B5EF4-FFF2-40B4-BE49-F238E27FC236}">
                <a16:creationId xmlns:a16="http://schemas.microsoft.com/office/drawing/2014/main" id="{449B37DF-DF0F-145D-6391-08304D7AC45C}"/>
              </a:ext>
            </a:extLst>
          </p:cNvPr>
          <p:cNvSpPr txBox="1"/>
          <p:nvPr/>
        </p:nvSpPr>
        <p:spPr>
          <a:xfrm>
            <a:off x="584200" y="1397000"/>
            <a:ext cx="6388100" cy="3365408"/>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We hereby declare that the project report entitled "Smart Hospital Management System" submitted for academic evaluation is an original work carried out by us under the guidance of the project mentor. The project has been designed and implemented using the MERN stack for the purpose of demonstrating a digital solution to manual hospital management.</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matter embodied in this report has not been copied from any earlier submission, and no part of this report has been submitted to any other institution or university for the award of any degree, diploma, or certificate. Whenever the ideas, findings, or documentation of other authors have been referred to, proper acknowledgement has been incorporated in the references section.</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We understand that any instance of plagiarism or misrepresentation may lead to academic action as per institutional rules.</a:t>
            </a:r>
            <a:endParaRPr lang="en-IN" sz="1200">
              <a:solidFill>
                <a:srgbClr val="30241E"/>
              </a:solidFill>
              <a:latin typeface="Times New Roman" panose="02020603050405020304" pitchFamily="18" charset="0"/>
            </a:endParaRPr>
          </a:p>
        </p:txBody>
      </p:sp>
      <p:cxnSp>
        <p:nvCxnSpPr>
          <p:cNvPr id="6" name="Straight Connector 5">
            <a:extLst>
              <a:ext uri="{FF2B5EF4-FFF2-40B4-BE49-F238E27FC236}">
                <a16:creationId xmlns:a16="http://schemas.microsoft.com/office/drawing/2014/main" id="{B8EAE73B-7F9B-1850-CFFB-147D343F9CF6}"/>
              </a:ext>
            </a:extLst>
          </p:cNvPr>
          <p:cNvCxnSpPr/>
          <p:nvPr/>
        </p:nvCxnSpPr>
        <p:spPr>
          <a:xfrm>
            <a:off x="1016000" y="8763000"/>
            <a:ext cx="1968500" cy="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2AE0DB1-CCC9-256D-A748-4482CA3EDEA1}"/>
              </a:ext>
            </a:extLst>
          </p:cNvPr>
          <p:cNvCxnSpPr/>
          <p:nvPr/>
        </p:nvCxnSpPr>
        <p:spPr>
          <a:xfrm>
            <a:off x="4191000" y="8763000"/>
            <a:ext cx="1968500" cy="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8EBB99D-30B7-E958-1C25-CC194A8EC79E}"/>
              </a:ext>
            </a:extLst>
          </p:cNvPr>
          <p:cNvSpPr txBox="1"/>
          <p:nvPr/>
        </p:nvSpPr>
        <p:spPr>
          <a:xfrm>
            <a:off x="1143000" y="8813800"/>
            <a:ext cx="1778000" cy="296813"/>
          </a:xfrm>
          <a:prstGeom prst="rect">
            <a:avLst/>
          </a:prstGeom>
          <a:noFill/>
        </p:spPr>
        <p:txBody>
          <a:bodyPr vert="horz" wrap="square" rtlCol="0">
            <a:spAutoFit/>
          </a:bodyPr>
          <a:lstStyle/>
          <a:p>
            <a:pPr algn="ctr">
              <a:lnSpc>
                <a:spcPct val="135000"/>
              </a:lnSpc>
              <a:spcAft>
                <a:spcPts val="600"/>
              </a:spcAft>
            </a:pPr>
            <a:r>
              <a:rPr lang="en-IN" sz="1100">
                <a:solidFill>
                  <a:srgbClr val="30241E"/>
                </a:solidFill>
                <a:latin typeface="Times New Roman" panose="02020603050405020304" pitchFamily="18" charset="0"/>
              </a:rPr>
              <a:t>Shreyansh Verma</a:t>
            </a:r>
          </a:p>
        </p:txBody>
      </p:sp>
      <p:sp>
        <p:nvSpPr>
          <p:cNvPr id="9" name="TextBox 8">
            <a:extLst>
              <a:ext uri="{FF2B5EF4-FFF2-40B4-BE49-F238E27FC236}">
                <a16:creationId xmlns:a16="http://schemas.microsoft.com/office/drawing/2014/main" id="{16F5A50B-B832-AF45-2D03-E38D24EB7C5D}"/>
              </a:ext>
            </a:extLst>
          </p:cNvPr>
          <p:cNvSpPr txBox="1"/>
          <p:nvPr/>
        </p:nvSpPr>
        <p:spPr>
          <a:xfrm>
            <a:off x="4000500" y="8813800"/>
            <a:ext cx="2349500" cy="296813"/>
          </a:xfrm>
          <a:prstGeom prst="rect">
            <a:avLst/>
          </a:prstGeom>
          <a:noFill/>
        </p:spPr>
        <p:txBody>
          <a:bodyPr vert="horz" wrap="square" rtlCol="0">
            <a:spAutoFit/>
          </a:bodyPr>
          <a:lstStyle/>
          <a:p>
            <a:pPr algn="ctr">
              <a:lnSpc>
                <a:spcPct val="135000"/>
              </a:lnSpc>
              <a:spcAft>
                <a:spcPts val="600"/>
              </a:spcAft>
            </a:pPr>
            <a:r>
              <a:rPr lang="en-IN" sz="1100">
                <a:solidFill>
                  <a:srgbClr val="30241E"/>
                </a:solidFill>
                <a:latin typeface="Times New Roman" panose="02020603050405020304" pitchFamily="18" charset="0"/>
              </a:rPr>
              <a:t>Tavis Mariageorge James</a:t>
            </a:r>
          </a:p>
        </p:txBody>
      </p:sp>
      <p:sp>
        <p:nvSpPr>
          <p:cNvPr id="10" name="TextBox 9">
            <a:extLst>
              <a:ext uri="{FF2B5EF4-FFF2-40B4-BE49-F238E27FC236}">
                <a16:creationId xmlns:a16="http://schemas.microsoft.com/office/drawing/2014/main" id="{D2DA2103-8871-7F27-ECA5-6542A74BB219}"/>
              </a:ext>
            </a:extLst>
          </p:cNvPr>
          <p:cNvSpPr txBox="1"/>
          <p:nvPr/>
        </p:nvSpPr>
        <p:spPr>
          <a:xfrm>
            <a:off x="1270000" y="9067800"/>
            <a:ext cx="1524000" cy="278218"/>
          </a:xfrm>
          <a:prstGeom prst="rect">
            <a:avLst/>
          </a:prstGeom>
          <a:noFill/>
        </p:spPr>
        <p:txBody>
          <a:bodyPr vert="horz" wrap="square" rtlCol="0">
            <a:spAutoFit/>
          </a:bodyPr>
          <a:lstStyle/>
          <a:p>
            <a:pPr algn="ctr">
              <a:lnSpc>
                <a:spcPct val="135000"/>
              </a:lnSpc>
              <a:spcAft>
                <a:spcPts val="600"/>
              </a:spcAft>
            </a:pPr>
            <a:r>
              <a:rPr lang="en-IN" sz="1000">
                <a:solidFill>
                  <a:srgbClr val="696969"/>
                </a:solidFill>
                <a:latin typeface="Times New Roman" panose="02020603050405020304" pitchFamily="18" charset="0"/>
              </a:rPr>
              <a:t>Student Signature</a:t>
            </a:r>
          </a:p>
        </p:txBody>
      </p:sp>
      <p:sp>
        <p:nvSpPr>
          <p:cNvPr id="11" name="TextBox 10">
            <a:extLst>
              <a:ext uri="{FF2B5EF4-FFF2-40B4-BE49-F238E27FC236}">
                <a16:creationId xmlns:a16="http://schemas.microsoft.com/office/drawing/2014/main" id="{B21DFA38-7840-90CB-D41C-FD0D723B7006}"/>
              </a:ext>
            </a:extLst>
          </p:cNvPr>
          <p:cNvSpPr txBox="1"/>
          <p:nvPr/>
        </p:nvSpPr>
        <p:spPr>
          <a:xfrm>
            <a:off x="4445000" y="9067800"/>
            <a:ext cx="1524000" cy="278218"/>
          </a:xfrm>
          <a:prstGeom prst="rect">
            <a:avLst/>
          </a:prstGeom>
          <a:noFill/>
        </p:spPr>
        <p:txBody>
          <a:bodyPr vert="horz" wrap="square" rtlCol="0">
            <a:spAutoFit/>
          </a:bodyPr>
          <a:lstStyle/>
          <a:p>
            <a:pPr algn="ctr">
              <a:lnSpc>
                <a:spcPct val="135000"/>
              </a:lnSpc>
              <a:spcAft>
                <a:spcPts val="600"/>
              </a:spcAft>
            </a:pPr>
            <a:r>
              <a:rPr lang="en-IN" sz="1000">
                <a:solidFill>
                  <a:srgbClr val="696969"/>
                </a:solidFill>
                <a:latin typeface="Times New Roman" panose="02020603050405020304" pitchFamily="18" charset="0"/>
              </a:rPr>
              <a:t>Student Signature</a:t>
            </a:r>
          </a:p>
        </p:txBody>
      </p:sp>
    </p:spTree>
    <p:extLst>
      <p:ext uri="{BB962C8B-B14F-4D97-AF65-F5344CB8AC3E}">
        <p14:creationId xmlns:p14="http://schemas.microsoft.com/office/powerpoint/2010/main" val="3864880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41CE71-1077-A97F-760E-A1D31E578BFB}"/>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ACKNOWLEDGEMENT</a:t>
            </a:r>
          </a:p>
        </p:txBody>
      </p:sp>
      <p:sp>
        <p:nvSpPr>
          <p:cNvPr id="3" name="Rectangle 2">
            <a:extLst>
              <a:ext uri="{FF2B5EF4-FFF2-40B4-BE49-F238E27FC236}">
                <a16:creationId xmlns:a16="http://schemas.microsoft.com/office/drawing/2014/main" id="{15AC793D-035F-4615-E080-4BEFB56DF945}"/>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913AB58-7156-E0D7-F68B-4DB6D33EDAC4}"/>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a:t>
            </a:r>
          </a:p>
        </p:txBody>
      </p:sp>
      <p:sp>
        <p:nvSpPr>
          <p:cNvPr id="5" name="TextBox 4">
            <a:extLst>
              <a:ext uri="{FF2B5EF4-FFF2-40B4-BE49-F238E27FC236}">
                <a16:creationId xmlns:a16="http://schemas.microsoft.com/office/drawing/2014/main" id="{2851720D-F288-FD9A-9C7D-57749CB72316}"/>
              </a:ext>
            </a:extLst>
          </p:cNvPr>
          <p:cNvSpPr txBox="1"/>
          <p:nvPr/>
        </p:nvSpPr>
        <p:spPr>
          <a:xfrm>
            <a:off x="584200" y="1397000"/>
            <a:ext cx="6388100" cy="3614707"/>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We express our sincere gratitude to our project guide, Mr. Subhojit Santra, for his valuable guidance, patient encouragement, and constructive suggestions throughout the development of this project. His support helped us refine both the technical implementation and the academic presentation of the Smart Hospital Management System.</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We also thank the faculty members and academic coordinators of the Academy of Skill Development for providing the learning environment, project review support, and institutional resources required to complete this work. Their feedback during each stage of development helped us improve the structure, scope, and quality of the report.</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We are equally grateful to our friends and peers for their suggestions during design validation and testing. Finally, we thank our families for their constant support, motivation, and encouragement throughout the completion of this major project.</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976984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3C5BB8-1344-4763-15F3-3842DC5BEA8F}"/>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ABSTRACT</a:t>
            </a:r>
          </a:p>
        </p:txBody>
      </p:sp>
      <p:sp>
        <p:nvSpPr>
          <p:cNvPr id="3" name="Rectangle 2">
            <a:extLst>
              <a:ext uri="{FF2B5EF4-FFF2-40B4-BE49-F238E27FC236}">
                <a16:creationId xmlns:a16="http://schemas.microsoft.com/office/drawing/2014/main" id="{1C676C60-3C25-610F-018E-DE7F4559819E}"/>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F26AD2B-0638-2B6A-0F29-B0C6A0956FB6}"/>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a:t>
            </a:r>
          </a:p>
        </p:txBody>
      </p:sp>
      <p:sp>
        <p:nvSpPr>
          <p:cNvPr id="5" name="TextBox 4">
            <a:extLst>
              <a:ext uri="{FF2B5EF4-FFF2-40B4-BE49-F238E27FC236}">
                <a16:creationId xmlns:a16="http://schemas.microsoft.com/office/drawing/2014/main" id="{FDB1FF08-FF8C-06E0-67D7-0A33DD660D15}"/>
              </a:ext>
            </a:extLst>
          </p:cNvPr>
          <p:cNvSpPr txBox="1"/>
          <p:nvPr/>
        </p:nvSpPr>
        <p:spPr>
          <a:xfrm>
            <a:off x="584200" y="1397000"/>
            <a:ext cx="6388100" cy="5110502"/>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Smart Hospital Management System is a full stack web application developed to address the inefficiencies of manual hospital record management. In many small and medium-sized healthcare institutions, patient registration, appointment handling, prescription management, report storage, order processing, and communication are still carried out manually or through fragmented tools. This creates delays, redundancy, poor coordination, and difficulty in retrieving information when needed.</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To solve this problem, the proposed system provides a centralized digital platform built using the MERN stack, namely MongoDB, Express.js, React.js, and Node.js. The backend follows the Model-View-Controller architecture to ensure clear separation of concerns and maintainable code. Core features include user authentication, email OTP verification, role-based access control, patient record management, appointment booking, e-prescription support, report uploads, order processing with cart and Cash on Delivery, real-time chat, notifications, and geo-location map integration.</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system was implemented and validated module by module using seeded dummy data and manual testing. The results show that the proposed system successfully improves data accessibility, reduces paper dependency, streamlines appointment workflows, and strengthens communication between administrators, doctors, and patients. The project forms a practical foundation for future enhancements such as telemedicine, wearable device integration, cloud storage, and online payment support.</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67753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570280-216C-56A3-65D4-2546CFED52EF}"/>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TABLE OF CONTENTS</a:t>
            </a:r>
          </a:p>
        </p:txBody>
      </p:sp>
      <p:sp>
        <p:nvSpPr>
          <p:cNvPr id="3" name="Rectangle 2">
            <a:extLst>
              <a:ext uri="{FF2B5EF4-FFF2-40B4-BE49-F238E27FC236}">
                <a16:creationId xmlns:a16="http://schemas.microsoft.com/office/drawing/2014/main" id="{6E89D7DA-2E0A-DAE9-DE0C-EE2B463BAB53}"/>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BE79968-80D9-72BA-E7B9-F559CF6265A0}"/>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a:t>
            </a:r>
          </a:p>
        </p:txBody>
      </p:sp>
      <p:sp>
        <p:nvSpPr>
          <p:cNvPr id="5" name="TextBox 4">
            <a:extLst>
              <a:ext uri="{FF2B5EF4-FFF2-40B4-BE49-F238E27FC236}">
                <a16:creationId xmlns:a16="http://schemas.microsoft.com/office/drawing/2014/main" id="{8AB109CD-EE43-DCEB-3B3C-3E85E0E737DA}"/>
              </a:ext>
            </a:extLst>
          </p:cNvPr>
          <p:cNvSpPr txBox="1"/>
          <p:nvPr/>
        </p:nvSpPr>
        <p:spPr>
          <a:xfrm>
            <a:off x="812800" y="1524000"/>
            <a:ext cx="5969000" cy="5184304"/>
          </a:xfrm>
          <a:prstGeom prst="rect">
            <a:avLst/>
          </a:prstGeom>
          <a:noFill/>
        </p:spPr>
        <p:txBody>
          <a:bodyPr vert="horz" wrap="square" rtlCol="0">
            <a:spAutoFit/>
          </a:bodyPr>
          <a:lstStyle/>
          <a:p>
            <a:pPr>
              <a:lnSpc>
                <a:spcPct val="135000"/>
              </a:lnSpc>
              <a:spcAft>
                <a:spcPts val="600"/>
              </a:spcAft>
            </a:pPr>
            <a:r>
              <a:rPr lang="en-US" sz="1100">
                <a:solidFill>
                  <a:srgbClr val="30241E"/>
                </a:solidFill>
                <a:latin typeface="Times New Roman" panose="02020603050405020304" pitchFamily="18" charset="0"/>
              </a:rPr>
              <a:t>Title Page .............................................................................. 1</a:t>
            </a:r>
          </a:p>
          <a:p>
            <a:pPr>
              <a:lnSpc>
                <a:spcPct val="135000"/>
              </a:lnSpc>
              <a:spcAft>
                <a:spcPts val="600"/>
              </a:spcAft>
            </a:pPr>
            <a:r>
              <a:rPr lang="en-US" sz="1100">
                <a:solidFill>
                  <a:srgbClr val="30241E"/>
                </a:solidFill>
                <a:latin typeface="Times New Roman" panose="02020603050405020304" pitchFamily="18" charset="0"/>
              </a:rPr>
              <a:t>Certificate ............................................................................ 2</a:t>
            </a:r>
          </a:p>
          <a:p>
            <a:pPr>
              <a:lnSpc>
                <a:spcPct val="135000"/>
              </a:lnSpc>
              <a:spcAft>
                <a:spcPts val="600"/>
              </a:spcAft>
            </a:pPr>
            <a:r>
              <a:rPr lang="en-US" sz="1100">
                <a:solidFill>
                  <a:srgbClr val="30241E"/>
                </a:solidFill>
                <a:latin typeface="Times New Roman" panose="02020603050405020304" pitchFamily="18" charset="0"/>
              </a:rPr>
              <a:t>Declaration .......................................................................... 3</a:t>
            </a:r>
          </a:p>
          <a:p>
            <a:pPr>
              <a:lnSpc>
                <a:spcPct val="135000"/>
              </a:lnSpc>
              <a:spcAft>
                <a:spcPts val="600"/>
              </a:spcAft>
            </a:pPr>
            <a:r>
              <a:rPr lang="en-US" sz="1100">
                <a:solidFill>
                  <a:srgbClr val="30241E"/>
                </a:solidFill>
                <a:latin typeface="Times New Roman" panose="02020603050405020304" pitchFamily="18" charset="0"/>
              </a:rPr>
              <a:t>Acknowledgement .................................................................... 4</a:t>
            </a:r>
          </a:p>
          <a:p>
            <a:pPr>
              <a:lnSpc>
                <a:spcPct val="135000"/>
              </a:lnSpc>
              <a:spcAft>
                <a:spcPts val="600"/>
              </a:spcAft>
            </a:pPr>
            <a:r>
              <a:rPr lang="en-US" sz="1100">
                <a:solidFill>
                  <a:srgbClr val="30241E"/>
                </a:solidFill>
                <a:latin typeface="Times New Roman" panose="02020603050405020304" pitchFamily="18" charset="0"/>
              </a:rPr>
              <a:t>Abstract ................................................................................ 5</a:t>
            </a:r>
          </a:p>
          <a:p>
            <a:pPr>
              <a:lnSpc>
                <a:spcPct val="135000"/>
              </a:lnSpc>
              <a:spcAft>
                <a:spcPts val="600"/>
              </a:spcAft>
            </a:pPr>
            <a:r>
              <a:rPr lang="en-US" sz="1100">
                <a:solidFill>
                  <a:srgbClr val="30241E"/>
                </a:solidFill>
                <a:latin typeface="Times New Roman" panose="02020603050405020304" pitchFamily="18" charset="0"/>
              </a:rPr>
              <a:t>Table of Contents .................................................................... 6</a:t>
            </a:r>
          </a:p>
          <a:p>
            <a:pPr>
              <a:lnSpc>
                <a:spcPct val="135000"/>
              </a:lnSpc>
              <a:spcAft>
                <a:spcPts val="600"/>
              </a:spcAft>
            </a:pPr>
            <a:r>
              <a:rPr lang="en-US" sz="1100">
                <a:solidFill>
                  <a:srgbClr val="30241E"/>
                </a:solidFill>
                <a:latin typeface="Times New Roman" panose="02020603050405020304" pitchFamily="18" charset="0"/>
              </a:rPr>
              <a:t>List of Figures ....................................................................... 8</a:t>
            </a:r>
          </a:p>
          <a:p>
            <a:pPr>
              <a:lnSpc>
                <a:spcPct val="135000"/>
              </a:lnSpc>
              <a:spcAft>
                <a:spcPts val="600"/>
              </a:spcAft>
            </a:pPr>
            <a:r>
              <a:rPr lang="en-US" sz="1100">
                <a:solidFill>
                  <a:srgbClr val="30241E"/>
                </a:solidFill>
                <a:latin typeface="Times New Roman" panose="02020603050405020304" pitchFamily="18" charset="0"/>
              </a:rPr>
              <a:t>List of Tables ........................................................................ 9</a:t>
            </a:r>
          </a:p>
          <a:p>
            <a:pPr>
              <a:lnSpc>
                <a:spcPct val="135000"/>
              </a:lnSpc>
              <a:spcAft>
                <a:spcPts val="600"/>
              </a:spcAft>
            </a:pPr>
            <a:r>
              <a:rPr lang="en-US" sz="1100">
                <a:solidFill>
                  <a:srgbClr val="30241E"/>
                </a:solidFill>
                <a:latin typeface="Times New Roman" panose="02020603050405020304" pitchFamily="18" charset="0"/>
              </a:rPr>
              <a:t>Chapter 1: Introduction ............................................................ 10</a:t>
            </a:r>
          </a:p>
          <a:p>
            <a:pPr>
              <a:lnSpc>
                <a:spcPct val="135000"/>
              </a:lnSpc>
              <a:spcAft>
                <a:spcPts val="600"/>
              </a:spcAft>
            </a:pPr>
            <a:r>
              <a:rPr lang="en-US" sz="1100">
                <a:solidFill>
                  <a:srgbClr val="30241E"/>
                </a:solidFill>
                <a:latin typeface="Times New Roman" panose="02020603050405020304" pitchFamily="18" charset="0"/>
              </a:rPr>
              <a:t>1A. Background of the Problem .................................................... 11</a:t>
            </a:r>
          </a:p>
          <a:p>
            <a:pPr>
              <a:lnSpc>
                <a:spcPct val="135000"/>
              </a:lnSpc>
              <a:spcAft>
                <a:spcPts val="600"/>
              </a:spcAft>
            </a:pPr>
            <a:r>
              <a:rPr lang="en-US" sz="1100">
                <a:solidFill>
                  <a:srgbClr val="30241E"/>
                </a:solidFill>
                <a:latin typeface="Times New Roman" panose="02020603050405020304" pitchFamily="18" charset="0"/>
              </a:rPr>
              <a:t>1B. Importance and Relevance .................................................... 12</a:t>
            </a:r>
          </a:p>
          <a:p>
            <a:pPr>
              <a:lnSpc>
                <a:spcPct val="135000"/>
              </a:lnSpc>
              <a:spcAft>
                <a:spcPts val="600"/>
              </a:spcAft>
            </a:pPr>
            <a:r>
              <a:rPr lang="en-US" sz="1100">
                <a:solidFill>
                  <a:srgbClr val="30241E"/>
                </a:solidFill>
                <a:latin typeface="Times New Roman" panose="02020603050405020304" pitchFamily="18" charset="0"/>
              </a:rPr>
              <a:t>1C. Problem Statement ............................................................. 13</a:t>
            </a:r>
          </a:p>
          <a:p>
            <a:pPr>
              <a:lnSpc>
                <a:spcPct val="135000"/>
              </a:lnSpc>
              <a:spcAft>
                <a:spcPts val="600"/>
              </a:spcAft>
            </a:pPr>
            <a:r>
              <a:rPr lang="en-US" sz="1100">
                <a:solidFill>
                  <a:srgbClr val="30241E"/>
                </a:solidFill>
                <a:latin typeface="Times New Roman" panose="02020603050405020304" pitchFamily="18" charset="0"/>
              </a:rPr>
              <a:t>1D. Objectives of the Project ................................................... 14</a:t>
            </a:r>
          </a:p>
          <a:p>
            <a:pPr>
              <a:lnSpc>
                <a:spcPct val="135000"/>
              </a:lnSpc>
              <a:spcAft>
                <a:spcPts val="600"/>
              </a:spcAft>
            </a:pPr>
            <a:r>
              <a:rPr lang="en-US" sz="1100">
                <a:solidFill>
                  <a:srgbClr val="30241E"/>
                </a:solidFill>
                <a:latin typeface="Times New Roman" panose="02020603050405020304" pitchFamily="18" charset="0"/>
              </a:rPr>
              <a:t>1E. Scope of the Project ........................................................ 15</a:t>
            </a:r>
          </a:p>
          <a:p>
            <a:pPr>
              <a:lnSpc>
                <a:spcPct val="135000"/>
              </a:lnSpc>
              <a:spcAft>
                <a:spcPts val="600"/>
              </a:spcAft>
            </a:pPr>
            <a:r>
              <a:rPr lang="en-US" sz="1100">
                <a:solidFill>
                  <a:srgbClr val="30241E"/>
                </a:solidFill>
                <a:latin typeface="Times New Roman" panose="02020603050405020304" pitchFamily="18" charset="0"/>
              </a:rPr>
              <a:t>Chapter 2: Literature Review .................................................... 16</a:t>
            </a:r>
          </a:p>
          <a:p>
            <a:pPr>
              <a:lnSpc>
                <a:spcPct val="135000"/>
              </a:lnSpc>
              <a:spcAft>
                <a:spcPts val="600"/>
              </a:spcAft>
            </a:pPr>
            <a:r>
              <a:rPr lang="en-US" sz="1100">
                <a:solidFill>
                  <a:srgbClr val="30241E"/>
                </a:solidFill>
                <a:latin typeface="Times New Roman" panose="02020603050405020304" pitchFamily="18" charset="0"/>
              </a:rPr>
              <a:t>2A. Research Papers / Articles Reviewed .................................... 17</a:t>
            </a:r>
          </a:p>
          <a:p>
            <a:pPr>
              <a:lnSpc>
                <a:spcPct val="135000"/>
              </a:lnSpc>
              <a:spcAft>
                <a:spcPts val="600"/>
              </a:spcAft>
            </a:pPr>
            <a:r>
              <a:rPr lang="en-US" sz="1100">
                <a:solidFill>
                  <a:srgbClr val="30241E"/>
                </a:solidFill>
                <a:latin typeface="Times New Roman" panose="02020603050405020304" pitchFamily="18" charset="0"/>
              </a:rPr>
              <a:t>2B. Summary of Existing Work .................................................. 18</a:t>
            </a:r>
            <a:endParaRPr lang="en-IN" sz="11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2555426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BAC595-DDD3-B2E9-BCC9-6D5BC9E8D4F4}"/>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TABLE OF CONTENTS (CONTINUED)</a:t>
            </a:r>
          </a:p>
        </p:txBody>
      </p:sp>
      <p:sp>
        <p:nvSpPr>
          <p:cNvPr id="3" name="Rectangle 2">
            <a:extLst>
              <a:ext uri="{FF2B5EF4-FFF2-40B4-BE49-F238E27FC236}">
                <a16:creationId xmlns:a16="http://schemas.microsoft.com/office/drawing/2014/main" id="{9112E927-6917-1127-2919-4A422798CA8A}"/>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3C47790-64E4-568A-D784-2DC488C48C0E}"/>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7</a:t>
            </a:r>
          </a:p>
        </p:txBody>
      </p:sp>
      <p:sp>
        <p:nvSpPr>
          <p:cNvPr id="5" name="TextBox 4">
            <a:extLst>
              <a:ext uri="{FF2B5EF4-FFF2-40B4-BE49-F238E27FC236}">
                <a16:creationId xmlns:a16="http://schemas.microsoft.com/office/drawing/2014/main" id="{4E3AB5B4-E185-8C15-D329-7E8580BEA9C0}"/>
              </a:ext>
            </a:extLst>
          </p:cNvPr>
          <p:cNvSpPr txBox="1"/>
          <p:nvPr/>
        </p:nvSpPr>
        <p:spPr>
          <a:xfrm>
            <a:off x="812800" y="1524000"/>
            <a:ext cx="5969000" cy="4573368"/>
          </a:xfrm>
          <a:prstGeom prst="rect">
            <a:avLst/>
          </a:prstGeom>
          <a:noFill/>
        </p:spPr>
        <p:txBody>
          <a:bodyPr vert="horz" wrap="square" rtlCol="0">
            <a:spAutoFit/>
          </a:bodyPr>
          <a:lstStyle/>
          <a:p>
            <a:pPr>
              <a:lnSpc>
                <a:spcPct val="135000"/>
              </a:lnSpc>
              <a:spcAft>
                <a:spcPts val="600"/>
              </a:spcAft>
            </a:pPr>
            <a:r>
              <a:rPr lang="en-IN" sz="1100">
                <a:solidFill>
                  <a:srgbClr val="30241E"/>
                </a:solidFill>
                <a:latin typeface="Times New Roman" panose="02020603050405020304" pitchFamily="18" charset="0"/>
              </a:rPr>
              <a:t>2C. Comparative Analysis ........................................................ 19</a:t>
            </a:r>
          </a:p>
          <a:p>
            <a:pPr>
              <a:lnSpc>
                <a:spcPct val="135000"/>
              </a:lnSpc>
              <a:spcAft>
                <a:spcPts val="600"/>
              </a:spcAft>
            </a:pPr>
            <a:r>
              <a:rPr lang="en-IN" sz="1100">
                <a:solidFill>
                  <a:srgbClr val="30241E"/>
                </a:solidFill>
                <a:latin typeface="Times New Roman" panose="02020603050405020304" pitchFamily="18" charset="0"/>
              </a:rPr>
              <a:t>2D. Identification of Research Gap .......................................... 20</a:t>
            </a:r>
          </a:p>
          <a:p>
            <a:pPr>
              <a:lnSpc>
                <a:spcPct val="135000"/>
              </a:lnSpc>
              <a:spcAft>
                <a:spcPts val="600"/>
              </a:spcAft>
            </a:pPr>
            <a:r>
              <a:rPr lang="en-IN" sz="1100">
                <a:solidFill>
                  <a:srgbClr val="30241E"/>
                </a:solidFill>
                <a:latin typeface="Times New Roman" panose="02020603050405020304" pitchFamily="18" charset="0"/>
              </a:rPr>
              <a:t>2E. Literature Review Synthesis ............................................... 21</a:t>
            </a:r>
          </a:p>
          <a:p>
            <a:pPr>
              <a:lnSpc>
                <a:spcPct val="135000"/>
              </a:lnSpc>
              <a:spcAft>
                <a:spcPts val="600"/>
              </a:spcAft>
            </a:pPr>
            <a:r>
              <a:rPr lang="en-IN" sz="1100">
                <a:solidFill>
                  <a:srgbClr val="30241E"/>
                </a:solidFill>
                <a:latin typeface="Times New Roman" panose="02020603050405020304" pitchFamily="18" charset="0"/>
              </a:rPr>
              <a:t>Chapter 3: System Analysis ...................................................... 22</a:t>
            </a:r>
          </a:p>
          <a:p>
            <a:pPr>
              <a:lnSpc>
                <a:spcPct val="135000"/>
              </a:lnSpc>
              <a:spcAft>
                <a:spcPts val="600"/>
              </a:spcAft>
            </a:pPr>
            <a:r>
              <a:rPr lang="en-IN" sz="1100">
                <a:solidFill>
                  <a:srgbClr val="30241E"/>
                </a:solidFill>
                <a:latin typeface="Times New Roman" panose="02020603050405020304" pitchFamily="18" charset="0"/>
              </a:rPr>
              <a:t>Chapter 4: System Design ......................................................... 32</a:t>
            </a:r>
          </a:p>
          <a:p>
            <a:pPr>
              <a:lnSpc>
                <a:spcPct val="135000"/>
              </a:lnSpc>
              <a:spcAft>
                <a:spcPts val="600"/>
              </a:spcAft>
            </a:pPr>
            <a:r>
              <a:rPr lang="en-IN" sz="1100">
                <a:solidFill>
                  <a:srgbClr val="30241E"/>
                </a:solidFill>
                <a:latin typeface="Times New Roman" panose="02020603050405020304" pitchFamily="18" charset="0"/>
              </a:rPr>
              <a:t>Chapter 5: Methodology .......................................................... 43</a:t>
            </a:r>
          </a:p>
          <a:p>
            <a:pPr>
              <a:lnSpc>
                <a:spcPct val="135000"/>
              </a:lnSpc>
              <a:spcAft>
                <a:spcPts val="600"/>
              </a:spcAft>
            </a:pPr>
            <a:r>
              <a:rPr lang="en-IN" sz="1100">
                <a:solidFill>
                  <a:srgbClr val="30241E"/>
                </a:solidFill>
                <a:latin typeface="Times New Roman" panose="02020603050405020304" pitchFamily="18" charset="0"/>
              </a:rPr>
              <a:t>Chapter 6: Implementation ....................................................... 48</a:t>
            </a:r>
          </a:p>
          <a:p>
            <a:pPr>
              <a:lnSpc>
                <a:spcPct val="135000"/>
              </a:lnSpc>
              <a:spcAft>
                <a:spcPts val="600"/>
              </a:spcAft>
            </a:pPr>
            <a:r>
              <a:rPr lang="en-IN" sz="1100">
                <a:solidFill>
                  <a:srgbClr val="30241E"/>
                </a:solidFill>
                <a:latin typeface="Times New Roman" panose="02020603050405020304" pitchFamily="18" charset="0"/>
              </a:rPr>
              <a:t>Chapter 7: Results and Discussion ............................................ 56</a:t>
            </a:r>
          </a:p>
          <a:p>
            <a:pPr>
              <a:lnSpc>
                <a:spcPct val="135000"/>
              </a:lnSpc>
              <a:spcAft>
                <a:spcPts val="600"/>
              </a:spcAft>
            </a:pPr>
            <a:r>
              <a:rPr lang="en-IN" sz="1100">
                <a:solidFill>
                  <a:srgbClr val="30241E"/>
                </a:solidFill>
                <a:latin typeface="Times New Roman" panose="02020603050405020304" pitchFamily="18" charset="0"/>
              </a:rPr>
              <a:t>Chapter 8: Advantages and Limitations ..................................... 61</a:t>
            </a:r>
          </a:p>
          <a:p>
            <a:pPr>
              <a:lnSpc>
                <a:spcPct val="135000"/>
              </a:lnSpc>
              <a:spcAft>
                <a:spcPts val="600"/>
              </a:spcAft>
            </a:pPr>
            <a:r>
              <a:rPr lang="en-IN" sz="1100">
                <a:solidFill>
                  <a:srgbClr val="30241E"/>
                </a:solidFill>
                <a:latin typeface="Times New Roman" panose="02020603050405020304" pitchFamily="18" charset="0"/>
              </a:rPr>
              <a:t>Chapter 9: Conclusion ............................................................ 64</a:t>
            </a:r>
          </a:p>
          <a:p>
            <a:pPr>
              <a:lnSpc>
                <a:spcPct val="135000"/>
              </a:lnSpc>
              <a:spcAft>
                <a:spcPts val="600"/>
              </a:spcAft>
            </a:pPr>
            <a:r>
              <a:rPr lang="en-IN" sz="1100">
                <a:solidFill>
                  <a:srgbClr val="30241E"/>
                </a:solidFill>
                <a:latin typeface="Times New Roman" panose="02020603050405020304" pitchFamily="18" charset="0"/>
              </a:rPr>
              <a:t>Chapter 10: Future Scope ....................................................... 65</a:t>
            </a:r>
          </a:p>
          <a:p>
            <a:pPr>
              <a:lnSpc>
                <a:spcPct val="135000"/>
              </a:lnSpc>
              <a:spcAft>
                <a:spcPts val="600"/>
              </a:spcAft>
            </a:pPr>
            <a:r>
              <a:rPr lang="en-IN" sz="1100">
                <a:solidFill>
                  <a:srgbClr val="30241E"/>
                </a:solidFill>
                <a:latin typeface="Times New Roman" panose="02020603050405020304" pitchFamily="18" charset="0"/>
              </a:rPr>
              <a:t>References ............................................................................ 66</a:t>
            </a:r>
          </a:p>
          <a:p>
            <a:pPr>
              <a:lnSpc>
                <a:spcPct val="135000"/>
              </a:lnSpc>
              <a:spcAft>
                <a:spcPts val="600"/>
              </a:spcAft>
            </a:pPr>
            <a:r>
              <a:rPr lang="en-IN" sz="1100">
                <a:solidFill>
                  <a:srgbClr val="30241E"/>
                </a:solidFill>
                <a:latin typeface="Times New Roman" panose="02020603050405020304" pitchFamily="18" charset="0"/>
              </a:rPr>
              <a:t>Appendix A: API Endpoints ...................................................... 68</a:t>
            </a:r>
          </a:p>
          <a:p>
            <a:pPr>
              <a:lnSpc>
                <a:spcPct val="135000"/>
              </a:lnSpc>
              <a:spcAft>
                <a:spcPts val="600"/>
              </a:spcAft>
            </a:pPr>
            <a:r>
              <a:rPr lang="en-IN" sz="1100">
                <a:solidFill>
                  <a:srgbClr val="30241E"/>
                </a:solidFill>
                <a:latin typeface="Times New Roman" panose="02020603050405020304" pitchFamily="18" charset="0"/>
              </a:rPr>
              <a:t>Appendix B: Dummy Data Samples .............................................. 69</a:t>
            </a:r>
          </a:p>
          <a:p>
            <a:pPr>
              <a:lnSpc>
                <a:spcPct val="135000"/>
              </a:lnSpc>
              <a:spcAft>
                <a:spcPts val="600"/>
              </a:spcAft>
            </a:pPr>
            <a:r>
              <a:rPr lang="en-IN" sz="1100">
                <a:solidFill>
                  <a:srgbClr val="30241E"/>
                </a:solidFill>
                <a:latin typeface="Times New Roman" panose="02020603050405020304" pitchFamily="18" charset="0"/>
              </a:rPr>
              <a:t>Appendix C: Source Code Organization ..................................... 70</a:t>
            </a:r>
          </a:p>
        </p:txBody>
      </p:sp>
    </p:spTree>
    <p:extLst>
      <p:ext uri="{BB962C8B-B14F-4D97-AF65-F5344CB8AC3E}">
        <p14:creationId xmlns:p14="http://schemas.microsoft.com/office/powerpoint/2010/main" val="4027926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9B4111-2F87-9034-7CDF-EBC9F42B218F}"/>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LIST OF FIGURES</a:t>
            </a:r>
          </a:p>
        </p:txBody>
      </p:sp>
      <p:sp>
        <p:nvSpPr>
          <p:cNvPr id="3" name="Rectangle 2">
            <a:extLst>
              <a:ext uri="{FF2B5EF4-FFF2-40B4-BE49-F238E27FC236}">
                <a16:creationId xmlns:a16="http://schemas.microsoft.com/office/drawing/2014/main" id="{3AD9AA65-2485-48A5-5D68-B4DD5B0ED73E}"/>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8D7D0FE-9DF1-BC9D-9ACD-2AFB115CE6A5}"/>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8</a:t>
            </a:r>
          </a:p>
        </p:txBody>
      </p:sp>
      <p:sp>
        <p:nvSpPr>
          <p:cNvPr id="5" name="TextBox 4">
            <a:extLst>
              <a:ext uri="{FF2B5EF4-FFF2-40B4-BE49-F238E27FC236}">
                <a16:creationId xmlns:a16="http://schemas.microsoft.com/office/drawing/2014/main" id="{83F5C7C3-FA66-558B-6404-CE8F1883648A}"/>
              </a:ext>
            </a:extLst>
          </p:cNvPr>
          <p:cNvSpPr txBox="1"/>
          <p:nvPr/>
        </p:nvSpPr>
        <p:spPr>
          <a:xfrm>
            <a:off x="812800" y="1524000"/>
            <a:ext cx="5969000" cy="3351495"/>
          </a:xfrm>
          <a:prstGeom prst="rect">
            <a:avLst/>
          </a:prstGeom>
          <a:noFill/>
        </p:spPr>
        <p:txBody>
          <a:bodyPr vert="horz" wrap="square" rtlCol="0">
            <a:spAutoFit/>
          </a:bodyPr>
          <a:lstStyle/>
          <a:p>
            <a:pPr>
              <a:lnSpc>
                <a:spcPct val="135000"/>
              </a:lnSpc>
              <a:spcAft>
                <a:spcPts val="600"/>
              </a:spcAft>
            </a:pPr>
            <a:r>
              <a:rPr lang="en-IN" sz="1100">
                <a:solidFill>
                  <a:srgbClr val="30241E"/>
                </a:solidFill>
                <a:latin typeface="Times New Roman" panose="02020603050405020304" pitchFamily="18" charset="0"/>
              </a:rPr>
              <a:t>Figure 1. System Architecture of Smart Hospital Management System ............. 33</a:t>
            </a:r>
          </a:p>
          <a:p>
            <a:pPr>
              <a:lnSpc>
                <a:spcPct val="135000"/>
              </a:lnSpc>
              <a:spcAft>
                <a:spcPts val="600"/>
              </a:spcAft>
            </a:pPr>
            <a:r>
              <a:rPr lang="en-IN" sz="1100">
                <a:solidFill>
                  <a:srgbClr val="30241E"/>
                </a:solidFill>
                <a:latin typeface="Times New Roman" panose="02020603050405020304" pitchFamily="18" charset="0"/>
              </a:rPr>
              <a:t>Figure 2. Module Design Diagram ...................................................... 34</a:t>
            </a:r>
          </a:p>
          <a:p>
            <a:pPr>
              <a:lnSpc>
                <a:spcPct val="135000"/>
              </a:lnSpc>
              <a:spcAft>
                <a:spcPts val="600"/>
              </a:spcAft>
            </a:pPr>
            <a:r>
              <a:rPr lang="en-IN" sz="1100">
                <a:solidFill>
                  <a:srgbClr val="30241E"/>
                </a:solidFill>
                <a:latin typeface="Times New Roman" panose="02020603050405020304" pitchFamily="18" charset="0"/>
              </a:rPr>
              <a:t>Figure 3. Data Flow Diagram Level 0 ................................................ 35</a:t>
            </a:r>
          </a:p>
          <a:p>
            <a:pPr>
              <a:lnSpc>
                <a:spcPct val="135000"/>
              </a:lnSpc>
              <a:spcAft>
                <a:spcPts val="600"/>
              </a:spcAft>
            </a:pPr>
            <a:r>
              <a:rPr lang="en-IN" sz="1100">
                <a:solidFill>
                  <a:srgbClr val="30241E"/>
                </a:solidFill>
                <a:latin typeface="Times New Roman" panose="02020603050405020304" pitchFamily="18" charset="0"/>
              </a:rPr>
              <a:t>Figure 4. Data Flow Diagram Level 1 - Patient .................................... 36</a:t>
            </a:r>
          </a:p>
          <a:p>
            <a:pPr>
              <a:lnSpc>
                <a:spcPct val="135000"/>
              </a:lnSpc>
              <a:spcAft>
                <a:spcPts val="600"/>
              </a:spcAft>
            </a:pPr>
            <a:r>
              <a:rPr lang="en-IN" sz="1100">
                <a:solidFill>
                  <a:srgbClr val="30241E"/>
                </a:solidFill>
                <a:latin typeface="Times New Roman" panose="02020603050405020304" pitchFamily="18" charset="0"/>
              </a:rPr>
              <a:t>Figure 5. Data Flow Diagram Level 1 - Admin and Doctor ........................ 37</a:t>
            </a:r>
          </a:p>
          <a:p>
            <a:pPr>
              <a:lnSpc>
                <a:spcPct val="135000"/>
              </a:lnSpc>
              <a:spcAft>
                <a:spcPts val="600"/>
              </a:spcAft>
            </a:pPr>
            <a:r>
              <a:rPr lang="en-IN" sz="1100">
                <a:solidFill>
                  <a:srgbClr val="30241E"/>
                </a:solidFill>
                <a:latin typeface="Times New Roman" panose="02020603050405020304" pitchFamily="18" charset="0"/>
              </a:rPr>
              <a:t>Figure 6. Use Case Diagram ........................................................... 38</a:t>
            </a:r>
          </a:p>
          <a:p>
            <a:pPr>
              <a:lnSpc>
                <a:spcPct val="135000"/>
              </a:lnSpc>
              <a:spcAft>
                <a:spcPts val="600"/>
              </a:spcAft>
            </a:pPr>
            <a:r>
              <a:rPr lang="en-IN" sz="1100">
                <a:solidFill>
                  <a:srgbClr val="30241E"/>
                </a:solidFill>
                <a:latin typeface="Times New Roman" panose="02020603050405020304" pitchFamily="18" charset="0"/>
              </a:rPr>
              <a:t>Figure 7. Sequence Diagram for Appointment Booking ........................... 39</a:t>
            </a:r>
          </a:p>
          <a:p>
            <a:pPr>
              <a:lnSpc>
                <a:spcPct val="135000"/>
              </a:lnSpc>
              <a:spcAft>
                <a:spcPts val="600"/>
              </a:spcAft>
            </a:pPr>
            <a:r>
              <a:rPr lang="en-IN" sz="1100">
                <a:solidFill>
                  <a:srgbClr val="30241E"/>
                </a:solidFill>
                <a:latin typeface="Times New Roman" panose="02020603050405020304" pitchFamily="18" charset="0"/>
              </a:rPr>
              <a:t>Figure 8. Schema / Entity Relationship Diagram ................................... 40</a:t>
            </a:r>
          </a:p>
          <a:p>
            <a:pPr>
              <a:lnSpc>
                <a:spcPct val="135000"/>
              </a:lnSpc>
              <a:spcAft>
                <a:spcPts val="600"/>
              </a:spcAft>
            </a:pPr>
            <a:r>
              <a:rPr lang="en-IN" sz="1100">
                <a:solidFill>
                  <a:srgbClr val="30241E"/>
                </a:solidFill>
                <a:latin typeface="Times New Roman" panose="02020603050405020304" pitchFamily="18" charset="0"/>
              </a:rPr>
              <a:t>Figure 9. Authentication Flowchart .................................................. 41</a:t>
            </a:r>
          </a:p>
          <a:p>
            <a:pPr>
              <a:lnSpc>
                <a:spcPct val="135000"/>
              </a:lnSpc>
              <a:spcAft>
                <a:spcPts val="600"/>
              </a:spcAft>
            </a:pPr>
            <a:r>
              <a:rPr lang="en-IN" sz="1100">
                <a:solidFill>
                  <a:srgbClr val="30241E"/>
                </a:solidFill>
                <a:latin typeface="Times New Roman" panose="02020603050405020304" pitchFamily="18" charset="0"/>
              </a:rPr>
              <a:t>Figure 10. Order Processing Flowchart .............................................. 42</a:t>
            </a:r>
          </a:p>
          <a:p>
            <a:pPr>
              <a:lnSpc>
                <a:spcPct val="135000"/>
              </a:lnSpc>
              <a:spcAft>
                <a:spcPts val="600"/>
              </a:spcAft>
            </a:pPr>
            <a:r>
              <a:rPr lang="en-IN" sz="1100">
                <a:solidFill>
                  <a:srgbClr val="30241E"/>
                </a:solidFill>
                <a:latin typeface="Times New Roman" panose="02020603050405020304" pitchFamily="18" charset="0"/>
              </a:rPr>
              <a:t>Figure 11. Representative Interface Layouts ........................................ 54</a:t>
            </a:r>
          </a:p>
        </p:txBody>
      </p:sp>
    </p:spTree>
    <p:extLst>
      <p:ext uri="{BB962C8B-B14F-4D97-AF65-F5344CB8AC3E}">
        <p14:creationId xmlns:p14="http://schemas.microsoft.com/office/powerpoint/2010/main" val="737289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98B83B-99D4-D4D9-F572-F7F494E51A4A}"/>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LIST OF TABLES</a:t>
            </a:r>
          </a:p>
        </p:txBody>
      </p:sp>
      <p:sp>
        <p:nvSpPr>
          <p:cNvPr id="3" name="Rectangle 2">
            <a:extLst>
              <a:ext uri="{FF2B5EF4-FFF2-40B4-BE49-F238E27FC236}">
                <a16:creationId xmlns:a16="http://schemas.microsoft.com/office/drawing/2014/main" id="{33621C0F-F93C-7493-258E-C984F17A4B67}"/>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57D89E7-0131-21B6-AECA-2061EE003BF6}"/>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9</a:t>
            </a:r>
          </a:p>
        </p:txBody>
      </p:sp>
      <p:sp>
        <p:nvSpPr>
          <p:cNvPr id="5" name="TextBox 4">
            <a:extLst>
              <a:ext uri="{FF2B5EF4-FFF2-40B4-BE49-F238E27FC236}">
                <a16:creationId xmlns:a16="http://schemas.microsoft.com/office/drawing/2014/main" id="{D2C3ECB9-935E-BC03-E331-5613B2839D35}"/>
              </a:ext>
            </a:extLst>
          </p:cNvPr>
          <p:cNvSpPr txBox="1"/>
          <p:nvPr/>
        </p:nvSpPr>
        <p:spPr>
          <a:xfrm>
            <a:off x="812800" y="1524000"/>
            <a:ext cx="5969000" cy="3351495"/>
          </a:xfrm>
          <a:prstGeom prst="rect">
            <a:avLst/>
          </a:prstGeom>
          <a:noFill/>
        </p:spPr>
        <p:txBody>
          <a:bodyPr vert="horz" wrap="square" rtlCol="0">
            <a:spAutoFit/>
          </a:bodyPr>
          <a:lstStyle/>
          <a:p>
            <a:pPr>
              <a:lnSpc>
                <a:spcPct val="135000"/>
              </a:lnSpc>
              <a:spcAft>
                <a:spcPts val="600"/>
              </a:spcAft>
            </a:pPr>
            <a:r>
              <a:rPr lang="en-US" sz="1100">
                <a:solidFill>
                  <a:srgbClr val="30241E"/>
                </a:solidFill>
                <a:latin typeface="Times New Roman" panose="02020603050405020304" pitchFamily="18" charset="0"/>
              </a:rPr>
              <a:t>Table 1. Review of Major Research Papers ........................................ 17</a:t>
            </a:r>
          </a:p>
          <a:p>
            <a:pPr>
              <a:lnSpc>
                <a:spcPct val="135000"/>
              </a:lnSpc>
              <a:spcAft>
                <a:spcPts val="600"/>
              </a:spcAft>
            </a:pPr>
            <a:r>
              <a:rPr lang="en-US" sz="1100">
                <a:solidFill>
                  <a:srgbClr val="30241E"/>
                </a:solidFill>
                <a:latin typeface="Times New Roman" panose="02020603050405020304" pitchFamily="18" charset="0"/>
              </a:rPr>
              <a:t>Table 2. Comparative Analysis of Existing Approaches .......................... 19</a:t>
            </a:r>
          </a:p>
          <a:p>
            <a:pPr>
              <a:lnSpc>
                <a:spcPct val="135000"/>
              </a:lnSpc>
              <a:spcAft>
                <a:spcPts val="600"/>
              </a:spcAft>
            </a:pPr>
            <a:r>
              <a:rPr lang="en-US" sz="1100">
                <a:solidFill>
                  <a:srgbClr val="30241E"/>
                </a:solidFill>
                <a:latin typeface="Times New Roman" panose="02020603050405020304" pitchFamily="18" charset="0"/>
              </a:rPr>
              <a:t>Table 3. Feasibility Study Summary ................................................. 26</a:t>
            </a:r>
          </a:p>
          <a:p>
            <a:pPr>
              <a:lnSpc>
                <a:spcPct val="135000"/>
              </a:lnSpc>
              <a:spcAft>
                <a:spcPts val="600"/>
              </a:spcAft>
            </a:pPr>
            <a:r>
              <a:rPr lang="en-US" sz="1100">
                <a:solidFill>
                  <a:srgbClr val="30241E"/>
                </a:solidFill>
                <a:latin typeface="Times New Roman" panose="02020603050405020304" pitchFamily="18" charset="0"/>
              </a:rPr>
              <a:t>Table 4. Input and Output Analysis ................................................. 27</a:t>
            </a:r>
          </a:p>
          <a:p>
            <a:pPr>
              <a:lnSpc>
                <a:spcPct val="135000"/>
              </a:lnSpc>
              <a:spcAft>
                <a:spcPts val="600"/>
              </a:spcAft>
            </a:pPr>
            <a:r>
              <a:rPr lang="en-US" sz="1100">
                <a:solidFill>
                  <a:srgbClr val="30241E"/>
                </a:solidFill>
                <a:latin typeface="Times New Roman" panose="02020603050405020304" pitchFamily="18" charset="0"/>
              </a:rPr>
              <a:t>Table 5. Tools and Technologies Used .............................................. 49</a:t>
            </a:r>
          </a:p>
          <a:p>
            <a:pPr>
              <a:lnSpc>
                <a:spcPct val="135000"/>
              </a:lnSpc>
              <a:spcAft>
                <a:spcPts val="600"/>
              </a:spcAft>
            </a:pPr>
            <a:r>
              <a:rPr lang="en-US" sz="1100">
                <a:solidFill>
                  <a:srgbClr val="30241E"/>
                </a:solidFill>
                <a:latin typeface="Times New Roman" panose="02020603050405020304" pitchFamily="18" charset="0"/>
              </a:rPr>
              <a:t>Table 6. Hardware Requirements .................................................... 50</a:t>
            </a:r>
          </a:p>
          <a:p>
            <a:pPr>
              <a:lnSpc>
                <a:spcPct val="135000"/>
              </a:lnSpc>
              <a:spcAft>
                <a:spcPts val="600"/>
              </a:spcAft>
            </a:pPr>
            <a:r>
              <a:rPr lang="en-US" sz="1100">
                <a:solidFill>
                  <a:srgbClr val="30241E"/>
                </a:solidFill>
                <a:latin typeface="Times New Roman" panose="02020603050405020304" pitchFamily="18" charset="0"/>
              </a:rPr>
              <a:t>Table 7. Software Requirements and Dummy Data Summary .................... 51</a:t>
            </a:r>
          </a:p>
          <a:p>
            <a:pPr>
              <a:lnSpc>
                <a:spcPct val="135000"/>
              </a:lnSpc>
              <a:spcAft>
                <a:spcPts val="600"/>
              </a:spcAft>
            </a:pPr>
            <a:r>
              <a:rPr lang="en-US" sz="1100">
                <a:solidFill>
                  <a:srgbClr val="30241E"/>
                </a:solidFill>
                <a:latin typeface="Times New Roman" panose="02020603050405020304" pitchFamily="18" charset="0"/>
              </a:rPr>
              <a:t>Table 8. Core API Summary ............................................................ 53</a:t>
            </a:r>
          </a:p>
          <a:p>
            <a:pPr>
              <a:lnSpc>
                <a:spcPct val="135000"/>
              </a:lnSpc>
              <a:spcAft>
                <a:spcPts val="600"/>
              </a:spcAft>
            </a:pPr>
            <a:r>
              <a:rPr lang="en-US" sz="1100">
                <a:solidFill>
                  <a:srgbClr val="30241E"/>
                </a:solidFill>
                <a:latin typeface="Times New Roman" panose="02020603050405020304" pitchFamily="18" charset="0"/>
              </a:rPr>
              <a:t>Table 9. System Test Cases .......................................................... 57</a:t>
            </a:r>
          </a:p>
          <a:p>
            <a:pPr>
              <a:lnSpc>
                <a:spcPct val="135000"/>
              </a:lnSpc>
              <a:spcAft>
                <a:spcPts val="600"/>
              </a:spcAft>
            </a:pPr>
            <a:r>
              <a:rPr lang="en-US" sz="1100">
                <a:solidFill>
                  <a:srgbClr val="30241E"/>
                </a:solidFill>
                <a:latin typeface="Times New Roman" panose="02020603050405020304" pitchFamily="18" charset="0"/>
              </a:rPr>
              <a:t>Table 10. Expected vs Actual Comparison .......................................... 59</a:t>
            </a:r>
          </a:p>
          <a:p>
            <a:pPr>
              <a:lnSpc>
                <a:spcPct val="135000"/>
              </a:lnSpc>
              <a:spcAft>
                <a:spcPts val="600"/>
              </a:spcAft>
            </a:pPr>
            <a:r>
              <a:rPr lang="en-US" sz="1100">
                <a:solidFill>
                  <a:srgbClr val="30241E"/>
                </a:solidFill>
                <a:latin typeface="Times New Roman" panose="02020603050405020304" pitchFamily="18" charset="0"/>
              </a:rPr>
              <a:t>Table 11. Future Enhancement Roadmap ............................................ 65</a:t>
            </a:r>
            <a:endParaRPr lang="en-IN" sz="11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392451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DCC39D-D23D-2A32-7592-B3516060CC3B}"/>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CHAPTER 1: INTRODUCTION</a:t>
            </a:r>
          </a:p>
        </p:txBody>
      </p:sp>
      <p:sp>
        <p:nvSpPr>
          <p:cNvPr id="3" name="Rectangle 2">
            <a:extLst>
              <a:ext uri="{FF2B5EF4-FFF2-40B4-BE49-F238E27FC236}">
                <a16:creationId xmlns:a16="http://schemas.microsoft.com/office/drawing/2014/main" id="{B61926A0-5FE3-B1CB-705F-91841FACA93E}"/>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4F609B3-2C0F-450C-3D29-66B769223A8E}"/>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10</a:t>
            </a:r>
          </a:p>
        </p:txBody>
      </p:sp>
      <p:sp>
        <p:nvSpPr>
          <p:cNvPr id="5" name="TextBox 4">
            <a:extLst>
              <a:ext uri="{FF2B5EF4-FFF2-40B4-BE49-F238E27FC236}">
                <a16:creationId xmlns:a16="http://schemas.microsoft.com/office/drawing/2014/main" id="{11304E16-7952-0091-67A1-90EAECD7CD2C}"/>
              </a:ext>
            </a:extLst>
          </p:cNvPr>
          <p:cNvSpPr txBox="1"/>
          <p:nvPr/>
        </p:nvSpPr>
        <p:spPr>
          <a:xfrm>
            <a:off x="584200" y="1397000"/>
            <a:ext cx="6388100" cy="3365408"/>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Hospital management is one of the most information-intensive and process-driven domains in the healthcare sector. Every hospital must continuously manage patient registration, doctor scheduling, report storage, prescription handling, billing coordination, and administrative communication. The quality of this management directly affects patient experience, service speed, and record accuracy.</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In many hospitals and clinics, particularly at small and medium scale, these activities are still handled through manual registers, disconnected spreadsheets, or isolated software tools. Such an environment creates duplication of work, weak traceability, and delays in the retrieval of patient history.</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Smart Hospital Management System was developed to provide a structured digital alternative. This chapter introduces the project background, need, objectives, and scope.</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703122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D44D50-FBD0-4C51-C306-135EEDCD6834}"/>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1A. BACKGROUND OF THE PROBLEM</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7413BAEF-7B09-7292-2E6D-375A51083F32}"/>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1416C18-0FFF-BBE1-2D8F-105CAD430BB0}"/>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11</a:t>
            </a:r>
          </a:p>
        </p:txBody>
      </p:sp>
      <p:sp>
        <p:nvSpPr>
          <p:cNvPr id="5" name="TextBox 4">
            <a:extLst>
              <a:ext uri="{FF2B5EF4-FFF2-40B4-BE49-F238E27FC236}">
                <a16:creationId xmlns:a16="http://schemas.microsoft.com/office/drawing/2014/main" id="{8F740837-C273-153D-FC87-842B4629601B}"/>
              </a:ext>
            </a:extLst>
          </p:cNvPr>
          <p:cNvSpPr txBox="1"/>
          <p:nvPr/>
        </p:nvSpPr>
        <p:spPr>
          <a:xfrm>
            <a:off x="584200" y="1397000"/>
            <a:ext cx="6388100" cy="3365408"/>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Healthcare institutions operate in a highly time-sensitive environment where timely access to information is critical. Patient records, medical reports, prescriptions, and appointments must be accessible to the right users at the right time. When these details are managed manually, retrieval becomes dependent on physical files, staff memory, and repetitive data entry.</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Traditional hospital workflows were designed around paper forms and desk-based coordination. While such systems may function at a small scale, they quickly become inefficient as the patient load increases. Repeated visits create multiple documents across departments, and each new appointment or report update adds to the complexity of record tracking.</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A well-designed hospital management system can unify registration, appointments, communication, and record access through one secure platform.</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2185702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C474E8-2C79-0753-F27A-319B41CEC97F}"/>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1B. IMPORTANCE AND RELEVANCE</a:t>
            </a:r>
          </a:p>
        </p:txBody>
      </p:sp>
      <p:sp>
        <p:nvSpPr>
          <p:cNvPr id="3" name="Rectangle 2">
            <a:extLst>
              <a:ext uri="{FF2B5EF4-FFF2-40B4-BE49-F238E27FC236}">
                <a16:creationId xmlns:a16="http://schemas.microsoft.com/office/drawing/2014/main" id="{32652794-39FF-D082-3AA9-9FA85EBE4C88}"/>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03FF79E-5428-E749-56CA-084F99A6BEC9}"/>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12</a:t>
            </a:r>
          </a:p>
        </p:txBody>
      </p:sp>
      <p:sp>
        <p:nvSpPr>
          <p:cNvPr id="5" name="TextBox 4">
            <a:extLst>
              <a:ext uri="{FF2B5EF4-FFF2-40B4-BE49-F238E27FC236}">
                <a16:creationId xmlns:a16="http://schemas.microsoft.com/office/drawing/2014/main" id="{D3E5BFE8-E2C4-CCC6-6B21-F422F4CF36C5}"/>
              </a:ext>
            </a:extLst>
          </p:cNvPr>
          <p:cNvSpPr txBox="1"/>
          <p:nvPr/>
        </p:nvSpPr>
        <p:spPr>
          <a:xfrm>
            <a:off x="584200" y="1397000"/>
            <a:ext cx="6388100" cy="3365408"/>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proposed project is important because hospital administration directly affects the quality and continuity of care. When appointment records are lost, when reports cannot be found quickly, or when patients are not informed about changes, the outcome is inconvenience for both staff and patients. A digital system reduces this operational friction.</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This project is relevant in academic as well as practical terms. Academically, it demonstrates how a complete MERN stack solution can be built using role-based access control, REST APIs, JWT authentication, WebSockets, file uploads, and structured MVC design.</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Because healthcare systems increasingly rely on reliable information flow, a hospital management application that combines patient services, staff coordination, and structured records has strong relevance.</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677185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1F790A-8C2C-8417-6DD1-DEACEAA7347D}"/>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1C. PROBLEM STATEMENT</a:t>
            </a:r>
          </a:p>
        </p:txBody>
      </p:sp>
      <p:sp>
        <p:nvSpPr>
          <p:cNvPr id="3" name="Rectangle 2">
            <a:extLst>
              <a:ext uri="{FF2B5EF4-FFF2-40B4-BE49-F238E27FC236}">
                <a16:creationId xmlns:a16="http://schemas.microsoft.com/office/drawing/2014/main" id="{D8EA13BD-2C82-0740-53C0-753AF72C1193}"/>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D360498-3C51-E205-D3E2-D5C2CDE3DC52}"/>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13</a:t>
            </a:r>
          </a:p>
        </p:txBody>
      </p:sp>
      <p:sp>
        <p:nvSpPr>
          <p:cNvPr id="5" name="TextBox 4">
            <a:extLst>
              <a:ext uri="{FF2B5EF4-FFF2-40B4-BE49-F238E27FC236}">
                <a16:creationId xmlns:a16="http://schemas.microsoft.com/office/drawing/2014/main" id="{05111B09-D4FE-2196-B5E9-204D052199A6}"/>
              </a:ext>
            </a:extLst>
          </p:cNvPr>
          <p:cNvSpPr txBox="1"/>
          <p:nvPr/>
        </p:nvSpPr>
        <p:spPr>
          <a:xfrm>
            <a:off x="584200" y="1397000"/>
            <a:ext cx="6388100" cy="1965025"/>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central problem addressed by this project is the inefficient and fragmented nature of manual hospital record management. Important activities such as patient registration, appointment scheduling, prescription tracking, report handling, and administrative communication are frequently maintained using paperwork or disconnected systems that do not integrate with one another.</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As a result, the hospital faces repeated data entry, slow search operations, poor coordination between stakeholders, and limited transparency in patient-facing workflows.</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5B30182C-4F0D-2E4D-18B3-9514EDDCF384}"/>
              </a:ext>
            </a:extLst>
          </p:cNvPr>
          <p:cNvSpPr txBox="1"/>
          <p:nvPr/>
        </p:nvSpPr>
        <p:spPr>
          <a:xfrm>
            <a:off x="762000" y="4953000"/>
            <a:ext cx="6223000" cy="1957587"/>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Duplicate patient records and scattered information across departments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Manual appointment handling with no instant status visibility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Limited connectivity between admin, doctor, and patient users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Weak document handling for reports, prescriptions, and uploads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No integrated cart, order tracking, or notification system</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Difficulty scaling the process as hospital activity grows</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783837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A605CD-18E8-DE05-81EF-8C419B228E16}"/>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1D. OBJECTIVES OF THE PROJECT</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AFD38B98-B3CD-A491-98E1-B291719F95A8}"/>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F9C785E-9510-4623-AE55-021B8E884842}"/>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14</a:t>
            </a:r>
          </a:p>
        </p:txBody>
      </p:sp>
      <p:sp>
        <p:nvSpPr>
          <p:cNvPr id="5" name="TextBox 4">
            <a:extLst>
              <a:ext uri="{FF2B5EF4-FFF2-40B4-BE49-F238E27FC236}">
                <a16:creationId xmlns:a16="http://schemas.microsoft.com/office/drawing/2014/main" id="{E049E706-1136-5A1A-C72E-BECD71CFDB33}"/>
              </a:ext>
            </a:extLst>
          </p:cNvPr>
          <p:cNvSpPr txBox="1"/>
          <p:nvPr/>
        </p:nvSpPr>
        <p:spPr>
          <a:xfrm>
            <a:off x="762000" y="1714500"/>
            <a:ext cx="6223000" cy="2947089"/>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replace manual hospital record management with a structured digital platform.</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create secure authentication using email, password, JWT, and OTP verification.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maintain role-based access for administrator, doctor, and patient users.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digitize patient profile management and appointment scheduling workflows.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support e-prescription handling, report uploads, and notification delivery.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provide an order processing module with cart management and Cash on Delivery.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enable real-time user communication through an integrated chat system.</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design the solution in MERN stack with clear MVC architecture and modular code.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 prepare a foundation that can be extended with telemedicine and wearable integration.</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208056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2ADA00-9B9B-9EED-F39D-A6C13353328E}"/>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1E. SCOPE OF THE PROJECT</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6154C548-C0BE-4956-1E18-49DAB431BF5E}"/>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75BD3E1-1226-A034-E916-174E2D36AFAE}"/>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15</a:t>
            </a:r>
          </a:p>
        </p:txBody>
      </p:sp>
      <p:sp>
        <p:nvSpPr>
          <p:cNvPr id="5" name="TextBox 4">
            <a:extLst>
              <a:ext uri="{FF2B5EF4-FFF2-40B4-BE49-F238E27FC236}">
                <a16:creationId xmlns:a16="http://schemas.microsoft.com/office/drawing/2014/main" id="{75412B0D-AF4A-4664-7DD7-A35047C708A5}"/>
              </a:ext>
            </a:extLst>
          </p:cNvPr>
          <p:cNvSpPr txBox="1"/>
          <p:nvPr/>
        </p:nvSpPr>
        <p:spPr>
          <a:xfrm>
            <a:off x="584200" y="1397000"/>
            <a:ext cx="6388100" cy="2214324"/>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scope of the Smart Hospital Management System includes the digital management of patient records, appointments, file uploads, medical product ordering, notifications, and user communication within a browser-based application. The project supports three user roles: administrator, doctor, and patient.</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Within the current implementation, the project covers user registration and login, OTP verification, admin-side CRUD operations, appointment handling, report upload, order processing with cart and COD, map integration, notifications, and real-time chat.</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39187576-649A-65CA-55CB-0FE3E3D8C227}"/>
              </a:ext>
            </a:extLst>
          </p:cNvPr>
          <p:cNvSpPr txBox="1"/>
          <p:nvPr/>
        </p:nvSpPr>
        <p:spPr>
          <a:xfrm>
            <a:off x="762000" y="5334000"/>
            <a:ext cx="6223000" cy="1778051"/>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In scope: authentication, CRUD, search and filter, chat, notification, upload, map, cart, and order history.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Partially in scope: e-prescription support and representative billing through order processing.</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Out of scope in the current version: live telemedicine, full online payment gateway, insurance claims, and advanced analytics.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Deployment target: small to medium hospital or clinic level digital workflow prototype.</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2022943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873894-B474-3C57-4075-1BC918481D77}"/>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CHAPTER 2: LITERATURE REVIEW</a:t>
            </a:r>
          </a:p>
        </p:txBody>
      </p:sp>
      <p:sp>
        <p:nvSpPr>
          <p:cNvPr id="3" name="Rectangle 2">
            <a:extLst>
              <a:ext uri="{FF2B5EF4-FFF2-40B4-BE49-F238E27FC236}">
                <a16:creationId xmlns:a16="http://schemas.microsoft.com/office/drawing/2014/main" id="{F5A4F8F8-0F69-AFD2-8208-F71E153CC823}"/>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1166D77-BA07-0B90-9586-D78A51BFDF01}"/>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16</a:t>
            </a:r>
          </a:p>
        </p:txBody>
      </p:sp>
      <p:sp>
        <p:nvSpPr>
          <p:cNvPr id="5" name="TextBox 4">
            <a:extLst>
              <a:ext uri="{FF2B5EF4-FFF2-40B4-BE49-F238E27FC236}">
                <a16:creationId xmlns:a16="http://schemas.microsoft.com/office/drawing/2014/main" id="{F28C7788-1911-88EE-FFBE-50A51F5CB7B0}"/>
              </a:ext>
            </a:extLst>
          </p:cNvPr>
          <p:cNvSpPr txBox="1"/>
          <p:nvPr/>
        </p:nvSpPr>
        <p:spPr>
          <a:xfrm>
            <a:off x="584200" y="1397000"/>
            <a:ext cx="6388100" cy="2214324"/>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A literature review was conducted to understand how hospital information systems have evolved, which implementation challenges are commonly reported, and what design principles support better user adoption. The review focused on hospital information systems, user acceptance, implementation complexity, and web-based information delivery in healthcare environments.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selected studies show that successful hospital information systems must balance technology, workflow design, usability, organizational support, and evaluation mechanisms. These findings directly informed the design of the proposed Smart Hospital Management System.</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988028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69D27B-4AC4-9E8D-130E-1A4798BC4465}"/>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2A. RESEARCH PAPERS / ARTICLES REVIEWED</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DCEC6895-0E02-57C0-836C-2380BBA22A2E}"/>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B428201-ABB8-C6F4-E206-3893DD0BBB68}"/>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17</a:t>
            </a:r>
          </a:p>
        </p:txBody>
      </p:sp>
      <p:graphicFrame>
        <p:nvGraphicFramePr>
          <p:cNvPr id="5" name="Table 4">
            <a:extLst>
              <a:ext uri="{FF2B5EF4-FFF2-40B4-BE49-F238E27FC236}">
                <a16:creationId xmlns:a16="http://schemas.microsoft.com/office/drawing/2014/main" id="{930CB1E9-AE5C-5627-E2CB-ABAE52522F8B}"/>
              </a:ext>
            </a:extLst>
          </p:cNvPr>
          <p:cNvGraphicFramePr>
            <a:graphicFrameLocks noGrp="1"/>
          </p:cNvGraphicFramePr>
          <p:nvPr>
            <p:extLst>
              <p:ext uri="{D42A27DB-BD31-4B8C-83A1-F6EECF244321}">
                <p14:modId xmlns:p14="http://schemas.microsoft.com/office/powerpoint/2010/main" val="1835112510"/>
              </p:ext>
            </p:extLst>
          </p:nvPr>
        </p:nvGraphicFramePr>
        <p:xfrm>
          <a:off x="584199" y="1841500"/>
          <a:ext cx="6388100" cy="6350000"/>
        </p:xfrm>
        <a:graphic>
          <a:graphicData uri="http://schemas.openxmlformats.org/drawingml/2006/table">
            <a:tbl>
              <a:tblPr firstRow="1" bandRow="1">
                <a:tableStyleId>{5C22544A-7EE6-4342-B048-85BDC9FD1C3A}</a:tableStyleId>
              </a:tblPr>
              <a:tblGrid>
                <a:gridCol w="1597025">
                  <a:extLst>
                    <a:ext uri="{9D8B030D-6E8A-4147-A177-3AD203B41FA5}">
                      <a16:colId xmlns:a16="http://schemas.microsoft.com/office/drawing/2014/main" val="3372335200"/>
                    </a:ext>
                  </a:extLst>
                </a:gridCol>
                <a:gridCol w="1597025">
                  <a:extLst>
                    <a:ext uri="{9D8B030D-6E8A-4147-A177-3AD203B41FA5}">
                      <a16:colId xmlns:a16="http://schemas.microsoft.com/office/drawing/2014/main" val="2532214607"/>
                    </a:ext>
                  </a:extLst>
                </a:gridCol>
                <a:gridCol w="1597025">
                  <a:extLst>
                    <a:ext uri="{9D8B030D-6E8A-4147-A177-3AD203B41FA5}">
                      <a16:colId xmlns:a16="http://schemas.microsoft.com/office/drawing/2014/main" val="3943938607"/>
                    </a:ext>
                  </a:extLst>
                </a:gridCol>
                <a:gridCol w="1597025">
                  <a:extLst>
                    <a:ext uri="{9D8B030D-6E8A-4147-A177-3AD203B41FA5}">
                      <a16:colId xmlns:a16="http://schemas.microsoft.com/office/drawing/2014/main" val="454125244"/>
                    </a:ext>
                  </a:extLst>
                </a:gridCol>
              </a:tblGrid>
              <a:tr h="907143">
                <a:tc>
                  <a:txBody>
                    <a:bodyPr/>
                    <a:lstStyle/>
                    <a:p>
                      <a:r>
                        <a:rPr lang="en-IN" sz="1000" b="1">
                          <a:latin typeface="Times New Roman" panose="02020603050405020304" pitchFamily="18" charset="0"/>
                        </a:rPr>
                        <a:t>Paper</a:t>
                      </a:r>
                    </a:p>
                  </a:txBody>
                  <a:tcPr>
                    <a:solidFill>
                      <a:srgbClr val="E9E9E9"/>
                    </a:solidFill>
                  </a:tcPr>
                </a:tc>
                <a:tc>
                  <a:txBody>
                    <a:bodyPr/>
                    <a:lstStyle/>
                    <a:p>
                      <a:r>
                        <a:rPr lang="en-IN" sz="1000" b="1">
                          <a:latin typeface="Times New Roman" panose="02020603050405020304" pitchFamily="18" charset="0"/>
                        </a:rPr>
                        <a:t>Year</a:t>
                      </a:r>
                    </a:p>
                  </a:txBody>
                  <a:tcPr>
                    <a:solidFill>
                      <a:srgbClr val="E9E9E9"/>
                    </a:solidFill>
                  </a:tcPr>
                </a:tc>
                <a:tc>
                  <a:txBody>
                    <a:bodyPr/>
                    <a:lstStyle/>
                    <a:p>
                      <a:r>
                        <a:rPr lang="en-IN" sz="1000" b="1">
                          <a:latin typeface="Times New Roman" panose="02020603050405020304" pitchFamily="18" charset="0"/>
                        </a:rPr>
                        <a:t>Core Focus</a:t>
                      </a:r>
                    </a:p>
                  </a:txBody>
                  <a:tcPr>
                    <a:solidFill>
                      <a:srgbClr val="E9E9E9"/>
                    </a:solidFill>
                  </a:tcPr>
                </a:tc>
                <a:tc>
                  <a:txBody>
                    <a:bodyPr/>
                    <a:lstStyle/>
                    <a:p>
                      <a:r>
                        <a:rPr lang="en-IN" sz="1000" b="1">
                          <a:latin typeface="Times New Roman" panose="02020603050405020304" pitchFamily="18" charset="0"/>
                        </a:rPr>
                        <a:t>Key Learning</a:t>
                      </a:r>
                    </a:p>
                  </a:txBody>
                  <a:tcPr>
                    <a:solidFill>
                      <a:srgbClr val="E9E9E9"/>
                    </a:solidFill>
                  </a:tcPr>
                </a:tc>
                <a:extLst>
                  <a:ext uri="{0D108BD9-81ED-4DB2-BD59-A6C34878D82A}">
                    <a16:rowId xmlns:a16="http://schemas.microsoft.com/office/drawing/2014/main" val="3240191867"/>
                  </a:ext>
                </a:extLst>
              </a:tr>
              <a:tr h="907143">
                <a:tc>
                  <a:txBody>
                    <a:bodyPr/>
                    <a:lstStyle/>
                    <a:p>
                      <a:r>
                        <a:rPr lang="en-IN" sz="900">
                          <a:latin typeface="Times New Roman" panose="02020603050405020304" pitchFamily="18" charset="0"/>
                        </a:rPr>
                        <a:t>Bakker and Mol</a:t>
                      </a:r>
                    </a:p>
                  </a:txBody>
                  <a:tcPr/>
                </a:tc>
                <a:tc>
                  <a:txBody>
                    <a:bodyPr/>
                    <a:lstStyle/>
                    <a:p>
                      <a:r>
                        <a:rPr lang="en-IN" sz="900">
                          <a:latin typeface="Times New Roman" panose="02020603050405020304" pitchFamily="18" charset="0"/>
                        </a:rPr>
                        <a:t>1983</a:t>
                      </a:r>
                    </a:p>
                  </a:txBody>
                  <a:tcPr/>
                </a:tc>
                <a:tc>
                  <a:txBody>
                    <a:bodyPr/>
                    <a:lstStyle/>
                    <a:p>
                      <a:r>
                        <a:rPr lang="en-IN" sz="900">
                          <a:latin typeface="Times New Roman" panose="02020603050405020304" pitchFamily="18" charset="0"/>
                        </a:rPr>
                        <a:t>Foundational HIS structure</a:t>
                      </a:r>
                    </a:p>
                  </a:txBody>
                  <a:tcPr/>
                </a:tc>
                <a:tc>
                  <a:txBody>
                    <a:bodyPr/>
                    <a:lstStyle/>
                    <a:p>
                      <a:r>
                        <a:rPr lang="en-US" sz="900">
                          <a:latin typeface="Times New Roman" panose="02020603050405020304" pitchFamily="18" charset="0"/>
                        </a:rPr>
                        <a:t>Centralized records improve coordination and availability</a:t>
                      </a:r>
                      <a:endParaRPr lang="en-IN" sz="900">
                        <a:latin typeface="Times New Roman" panose="02020603050405020304" pitchFamily="18" charset="0"/>
                      </a:endParaRPr>
                    </a:p>
                  </a:txBody>
                  <a:tcPr/>
                </a:tc>
                <a:extLst>
                  <a:ext uri="{0D108BD9-81ED-4DB2-BD59-A6C34878D82A}">
                    <a16:rowId xmlns:a16="http://schemas.microsoft.com/office/drawing/2014/main" val="898440274"/>
                  </a:ext>
                </a:extLst>
              </a:tr>
              <a:tr h="907143">
                <a:tc>
                  <a:txBody>
                    <a:bodyPr/>
                    <a:lstStyle/>
                    <a:p>
                      <a:r>
                        <a:rPr lang="en-IN" sz="900">
                          <a:latin typeface="Times New Roman" panose="02020603050405020304" pitchFamily="18" charset="0"/>
                        </a:rPr>
                        <a:t>Reichertz</a:t>
                      </a:r>
                    </a:p>
                  </a:txBody>
                  <a:tcPr/>
                </a:tc>
                <a:tc>
                  <a:txBody>
                    <a:bodyPr/>
                    <a:lstStyle/>
                    <a:p>
                      <a:r>
                        <a:rPr lang="en-IN" sz="900">
                          <a:latin typeface="Times New Roman" panose="02020603050405020304" pitchFamily="18" charset="0"/>
                        </a:rPr>
                        <a:t>2006</a:t>
                      </a:r>
                    </a:p>
                  </a:txBody>
                  <a:tcPr/>
                </a:tc>
                <a:tc>
                  <a:txBody>
                    <a:bodyPr/>
                    <a:lstStyle/>
                    <a:p>
                      <a:r>
                        <a:rPr lang="en-US" sz="900">
                          <a:latin typeface="Times New Roman" panose="02020603050405020304" pitchFamily="18" charset="0"/>
                        </a:rPr>
                        <a:t>Past, present, future of HIS</a:t>
                      </a:r>
                      <a:endParaRPr lang="en-IN" sz="900">
                        <a:latin typeface="Times New Roman" panose="02020603050405020304" pitchFamily="18" charset="0"/>
                      </a:endParaRPr>
                    </a:p>
                  </a:txBody>
                  <a:tcPr/>
                </a:tc>
                <a:tc>
                  <a:txBody>
                    <a:bodyPr/>
                    <a:lstStyle/>
                    <a:p>
                      <a:r>
                        <a:rPr lang="en-US" sz="900">
                          <a:latin typeface="Times New Roman" panose="02020603050405020304" pitchFamily="18" charset="0"/>
                        </a:rPr>
                        <a:t>Patient-centered electronic information is essential</a:t>
                      </a:r>
                      <a:endParaRPr lang="en-IN" sz="900">
                        <a:latin typeface="Times New Roman" panose="02020603050405020304" pitchFamily="18" charset="0"/>
                      </a:endParaRPr>
                    </a:p>
                  </a:txBody>
                  <a:tcPr/>
                </a:tc>
                <a:extLst>
                  <a:ext uri="{0D108BD9-81ED-4DB2-BD59-A6C34878D82A}">
                    <a16:rowId xmlns:a16="http://schemas.microsoft.com/office/drawing/2014/main" val="3144936288"/>
                  </a:ext>
                </a:extLst>
              </a:tr>
              <a:tr h="907143">
                <a:tc>
                  <a:txBody>
                    <a:bodyPr/>
                    <a:lstStyle/>
                    <a:p>
                      <a:r>
                        <a:rPr lang="en-IN" sz="900">
                          <a:latin typeface="Times New Roman" panose="02020603050405020304" pitchFamily="18" charset="0"/>
                        </a:rPr>
                        <a:t>Bain and Standing</a:t>
                      </a:r>
                    </a:p>
                  </a:txBody>
                  <a:tcPr/>
                </a:tc>
                <a:tc>
                  <a:txBody>
                    <a:bodyPr/>
                    <a:lstStyle/>
                    <a:p>
                      <a:r>
                        <a:rPr lang="en-IN" sz="900">
                          <a:latin typeface="Times New Roman" panose="02020603050405020304" pitchFamily="18" charset="0"/>
                        </a:rPr>
                        <a:t>2009</a:t>
                      </a:r>
                    </a:p>
                  </a:txBody>
                  <a:tcPr/>
                </a:tc>
                <a:tc>
                  <a:txBody>
                    <a:bodyPr/>
                    <a:lstStyle/>
                    <a:p>
                      <a:r>
                        <a:rPr lang="en-IN" sz="900">
                          <a:latin typeface="Times New Roman" panose="02020603050405020304" pitchFamily="18" charset="0"/>
                        </a:rPr>
                        <a:t>Hospital management information ecosystem</a:t>
                      </a:r>
                    </a:p>
                  </a:txBody>
                  <a:tcPr/>
                </a:tc>
                <a:tc>
                  <a:txBody>
                    <a:bodyPr/>
                    <a:lstStyle/>
                    <a:p>
                      <a:r>
                        <a:rPr lang="en-US" sz="900">
                          <a:latin typeface="Times New Roman" panose="02020603050405020304" pitchFamily="18" charset="0"/>
                        </a:rPr>
                        <a:t>Information needs extend across operations and decisions</a:t>
                      </a:r>
                      <a:endParaRPr lang="en-IN" sz="900">
                        <a:latin typeface="Times New Roman" panose="02020603050405020304" pitchFamily="18" charset="0"/>
                      </a:endParaRPr>
                    </a:p>
                  </a:txBody>
                  <a:tcPr/>
                </a:tc>
                <a:extLst>
                  <a:ext uri="{0D108BD9-81ED-4DB2-BD59-A6C34878D82A}">
                    <a16:rowId xmlns:a16="http://schemas.microsoft.com/office/drawing/2014/main" val="3961127652"/>
                  </a:ext>
                </a:extLst>
              </a:tr>
              <a:tr h="907143">
                <a:tc>
                  <a:txBody>
                    <a:bodyPr/>
                    <a:lstStyle/>
                    <a:p>
                      <a:r>
                        <a:rPr lang="en-IN" sz="900">
                          <a:latin typeface="Times New Roman" panose="02020603050405020304" pitchFamily="18" charset="0"/>
                        </a:rPr>
                        <a:t>Sligo et al.</a:t>
                      </a:r>
                    </a:p>
                  </a:txBody>
                  <a:tcPr/>
                </a:tc>
                <a:tc>
                  <a:txBody>
                    <a:bodyPr/>
                    <a:lstStyle/>
                    <a:p>
                      <a:r>
                        <a:rPr lang="en-IN" sz="900">
                          <a:latin typeface="Times New Roman" panose="02020603050405020304" pitchFamily="18" charset="0"/>
                        </a:rPr>
                        <a:t>2017</a:t>
                      </a:r>
                    </a:p>
                  </a:txBody>
                  <a:tcPr/>
                </a:tc>
                <a:tc>
                  <a:txBody>
                    <a:bodyPr/>
                    <a:lstStyle/>
                    <a:p>
                      <a:r>
                        <a:rPr lang="en-US" sz="900">
                          <a:latin typeface="Times New Roman" panose="02020603050405020304" pitchFamily="18" charset="0"/>
                        </a:rPr>
                        <a:t>Planning and evaluation of HIS</a:t>
                      </a:r>
                      <a:endParaRPr lang="en-IN" sz="900">
                        <a:latin typeface="Times New Roman" panose="02020603050405020304" pitchFamily="18" charset="0"/>
                      </a:endParaRPr>
                    </a:p>
                  </a:txBody>
                  <a:tcPr/>
                </a:tc>
                <a:tc>
                  <a:txBody>
                    <a:bodyPr/>
                    <a:lstStyle/>
                    <a:p>
                      <a:r>
                        <a:rPr lang="en-US" sz="900">
                          <a:latin typeface="Times New Roman" panose="02020603050405020304" pitchFamily="18" charset="0"/>
                        </a:rPr>
                        <a:t>Implementation success depends on organizational and human factors</a:t>
                      </a:r>
                      <a:endParaRPr lang="en-IN" sz="900">
                        <a:latin typeface="Times New Roman" panose="02020603050405020304" pitchFamily="18" charset="0"/>
                      </a:endParaRPr>
                    </a:p>
                  </a:txBody>
                  <a:tcPr/>
                </a:tc>
                <a:extLst>
                  <a:ext uri="{0D108BD9-81ED-4DB2-BD59-A6C34878D82A}">
                    <a16:rowId xmlns:a16="http://schemas.microsoft.com/office/drawing/2014/main" val="765620809"/>
                  </a:ext>
                </a:extLst>
              </a:tr>
              <a:tr h="907143">
                <a:tc>
                  <a:txBody>
                    <a:bodyPr/>
                    <a:lstStyle/>
                    <a:p>
                      <a:r>
                        <a:rPr lang="en-IN" sz="900">
                          <a:latin typeface="Times New Roman" panose="02020603050405020304" pitchFamily="18" charset="0"/>
                        </a:rPr>
                        <a:t>Handayani et al.</a:t>
                      </a:r>
                    </a:p>
                  </a:txBody>
                  <a:tcPr/>
                </a:tc>
                <a:tc>
                  <a:txBody>
                    <a:bodyPr/>
                    <a:lstStyle/>
                    <a:p>
                      <a:r>
                        <a:rPr lang="en-IN" sz="900">
                          <a:latin typeface="Times New Roman" panose="02020603050405020304" pitchFamily="18" charset="0"/>
                        </a:rPr>
                        <a:t>2018</a:t>
                      </a:r>
                    </a:p>
                  </a:txBody>
                  <a:tcPr/>
                </a:tc>
                <a:tc>
                  <a:txBody>
                    <a:bodyPr/>
                    <a:lstStyle/>
                    <a:p>
                      <a:r>
                        <a:rPr lang="en-IN" sz="900">
                          <a:latin typeface="Times New Roman" panose="02020603050405020304" pitchFamily="18" charset="0"/>
                        </a:rPr>
                        <a:t>User acceptance review</a:t>
                      </a:r>
                    </a:p>
                  </a:txBody>
                  <a:tcPr/>
                </a:tc>
                <a:tc>
                  <a:txBody>
                    <a:bodyPr/>
                    <a:lstStyle/>
                    <a:p>
                      <a:r>
                        <a:rPr lang="en-US" sz="900">
                          <a:latin typeface="Times New Roman" panose="02020603050405020304" pitchFamily="18" charset="0"/>
                        </a:rPr>
                        <a:t>Usability, support, and trust shape adoption</a:t>
                      </a:r>
                      <a:endParaRPr lang="en-IN" sz="900">
                        <a:latin typeface="Times New Roman" panose="02020603050405020304" pitchFamily="18" charset="0"/>
                      </a:endParaRPr>
                    </a:p>
                  </a:txBody>
                  <a:tcPr/>
                </a:tc>
                <a:extLst>
                  <a:ext uri="{0D108BD9-81ED-4DB2-BD59-A6C34878D82A}">
                    <a16:rowId xmlns:a16="http://schemas.microsoft.com/office/drawing/2014/main" val="3529278516"/>
                  </a:ext>
                </a:extLst>
              </a:tr>
              <a:tr h="907143">
                <a:tc>
                  <a:txBody>
                    <a:bodyPr/>
                    <a:lstStyle/>
                    <a:p>
                      <a:r>
                        <a:rPr lang="en-IN" sz="900">
                          <a:latin typeface="Times New Roman" panose="02020603050405020304" pitchFamily="18" charset="0"/>
                        </a:rPr>
                        <a:t>Khalifa and Alswailem</a:t>
                      </a:r>
                    </a:p>
                  </a:txBody>
                  <a:tcPr/>
                </a:tc>
                <a:tc>
                  <a:txBody>
                    <a:bodyPr/>
                    <a:lstStyle/>
                    <a:p>
                      <a:r>
                        <a:rPr lang="en-IN" sz="900">
                          <a:latin typeface="Times New Roman" panose="02020603050405020304" pitchFamily="18" charset="0"/>
                        </a:rPr>
                        <a:t>2015</a:t>
                      </a:r>
                    </a:p>
                  </a:txBody>
                  <a:tcPr/>
                </a:tc>
                <a:tc>
                  <a:txBody>
                    <a:bodyPr/>
                    <a:lstStyle/>
                    <a:p>
                      <a:r>
                        <a:rPr lang="en-US" sz="900">
                          <a:latin typeface="Times New Roman" panose="02020603050405020304" pitchFamily="18" charset="0"/>
                        </a:rPr>
                        <a:t>Acceptance and satisfaction case study</a:t>
                      </a:r>
                      <a:endParaRPr lang="en-IN" sz="900">
                        <a:latin typeface="Times New Roman" panose="02020603050405020304" pitchFamily="18" charset="0"/>
                      </a:endParaRPr>
                    </a:p>
                  </a:txBody>
                  <a:tcPr/>
                </a:tc>
                <a:tc>
                  <a:txBody>
                    <a:bodyPr/>
                    <a:lstStyle/>
                    <a:p>
                      <a:r>
                        <a:rPr lang="en-US" sz="900">
                          <a:latin typeface="Times New Roman" panose="02020603050405020304" pitchFamily="18" charset="0"/>
                        </a:rPr>
                        <a:t>Performance and training strongly affect satisfaction</a:t>
                      </a:r>
                      <a:endParaRPr lang="en-IN" sz="900">
                        <a:latin typeface="Times New Roman" panose="02020603050405020304" pitchFamily="18" charset="0"/>
                      </a:endParaRPr>
                    </a:p>
                  </a:txBody>
                  <a:tcPr/>
                </a:tc>
                <a:extLst>
                  <a:ext uri="{0D108BD9-81ED-4DB2-BD59-A6C34878D82A}">
                    <a16:rowId xmlns:a16="http://schemas.microsoft.com/office/drawing/2014/main" val="2369365668"/>
                  </a:ext>
                </a:extLst>
              </a:tr>
            </a:tbl>
          </a:graphicData>
        </a:graphic>
      </p:graphicFrame>
      <p:sp>
        <p:nvSpPr>
          <p:cNvPr id="6" name="TextBox 5">
            <a:extLst>
              <a:ext uri="{FF2B5EF4-FFF2-40B4-BE49-F238E27FC236}">
                <a16:creationId xmlns:a16="http://schemas.microsoft.com/office/drawing/2014/main" id="{A7B70759-B084-3439-431B-53323591773D}"/>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1. Review of major research papers that informed the proposed system design.</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4180459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133FB-8CE3-AC1C-84DA-4B24FEEA4BBA}"/>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2B. SUMMARY OF EXISTING WORK</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D62EB60B-23B7-4F46-E353-7516F38AE50F}"/>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5A0BDAB-C355-0965-78CB-FD7D2A8614AF}"/>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18</a:t>
            </a:r>
          </a:p>
        </p:txBody>
      </p:sp>
      <p:sp>
        <p:nvSpPr>
          <p:cNvPr id="5" name="TextBox 4">
            <a:extLst>
              <a:ext uri="{FF2B5EF4-FFF2-40B4-BE49-F238E27FC236}">
                <a16:creationId xmlns:a16="http://schemas.microsoft.com/office/drawing/2014/main" id="{E48239A7-6BBE-4915-4C55-FDE73966A6E5}"/>
              </a:ext>
            </a:extLst>
          </p:cNvPr>
          <p:cNvSpPr txBox="1"/>
          <p:nvPr/>
        </p:nvSpPr>
        <p:spPr>
          <a:xfrm>
            <a:off x="584200" y="1397000"/>
            <a:ext cx="6388100" cy="3116109"/>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reviewed literature indicates that existing hospital information systems generally focus on registration, billing, electronic medical records, or departmental information exchange. Large enterprise HIS solutions provide comprehensive integration but are expensive, technically demanding, and difficult to customize for small institutions.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At the other end of the spectrum, smaller clinics often depend on isolated solutions such as spreadsheet records, appointment books, or standalone billing tools. These systems may handle one task effectively but do not create a single source of truth for hospital operations.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literature also shows that user adoption drops when systems are slow, overly complex, or unsupported by staff training.</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D9CCBE34-A773-98F1-75A6-FD6C49777446}"/>
              </a:ext>
            </a:extLst>
          </p:cNvPr>
          <p:cNvSpPr txBox="1"/>
          <p:nvPr/>
        </p:nvSpPr>
        <p:spPr>
          <a:xfrm>
            <a:off x="762000" y="7112000"/>
            <a:ext cx="6223000" cy="1297919"/>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Most existing solutions prioritize one department rather than the full patient journey.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Interoperability and integrated communication remain major challenges in practice.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Training, performance, and role-specific usability are repeatedly identified as adoption factors.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Smaller institutions need systems that are simpler, modular, and more affordable to operate.</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11841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B193F9-CB0B-0C7F-AD6B-758179CFBC21}"/>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2C. COMPARATIVE ANALYSIS</a:t>
            </a:r>
          </a:p>
        </p:txBody>
      </p:sp>
      <p:sp>
        <p:nvSpPr>
          <p:cNvPr id="3" name="Rectangle 2">
            <a:extLst>
              <a:ext uri="{FF2B5EF4-FFF2-40B4-BE49-F238E27FC236}">
                <a16:creationId xmlns:a16="http://schemas.microsoft.com/office/drawing/2014/main" id="{EB7850BD-C296-B091-F35E-E3EFF5C079A6}"/>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F98F6B0-AE89-6C64-0A42-8FA6CDED038A}"/>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19</a:t>
            </a:r>
          </a:p>
        </p:txBody>
      </p:sp>
      <p:graphicFrame>
        <p:nvGraphicFramePr>
          <p:cNvPr id="5" name="Table 4">
            <a:extLst>
              <a:ext uri="{FF2B5EF4-FFF2-40B4-BE49-F238E27FC236}">
                <a16:creationId xmlns:a16="http://schemas.microsoft.com/office/drawing/2014/main" id="{84035E9D-48B5-1193-0189-3A57C4CFE224}"/>
              </a:ext>
            </a:extLst>
          </p:cNvPr>
          <p:cNvGraphicFramePr>
            <a:graphicFrameLocks noGrp="1"/>
          </p:cNvGraphicFramePr>
          <p:nvPr>
            <p:extLst>
              <p:ext uri="{D42A27DB-BD31-4B8C-83A1-F6EECF244321}">
                <p14:modId xmlns:p14="http://schemas.microsoft.com/office/powerpoint/2010/main" val="3496812102"/>
              </p:ext>
            </p:extLst>
          </p:nvPr>
        </p:nvGraphicFramePr>
        <p:xfrm>
          <a:off x="584199" y="1841500"/>
          <a:ext cx="6388100" cy="5334000"/>
        </p:xfrm>
        <a:graphic>
          <a:graphicData uri="http://schemas.openxmlformats.org/drawingml/2006/table">
            <a:tbl>
              <a:tblPr firstRow="1" bandRow="1">
                <a:tableStyleId>{5C22544A-7EE6-4342-B048-85BDC9FD1C3A}</a:tableStyleId>
              </a:tblPr>
              <a:tblGrid>
                <a:gridCol w="1597025">
                  <a:extLst>
                    <a:ext uri="{9D8B030D-6E8A-4147-A177-3AD203B41FA5}">
                      <a16:colId xmlns:a16="http://schemas.microsoft.com/office/drawing/2014/main" val="1365563998"/>
                    </a:ext>
                  </a:extLst>
                </a:gridCol>
                <a:gridCol w="1597025">
                  <a:extLst>
                    <a:ext uri="{9D8B030D-6E8A-4147-A177-3AD203B41FA5}">
                      <a16:colId xmlns:a16="http://schemas.microsoft.com/office/drawing/2014/main" val="2459588654"/>
                    </a:ext>
                  </a:extLst>
                </a:gridCol>
                <a:gridCol w="1597025">
                  <a:extLst>
                    <a:ext uri="{9D8B030D-6E8A-4147-A177-3AD203B41FA5}">
                      <a16:colId xmlns:a16="http://schemas.microsoft.com/office/drawing/2014/main" val="3653729469"/>
                    </a:ext>
                  </a:extLst>
                </a:gridCol>
                <a:gridCol w="1597025">
                  <a:extLst>
                    <a:ext uri="{9D8B030D-6E8A-4147-A177-3AD203B41FA5}">
                      <a16:colId xmlns:a16="http://schemas.microsoft.com/office/drawing/2014/main" val="3031332385"/>
                    </a:ext>
                  </a:extLst>
                </a:gridCol>
              </a:tblGrid>
              <a:tr h="1066800">
                <a:tc>
                  <a:txBody>
                    <a:bodyPr/>
                    <a:lstStyle/>
                    <a:p>
                      <a:r>
                        <a:rPr lang="en-IN" sz="1000" b="1">
                          <a:latin typeface="Times New Roman" panose="02020603050405020304" pitchFamily="18" charset="0"/>
                        </a:rPr>
                        <a:t>Approach</a:t>
                      </a:r>
                    </a:p>
                  </a:txBody>
                  <a:tcPr>
                    <a:solidFill>
                      <a:srgbClr val="E9E9E9"/>
                    </a:solidFill>
                  </a:tcPr>
                </a:tc>
                <a:tc>
                  <a:txBody>
                    <a:bodyPr/>
                    <a:lstStyle/>
                    <a:p>
                      <a:r>
                        <a:rPr lang="en-IN" sz="1000" b="1">
                          <a:latin typeface="Times New Roman" panose="02020603050405020304" pitchFamily="18" charset="0"/>
                        </a:rPr>
                        <a:t>Typical Features</a:t>
                      </a:r>
                    </a:p>
                  </a:txBody>
                  <a:tcPr>
                    <a:solidFill>
                      <a:srgbClr val="E9E9E9"/>
                    </a:solidFill>
                  </a:tcPr>
                </a:tc>
                <a:tc>
                  <a:txBody>
                    <a:bodyPr/>
                    <a:lstStyle/>
                    <a:p>
                      <a:r>
                        <a:rPr lang="en-IN" sz="1000" b="1">
                          <a:latin typeface="Times New Roman" panose="02020603050405020304" pitchFamily="18" charset="0"/>
                        </a:rPr>
                        <a:t>Advantages</a:t>
                      </a:r>
                    </a:p>
                  </a:txBody>
                  <a:tcPr>
                    <a:solidFill>
                      <a:srgbClr val="E9E9E9"/>
                    </a:solidFill>
                  </a:tcPr>
                </a:tc>
                <a:tc>
                  <a:txBody>
                    <a:bodyPr/>
                    <a:lstStyle/>
                    <a:p>
                      <a:r>
                        <a:rPr lang="en-IN" sz="1000" b="1">
                          <a:latin typeface="Times New Roman" panose="02020603050405020304" pitchFamily="18" charset="0"/>
                        </a:rPr>
                        <a:t>Limitations</a:t>
                      </a:r>
                    </a:p>
                  </a:txBody>
                  <a:tcPr>
                    <a:solidFill>
                      <a:srgbClr val="E9E9E9"/>
                    </a:solidFill>
                  </a:tcPr>
                </a:tc>
                <a:extLst>
                  <a:ext uri="{0D108BD9-81ED-4DB2-BD59-A6C34878D82A}">
                    <a16:rowId xmlns:a16="http://schemas.microsoft.com/office/drawing/2014/main" val="1383379672"/>
                  </a:ext>
                </a:extLst>
              </a:tr>
              <a:tr h="1066800">
                <a:tc>
                  <a:txBody>
                    <a:bodyPr/>
                    <a:lstStyle/>
                    <a:p>
                      <a:r>
                        <a:rPr lang="en-IN" sz="900">
                          <a:latin typeface="Times New Roman" panose="02020603050405020304" pitchFamily="18" charset="0"/>
                        </a:rPr>
                        <a:t>Manual System</a:t>
                      </a:r>
                    </a:p>
                  </a:txBody>
                  <a:tcPr/>
                </a:tc>
                <a:tc>
                  <a:txBody>
                    <a:bodyPr/>
                    <a:lstStyle/>
                    <a:p>
                      <a:r>
                        <a:rPr lang="en-IN" sz="900">
                          <a:latin typeface="Times New Roman" panose="02020603050405020304" pitchFamily="18" charset="0"/>
                        </a:rPr>
                        <a:t>Paper files, phone scheduling</a:t>
                      </a:r>
                    </a:p>
                  </a:txBody>
                  <a:tcPr/>
                </a:tc>
                <a:tc>
                  <a:txBody>
                    <a:bodyPr/>
                    <a:lstStyle/>
                    <a:p>
                      <a:r>
                        <a:rPr lang="en-IN" sz="900">
                          <a:latin typeface="Times New Roman" panose="02020603050405020304" pitchFamily="18" charset="0"/>
                        </a:rPr>
                        <a:t>Low initial cost</a:t>
                      </a:r>
                    </a:p>
                  </a:txBody>
                  <a:tcPr/>
                </a:tc>
                <a:tc>
                  <a:txBody>
                    <a:bodyPr/>
                    <a:lstStyle/>
                    <a:p>
                      <a:r>
                        <a:rPr lang="en-IN" sz="900">
                          <a:latin typeface="Times New Roman" panose="02020603050405020304" pitchFamily="18" charset="0"/>
                        </a:rPr>
                        <a:t>Slow retrieval, error-prone, no analytics</a:t>
                      </a:r>
                    </a:p>
                  </a:txBody>
                  <a:tcPr/>
                </a:tc>
                <a:extLst>
                  <a:ext uri="{0D108BD9-81ED-4DB2-BD59-A6C34878D82A}">
                    <a16:rowId xmlns:a16="http://schemas.microsoft.com/office/drawing/2014/main" val="3694093990"/>
                  </a:ext>
                </a:extLst>
              </a:tr>
              <a:tr h="1066800">
                <a:tc>
                  <a:txBody>
                    <a:bodyPr/>
                    <a:lstStyle/>
                    <a:p>
                      <a:r>
                        <a:rPr lang="en-IN" sz="900">
                          <a:latin typeface="Times New Roman" panose="02020603050405020304" pitchFamily="18" charset="0"/>
                        </a:rPr>
                        <a:t>Isolated Digital Tools</a:t>
                      </a:r>
                    </a:p>
                  </a:txBody>
                  <a:tcPr/>
                </a:tc>
                <a:tc>
                  <a:txBody>
                    <a:bodyPr/>
                    <a:lstStyle/>
                    <a:p>
                      <a:r>
                        <a:rPr lang="en-IN" sz="900">
                          <a:latin typeface="Times New Roman" panose="02020603050405020304" pitchFamily="18" charset="0"/>
                        </a:rPr>
                        <a:t>Spreadsheet or desktop modules</a:t>
                      </a:r>
                    </a:p>
                  </a:txBody>
                  <a:tcPr/>
                </a:tc>
                <a:tc>
                  <a:txBody>
                    <a:bodyPr/>
                    <a:lstStyle/>
                    <a:p>
                      <a:r>
                        <a:rPr lang="en-IN" sz="900">
                          <a:latin typeface="Times New Roman" panose="02020603050405020304" pitchFamily="18" charset="0"/>
                        </a:rPr>
                        <a:t>Simple to begin with</a:t>
                      </a:r>
                    </a:p>
                  </a:txBody>
                  <a:tcPr/>
                </a:tc>
                <a:tc>
                  <a:txBody>
                    <a:bodyPr/>
                    <a:lstStyle/>
                    <a:p>
                      <a:r>
                        <a:rPr lang="en-IN" sz="900">
                          <a:latin typeface="Times New Roman" panose="02020603050405020304" pitchFamily="18" charset="0"/>
                        </a:rPr>
                        <a:t>No central integration, repeated entries</a:t>
                      </a:r>
                    </a:p>
                  </a:txBody>
                  <a:tcPr/>
                </a:tc>
                <a:extLst>
                  <a:ext uri="{0D108BD9-81ED-4DB2-BD59-A6C34878D82A}">
                    <a16:rowId xmlns:a16="http://schemas.microsoft.com/office/drawing/2014/main" val="3124140314"/>
                  </a:ext>
                </a:extLst>
              </a:tr>
              <a:tr h="1066800">
                <a:tc>
                  <a:txBody>
                    <a:bodyPr/>
                    <a:lstStyle/>
                    <a:p>
                      <a:r>
                        <a:rPr lang="en-IN" sz="900">
                          <a:latin typeface="Times New Roman" panose="02020603050405020304" pitchFamily="18" charset="0"/>
                        </a:rPr>
                        <a:t>Enterprise HIS</a:t>
                      </a:r>
                    </a:p>
                  </a:txBody>
                  <a:tcPr/>
                </a:tc>
                <a:tc>
                  <a:txBody>
                    <a:bodyPr/>
                    <a:lstStyle/>
                    <a:p>
                      <a:r>
                        <a:rPr lang="en-IN" sz="900">
                          <a:latin typeface="Times New Roman" panose="02020603050405020304" pitchFamily="18" charset="0"/>
                        </a:rPr>
                        <a:t>Clinical, admin, billing integration</a:t>
                      </a:r>
                    </a:p>
                  </a:txBody>
                  <a:tcPr/>
                </a:tc>
                <a:tc>
                  <a:txBody>
                    <a:bodyPr/>
                    <a:lstStyle/>
                    <a:p>
                      <a:r>
                        <a:rPr lang="en-IN" sz="900">
                          <a:latin typeface="Times New Roman" panose="02020603050405020304" pitchFamily="18" charset="0"/>
                        </a:rPr>
                        <a:t>Comprehensive and powerful</a:t>
                      </a:r>
                    </a:p>
                  </a:txBody>
                  <a:tcPr/>
                </a:tc>
                <a:tc>
                  <a:txBody>
                    <a:bodyPr/>
                    <a:lstStyle/>
                    <a:p>
                      <a:r>
                        <a:rPr lang="en-US" sz="900">
                          <a:latin typeface="Times New Roman" panose="02020603050405020304" pitchFamily="18" charset="0"/>
                        </a:rPr>
                        <a:t>High cost, heavy training, complex deployment</a:t>
                      </a:r>
                      <a:endParaRPr lang="en-IN" sz="900">
                        <a:latin typeface="Times New Roman" panose="02020603050405020304" pitchFamily="18" charset="0"/>
                      </a:endParaRPr>
                    </a:p>
                  </a:txBody>
                  <a:tcPr/>
                </a:tc>
                <a:extLst>
                  <a:ext uri="{0D108BD9-81ED-4DB2-BD59-A6C34878D82A}">
                    <a16:rowId xmlns:a16="http://schemas.microsoft.com/office/drawing/2014/main" val="800983396"/>
                  </a:ext>
                </a:extLst>
              </a:tr>
              <a:tr h="1066800">
                <a:tc>
                  <a:txBody>
                    <a:bodyPr/>
                    <a:lstStyle/>
                    <a:p>
                      <a:r>
                        <a:rPr lang="en-IN" sz="900">
                          <a:latin typeface="Times New Roman" panose="02020603050405020304" pitchFamily="18" charset="0"/>
                        </a:rPr>
                        <a:t>Proposed System</a:t>
                      </a:r>
                    </a:p>
                  </a:txBody>
                  <a:tcPr/>
                </a:tc>
                <a:tc>
                  <a:txBody>
                    <a:bodyPr/>
                    <a:lstStyle/>
                    <a:p>
                      <a:r>
                        <a:rPr lang="en-US" sz="900">
                          <a:latin typeface="Times New Roman" panose="02020603050405020304" pitchFamily="18" charset="0"/>
                        </a:rPr>
                        <a:t>MERN web app with chat, upload, cart, map, OTP</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Centralized, modular, scalable, web-based</a:t>
                      </a:r>
                    </a:p>
                  </a:txBody>
                  <a:tcPr/>
                </a:tc>
                <a:tc>
                  <a:txBody>
                    <a:bodyPr/>
                    <a:lstStyle/>
                    <a:p>
                      <a:r>
                        <a:rPr lang="en-IN" sz="900">
                          <a:latin typeface="Times New Roman" panose="02020603050405020304" pitchFamily="18" charset="0"/>
                        </a:rPr>
                        <a:t>Prototype scope, future integrations pending</a:t>
                      </a:r>
                    </a:p>
                  </a:txBody>
                  <a:tcPr/>
                </a:tc>
                <a:extLst>
                  <a:ext uri="{0D108BD9-81ED-4DB2-BD59-A6C34878D82A}">
                    <a16:rowId xmlns:a16="http://schemas.microsoft.com/office/drawing/2014/main" val="2711324700"/>
                  </a:ext>
                </a:extLst>
              </a:tr>
            </a:tbl>
          </a:graphicData>
        </a:graphic>
      </p:graphicFrame>
      <p:sp>
        <p:nvSpPr>
          <p:cNvPr id="6" name="TextBox 5">
            <a:extLst>
              <a:ext uri="{FF2B5EF4-FFF2-40B4-BE49-F238E27FC236}">
                <a16:creationId xmlns:a16="http://schemas.microsoft.com/office/drawing/2014/main" id="{696C4ECD-CA10-3524-B298-C1C4A80203E1}"/>
              </a:ext>
            </a:extLst>
          </p:cNvPr>
          <p:cNvSpPr txBox="1"/>
          <p:nvPr/>
        </p:nvSpPr>
        <p:spPr>
          <a:xfrm>
            <a:off x="584200" y="7620000"/>
            <a:ext cx="6388100" cy="525337"/>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 comparison highlights a clear need for a middle-path solution: one that is more integrated than manual or isolated tools, yet simpler and more accessible than a large enterprise hospital information platform.</a:t>
            </a:r>
            <a:endParaRPr lang="en-IN" sz="1100">
              <a:solidFill>
                <a:srgbClr val="30241E"/>
              </a:solidFill>
              <a:latin typeface="Times New Roman" panose="02020603050405020304" pitchFamily="18" charset="0"/>
            </a:endParaRPr>
          </a:p>
        </p:txBody>
      </p:sp>
      <p:sp>
        <p:nvSpPr>
          <p:cNvPr id="7" name="TextBox 6">
            <a:extLst>
              <a:ext uri="{FF2B5EF4-FFF2-40B4-BE49-F238E27FC236}">
                <a16:creationId xmlns:a16="http://schemas.microsoft.com/office/drawing/2014/main" id="{E91F2AE9-B696-6180-A0B5-0B5A3F5D2E9C}"/>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2. Comparative analysis of existing approaches versus the proposed web-based system.</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106802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1FCAAD-FEFA-C56B-A830-BE70AACF1027}"/>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2D. IDENTIFICATION OF RESEARCH GAP</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07A030AC-05C8-D6B5-D0D4-827187580262}"/>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3470CF0-2794-1325-BC73-23E425F50FAC}"/>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20</a:t>
            </a:r>
          </a:p>
        </p:txBody>
      </p:sp>
      <p:sp>
        <p:nvSpPr>
          <p:cNvPr id="5" name="TextBox 4">
            <a:extLst>
              <a:ext uri="{FF2B5EF4-FFF2-40B4-BE49-F238E27FC236}">
                <a16:creationId xmlns:a16="http://schemas.microsoft.com/office/drawing/2014/main" id="{EBFB7C13-34B6-04B9-2317-66E27B1E86A9}"/>
              </a:ext>
            </a:extLst>
          </p:cNvPr>
          <p:cNvSpPr txBox="1"/>
          <p:nvPr/>
        </p:nvSpPr>
        <p:spPr>
          <a:xfrm>
            <a:off x="762000" y="1841500"/>
            <a:ext cx="6223000" cy="3068148"/>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Existing studies emphasize implementation and adoption challenges, but many practical prototypes still leave out communication, cart-based ordering, and unified user engagement.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Several hospital information systems are either too narrow in function or too heavy for academic-level or small-institution deployment.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There is limited emphasis on simple full stack architectures that combine secure authentication, real-time communication, uploads, and operational workflows in one accessible system.</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Many reviewed platforms do not focus on a clear educational implementation using MERN and MVC while still demonstrating realistic hospital modules.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present project addresses this gap by combining multiple hospital-facing processes into one structured web system with manageable code complexity.</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41AEA596-D7CE-1FB4-4DB9-470EE9225F91}"/>
              </a:ext>
            </a:extLst>
          </p:cNvPr>
          <p:cNvSpPr txBox="1"/>
          <p:nvPr/>
        </p:nvSpPr>
        <p:spPr>
          <a:xfrm>
            <a:off x="584200" y="7747000"/>
            <a:ext cx="6388100" cy="525337"/>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Therefore, the proposed project is positioned as a practical, modular, and educationally strong implementation that responds to both operational needs and software engineering clarity.</a:t>
            </a:r>
            <a:endParaRPr lang="en-IN" sz="11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688925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3E76A2-4ED9-8721-4B0D-3BEA756CE90E}"/>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2E. LITERATURE REVIEW SYNTHESIS</a:t>
            </a:r>
          </a:p>
        </p:txBody>
      </p:sp>
      <p:sp>
        <p:nvSpPr>
          <p:cNvPr id="3" name="Rectangle 2">
            <a:extLst>
              <a:ext uri="{FF2B5EF4-FFF2-40B4-BE49-F238E27FC236}">
                <a16:creationId xmlns:a16="http://schemas.microsoft.com/office/drawing/2014/main" id="{10656A68-6668-01E0-757F-6312F43BD590}"/>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1873D6E-BC10-0556-5047-E5B83725AF8A}"/>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21</a:t>
            </a:r>
          </a:p>
        </p:txBody>
      </p:sp>
      <p:sp>
        <p:nvSpPr>
          <p:cNvPr id="5" name="TextBox 4">
            <a:extLst>
              <a:ext uri="{FF2B5EF4-FFF2-40B4-BE49-F238E27FC236}">
                <a16:creationId xmlns:a16="http://schemas.microsoft.com/office/drawing/2014/main" id="{79FABAD0-B157-DB39-1A1E-C079C6A79AAE}"/>
              </a:ext>
            </a:extLst>
          </p:cNvPr>
          <p:cNvSpPr txBox="1"/>
          <p:nvPr/>
        </p:nvSpPr>
        <p:spPr>
          <a:xfrm>
            <a:off x="584200" y="1397000"/>
            <a:ext cx="6388100" cy="2712922"/>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literature review collectively shows that successful hospital information systems must be designed around more than data storage. They must also consider staff usability, communication flow, timely access to records, secure authentication, and organizational fit. Systems that ignore these dimensions may be technically functional but operationally weak.</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These findings influenced the proposed system in several ways. First, the application uses role-based access so that each stakeholder sees only relevant features. Second, it includes chat and notification capabilities to reduce coordination delays. Third, the solution uses a web-based architecture so that deployment and access remain simple. Finally, it keeps the code modular through MVC so that further integrations can be added without disrupting the foundation.</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798971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E94832-16A2-8B75-B06A-9E39276ED9F5}"/>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CHAPTER 3: SYSTEM ANALYSIS</a:t>
            </a:r>
          </a:p>
        </p:txBody>
      </p:sp>
      <p:sp>
        <p:nvSpPr>
          <p:cNvPr id="3" name="Rectangle 2">
            <a:extLst>
              <a:ext uri="{FF2B5EF4-FFF2-40B4-BE49-F238E27FC236}">
                <a16:creationId xmlns:a16="http://schemas.microsoft.com/office/drawing/2014/main" id="{F3D84B37-7D7C-D5BA-4EC3-2171BED25537}"/>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97B1FC4-05D7-A456-7D99-E250275B72E8}"/>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22</a:t>
            </a:r>
          </a:p>
        </p:txBody>
      </p:sp>
      <p:sp>
        <p:nvSpPr>
          <p:cNvPr id="5" name="TextBox 4">
            <a:extLst>
              <a:ext uri="{FF2B5EF4-FFF2-40B4-BE49-F238E27FC236}">
                <a16:creationId xmlns:a16="http://schemas.microsoft.com/office/drawing/2014/main" id="{4F6F8672-1F85-7ED7-33B3-E40D24A44894}"/>
              </a:ext>
            </a:extLst>
          </p:cNvPr>
          <p:cNvSpPr txBox="1"/>
          <p:nvPr/>
        </p:nvSpPr>
        <p:spPr>
          <a:xfrm>
            <a:off x="584200" y="1397000"/>
            <a:ext cx="6388100" cy="2214324"/>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System analysis examines the operational problem in its current environment, identifies weaknesses in the existing workflow, and justifies the proposed solution. In this project, analysis was carried out from the perspective of hospital administrators, doctors, and patients, with emphasis on how information moves across registration, appointments, records, communication, and ordering.</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This chapter presents the existing system, its limitations, the proposed solution, feasibility analysis, input-output analysis, software requirement specifications, and the development paradigm applied to the project.</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4195809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18CC36-D08D-ACE6-2166-57B64F82BCBA}"/>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3A. EXISTING SYSTEM</a:t>
            </a:r>
          </a:p>
        </p:txBody>
      </p:sp>
      <p:sp>
        <p:nvSpPr>
          <p:cNvPr id="3" name="Rectangle 2">
            <a:extLst>
              <a:ext uri="{FF2B5EF4-FFF2-40B4-BE49-F238E27FC236}">
                <a16:creationId xmlns:a16="http://schemas.microsoft.com/office/drawing/2014/main" id="{018A1581-0CD4-A4F6-3526-B1FAC28958D8}"/>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78886D1-A797-26A2-AE2A-94F8138A2200}"/>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23</a:t>
            </a:r>
          </a:p>
        </p:txBody>
      </p:sp>
      <p:sp>
        <p:nvSpPr>
          <p:cNvPr id="5" name="TextBox 4">
            <a:extLst>
              <a:ext uri="{FF2B5EF4-FFF2-40B4-BE49-F238E27FC236}">
                <a16:creationId xmlns:a16="http://schemas.microsoft.com/office/drawing/2014/main" id="{FC0DAD6C-14B9-372D-1B4D-919C888CE037}"/>
              </a:ext>
            </a:extLst>
          </p:cNvPr>
          <p:cNvSpPr txBox="1"/>
          <p:nvPr/>
        </p:nvSpPr>
        <p:spPr>
          <a:xfrm>
            <a:off x="584200" y="1397000"/>
            <a:ext cx="6388100" cy="3614707"/>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In the existing workflow, patient information is usually recorded manually at a reception desk or stored in isolated local files. Follow-up details are added separately over time, resulting in partial records distributed across files or departments. Staff must search physically or ask other personnel whenever historical information is needed.</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Appointments are typically booked by phone or in person, often without a central digital scheduler. This causes overbooking risk, lack of reminders, and difficulty tracking whether an appointment was completed, postponed, or cancelled. Diagnostic reports and prescriptions remain difficult to organize because they exist in paper form or scattered digital copies.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Administrative communication is also fragmented. Patients often need to make repeated calls to ask about appointments or reports, while staff have no instant way to notify patients about changes in order status, consultation timing, or required documents.</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915922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A1D141-A7F7-8406-5BF5-C0F58887295E}"/>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3B. LIMITATIONS OF EXISTING SYSTEM</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9060EC91-2C79-111E-19ED-AB831CEB6D50}"/>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EDDB07B-1FE0-4DB8-0D3E-838927EE7798}"/>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24</a:t>
            </a:r>
          </a:p>
        </p:txBody>
      </p:sp>
      <p:sp>
        <p:nvSpPr>
          <p:cNvPr id="5" name="TextBox 4">
            <a:extLst>
              <a:ext uri="{FF2B5EF4-FFF2-40B4-BE49-F238E27FC236}">
                <a16:creationId xmlns:a16="http://schemas.microsoft.com/office/drawing/2014/main" id="{F0320C38-A4E6-68EC-B08E-8DC124E4C35A}"/>
              </a:ext>
            </a:extLst>
          </p:cNvPr>
          <p:cNvSpPr txBox="1"/>
          <p:nvPr/>
        </p:nvSpPr>
        <p:spPr>
          <a:xfrm>
            <a:off x="762000" y="1841500"/>
            <a:ext cx="6223000" cy="3097386"/>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Searching patient history is slow because records are manual, fragmented, or inconsistently stored.</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Repeated data entry causes duplicate records and inconsistent patient information.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Appointment management depends heavily on staff availability and manual checking.</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There is no unified communication layer for notifications or real-time conversation.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Report handling is weak because file uploads and centralized digital storage are absent.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Administrative oversight is poor due to the lack of a dashboard and searchable analytics.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Operational growth becomes difficult because manual systems do not scale with patient volume.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Security and accountability are limited because role-based digital access is not enforced.</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1F03F9C9-8C89-3CC0-0199-79C58BE1DDB2}"/>
              </a:ext>
            </a:extLst>
          </p:cNvPr>
          <p:cNvSpPr txBox="1"/>
          <p:nvPr/>
        </p:nvSpPr>
        <p:spPr>
          <a:xfrm>
            <a:off x="584200" y="8382000"/>
            <a:ext cx="6388100" cy="525337"/>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These limitations motivated the shift toward a centralized, browser-based, multi-user system with secure access and structured data handling.</a:t>
            </a:r>
            <a:endParaRPr lang="en-IN" sz="11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4015648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5ADB55-2EC4-F6B7-C478-A780C03BA06F}"/>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3C. PROPOSED SYSTEM</a:t>
            </a:r>
          </a:p>
        </p:txBody>
      </p:sp>
      <p:sp>
        <p:nvSpPr>
          <p:cNvPr id="3" name="Rectangle 2">
            <a:extLst>
              <a:ext uri="{FF2B5EF4-FFF2-40B4-BE49-F238E27FC236}">
                <a16:creationId xmlns:a16="http://schemas.microsoft.com/office/drawing/2014/main" id="{81A10F39-0B41-9F95-0473-40620845AEB3}"/>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C1C79B2-F09D-8DEC-3801-E68ED6445531}"/>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25</a:t>
            </a:r>
          </a:p>
        </p:txBody>
      </p:sp>
      <p:sp>
        <p:nvSpPr>
          <p:cNvPr id="5" name="TextBox 4">
            <a:extLst>
              <a:ext uri="{FF2B5EF4-FFF2-40B4-BE49-F238E27FC236}">
                <a16:creationId xmlns:a16="http://schemas.microsoft.com/office/drawing/2014/main" id="{D7039A8A-B497-8661-5936-FC5A91A24E3A}"/>
              </a:ext>
            </a:extLst>
          </p:cNvPr>
          <p:cNvSpPr txBox="1"/>
          <p:nvPr/>
        </p:nvSpPr>
        <p:spPr>
          <a:xfrm>
            <a:off x="584200" y="1397000"/>
            <a:ext cx="6388100" cy="2463623"/>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proposed Smart Hospital Management System is a centralized MERN stack application that integrates multiple hospital operations within a single digital platform. The administrator can manage users, patients, appointments, and orders; doctors can review appointments and communicate with users; and patients can register, verify identity, upload reports, place orders, and interact with the system through a structured dashboard.</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system provides secure authentication, OTP verification, role-based authorization, patient management, appointment tracking, e-prescription support, file uploads, notifications, real-time chat, a basic medical store with cart and COD, and geo-location assistance.</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79534370-3C05-2956-46C0-616D059C33D1}"/>
              </a:ext>
            </a:extLst>
          </p:cNvPr>
          <p:cNvSpPr txBox="1"/>
          <p:nvPr/>
        </p:nvSpPr>
        <p:spPr>
          <a:xfrm>
            <a:off x="762000" y="7302500"/>
            <a:ext cx="6223000" cy="1297919"/>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Web-based access with centralized MongoDB storage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MVC backend structure for maintainability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Operational connectivity between admin, doctor, and patient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Search, filter, upload, order, map, and communication support</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870214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0AAC61-7BDE-4B8F-76FC-43314D77A167}"/>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3D. FEASIBILITY STUDY</a:t>
            </a:r>
          </a:p>
        </p:txBody>
      </p:sp>
      <p:sp>
        <p:nvSpPr>
          <p:cNvPr id="3" name="Rectangle 2">
            <a:extLst>
              <a:ext uri="{FF2B5EF4-FFF2-40B4-BE49-F238E27FC236}">
                <a16:creationId xmlns:a16="http://schemas.microsoft.com/office/drawing/2014/main" id="{3CECD80B-A01B-BEC8-2F39-19DB4891C7BF}"/>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080CAB9-9F08-0F47-2FFC-1B20DD2B15BB}"/>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26</a:t>
            </a:r>
          </a:p>
        </p:txBody>
      </p:sp>
      <p:graphicFrame>
        <p:nvGraphicFramePr>
          <p:cNvPr id="5" name="Table 4">
            <a:extLst>
              <a:ext uri="{FF2B5EF4-FFF2-40B4-BE49-F238E27FC236}">
                <a16:creationId xmlns:a16="http://schemas.microsoft.com/office/drawing/2014/main" id="{17D89785-49C4-CC48-2969-08A6D71DB3B5}"/>
              </a:ext>
            </a:extLst>
          </p:cNvPr>
          <p:cNvGraphicFramePr>
            <a:graphicFrameLocks noGrp="1"/>
          </p:cNvGraphicFramePr>
          <p:nvPr>
            <p:extLst>
              <p:ext uri="{D42A27DB-BD31-4B8C-83A1-F6EECF244321}">
                <p14:modId xmlns:p14="http://schemas.microsoft.com/office/powerpoint/2010/main" val="1580551957"/>
              </p:ext>
            </p:extLst>
          </p:nvPr>
        </p:nvGraphicFramePr>
        <p:xfrm>
          <a:off x="584199" y="1905000"/>
          <a:ext cx="6388100" cy="4699000"/>
        </p:xfrm>
        <a:graphic>
          <a:graphicData uri="http://schemas.openxmlformats.org/drawingml/2006/table">
            <a:tbl>
              <a:tblPr firstRow="1" bandRow="1">
                <a:tableStyleId>{5C22544A-7EE6-4342-B048-85BDC9FD1C3A}</a:tableStyleId>
              </a:tblPr>
              <a:tblGrid>
                <a:gridCol w="2129367">
                  <a:extLst>
                    <a:ext uri="{9D8B030D-6E8A-4147-A177-3AD203B41FA5}">
                      <a16:colId xmlns:a16="http://schemas.microsoft.com/office/drawing/2014/main" val="1408760107"/>
                    </a:ext>
                  </a:extLst>
                </a:gridCol>
                <a:gridCol w="2129367">
                  <a:extLst>
                    <a:ext uri="{9D8B030D-6E8A-4147-A177-3AD203B41FA5}">
                      <a16:colId xmlns:a16="http://schemas.microsoft.com/office/drawing/2014/main" val="769377887"/>
                    </a:ext>
                  </a:extLst>
                </a:gridCol>
                <a:gridCol w="2129367">
                  <a:extLst>
                    <a:ext uri="{9D8B030D-6E8A-4147-A177-3AD203B41FA5}">
                      <a16:colId xmlns:a16="http://schemas.microsoft.com/office/drawing/2014/main" val="3192931992"/>
                    </a:ext>
                  </a:extLst>
                </a:gridCol>
              </a:tblGrid>
              <a:tr h="783167">
                <a:tc>
                  <a:txBody>
                    <a:bodyPr/>
                    <a:lstStyle/>
                    <a:p>
                      <a:r>
                        <a:rPr lang="en-IN" sz="1000" b="1">
                          <a:latin typeface="Times New Roman" panose="02020603050405020304" pitchFamily="18" charset="0"/>
                        </a:rPr>
                        <a:t>Feasibility Type</a:t>
                      </a:r>
                    </a:p>
                  </a:txBody>
                  <a:tcPr>
                    <a:solidFill>
                      <a:srgbClr val="E9E9E9"/>
                    </a:solidFill>
                  </a:tcPr>
                </a:tc>
                <a:tc>
                  <a:txBody>
                    <a:bodyPr/>
                    <a:lstStyle/>
                    <a:p>
                      <a:r>
                        <a:rPr lang="en-IN" sz="1000" b="1">
                          <a:latin typeface="Times New Roman" panose="02020603050405020304" pitchFamily="18" charset="0"/>
                        </a:rPr>
                        <a:t>Observation</a:t>
                      </a:r>
                    </a:p>
                  </a:txBody>
                  <a:tcPr>
                    <a:solidFill>
                      <a:srgbClr val="E9E9E9"/>
                    </a:solidFill>
                  </a:tcPr>
                </a:tc>
                <a:tc>
                  <a:txBody>
                    <a:bodyPr/>
                    <a:lstStyle/>
                    <a:p>
                      <a:r>
                        <a:rPr lang="en-IN" sz="1000" b="1">
                          <a:latin typeface="Times New Roman" panose="02020603050405020304" pitchFamily="18" charset="0"/>
                        </a:rPr>
                        <a:t>Conclusion</a:t>
                      </a:r>
                    </a:p>
                  </a:txBody>
                  <a:tcPr>
                    <a:solidFill>
                      <a:srgbClr val="E9E9E9"/>
                    </a:solidFill>
                  </a:tcPr>
                </a:tc>
                <a:extLst>
                  <a:ext uri="{0D108BD9-81ED-4DB2-BD59-A6C34878D82A}">
                    <a16:rowId xmlns:a16="http://schemas.microsoft.com/office/drawing/2014/main" val="3936620012"/>
                  </a:ext>
                </a:extLst>
              </a:tr>
              <a:tr h="783167">
                <a:tc>
                  <a:txBody>
                    <a:bodyPr/>
                    <a:lstStyle/>
                    <a:p>
                      <a:r>
                        <a:rPr lang="en-IN" sz="900">
                          <a:latin typeface="Times New Roman" panose="02020603050405020304" pitchFamily="18" charset="0"/>
                        </a:rPr>
                        <a:t>Technical</a:t>
                      </a:r>
                    </a:p>
                  </a:txBody>
                  <a:tcPr/>
                </a:tc>
                <a:tc>
                  <a:txBody>
                    <a:bodyPr/>
                    <a:lstStyle/>
                    <a:p>
                      <a:r>
                        <a:rPr lang="en-US" sz="900">
                          <a:latin typeface="Times New Roman" panose="02020603050405020304" pitchFamily="18" charset="0"/>
                        </a:rPr>
                        <a:t>MERN stack, MongoDB, Socket.IO, and Multer support all required modules.</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Technically feasible</a:t>
                      </a:r>
                    </a:p>
                  </a:txBody>
                  <a:tcPr/>
                </a:tc>
                <a:extLst>
                  <a:ext uri="{0D108BD9-81ED-4DB2-BD59-A6C34878D82A}">
                    <a16:rowId xmlns:a16="http://schemas.microsoft.com/office/drawing/2014/main" val="3904121293"/>
                  </a:ext>
                </a:extLst>
              </a:tr>
              <a:tr h="783167">
                <a:tc>
                  <a:txBody>
                    <a:bodyPr/>
                    <a:lstStyle/>
                    <a:p>
                      <a:r>
                        <a:rPr lang="en-IN" sz="900">
                          <a:latin typeface="Times New Roman" panose="02020603050405020304" pitchFamily="18" charset="0"/>
                        </a:rPr>
                        <a:t>Operational</a:t>
                      </a:r>
                    </a:p>
                  </a:txBody>
                  <a:tcPr/>
                </a:tc>
                <a:tc>
                  <a:txBody>
                    <a:bodyPr/>
                    <a:lstStyle/>
                    <a:p>
                      <a:r>
                        <a:rPr lang="en-US" sz="900">
                          <a:latin typeface="Times New Roman" panose="02020603050405020304" pitchFamily="18" charset="0"/>
                        </a:rPr>
                        <a:t>Users can access the system through a browser with role-based dashboards.</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Operationally feasible</a:t>
                      </a:r>
                    </a:p>
                  </a:txBody>
                  <a:tcPr/>
                </a:tc>
                <a:extLst>
                  <a:ext uri="{0D108BD9-81ED-4DB2-BD59-A6C34878D82A}">
                    <a16:rowId xmlns:a16="http://schemas.microsoft.com/office/drawing/2014/main" val="2523489809"/>
                  </a:ext>
                </a:extLst>
              </a:tr>
              <a:tr h="783167">
                <a:tc>
                  <a:txBody>
                    <a:bodyPr/>
                    <a:lstStyle/>
                    <a:p>
                      <a:r>
                        <a:rPr lang="en-IN" sz="900">
                          <a:latin typeface="Times New Roman" panose="02020603050405020304" pitchFamily="18" charset="0"/>
                        </a:rPr>
                        <a:t>Economic</a:t>
                      </a:r>
                    </a:p>
                  </a:txBody>
                  <a:tcPr/>
                </a:tc>
                <a:tc>
                  <a:txBody>
                    <a:bodyPr/>
                    <a:lstStyle/>
                    <a:p>
                      <a:r>
                        <a:rPr lang="en-US" sz="900">
                          <a:latin typeface="Times New Roman" panose="02020603050405020304" pitchFamily="18" charset="0"/>
                        </a:rPr>
                        <a:t>Open-source tools reduce development and deployment cost for prototype scale.</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Economically feasible</a:t>
                      </a:r>
                    </a:p>
                  </a:txBody>
                  <a:tcPr/>
                </a:tc>
                <a:extLst>
                  <a:ext uri="{0D108BD9-81ED-4DB2-BD59-A6C34878D82A}">
                    <a16:rowId xmlns:a16="http://schemas.microsoft.com/office/drawing/2014/main" val="2278582415"/>
                  </a:ext>
                </a:extLst>
              </a:tr>
              <a:tr h="783167">
                <a:tc>
                  <a:txBody>
                    <a:bodyPr/>
                    <a:lstStyle/>
                    <a:p>
                      <a:r>
                        <a:rPr lang="en-IN" sz="900">
                          <a:latin typeface="Times New Roman" panose="02020603050405020304" pitchFamily="18" charset="0"/>
                        </a:rPr>
                        <a:t>Schedule</a:t>
                      </a:r>
                    </a:p>
                  </a:txBody>
                  <a:tcPr/>
                </a:tc>
                <a:tc>
                  <a:txBody>
                    <a:bodyPr/>
                    <a:lstStyle/>
                    <a:p>
                      <a:r>
                        <a:rPr lang="en-US" sz="900">
                          <a:latin typeface="Times New Roman" panose="02020603050405020304" pitchFamily="18" charset="0"/>
                        </a:rPr>
                        <a:t>Module-wise development fits an academic project timeline.</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Time feasible</a:t>
                      </a:r>
                    </a:p>
                  </a:txBody>
                  <a:tcPr/>
                </a:tc>
                <a:extLst>
                  <a:ext uri="{0D108BD9-81ED-4DB2-BD59-A6C34878D82A}">
                    <a16:rowId xmlns:a16="http://schemas.microsoft.com/office/drawing/2014/main" val="2468100405"/>
                  </a:ext>
                </a:extLst>
              </a:tr>
              <a:tr h="783167">
                <a:tc>
                  <a:txBody>
                    <a:bodyPr/>
                    <a:lstStyle/>
                    <a:p>
                      <a:r>
                        <a:rPr lang="en-IN" sz="900">
                          <a:latin typeface="Times New Roman" panose="02020603050405020304" pitchFamily="18" charset="0"/>
                        </a:rPr>
                        <a:t>Scalability</a:t>
                      </a:r>
                    </a:p>
                  </a:txBody>
                  <a:tcPr/>
                </a:tc>
                <a:tc>
                  <a:txBody>
                    <a:bodyPr/>
                    <a:lstStyle/>
                    <a:p>
                      <a:r>
                        <a:rPr lang="en-US" sz="900">
                          <a:latin typeface="Times New Roman" panose="02020603050405020304" pitchFamily="18" charset="0"/>
                        </a:rPr>
                        <a:t>MVC structure and modular routes allow future feature growth.</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Scalable with planned enhancements</a:t>
                      </a:r>
                    </a:p>
                  </a:txBody>
                  <a:tcPr/>
                </a:tc>
                <a:extLst>
                  <a:ext uri="{0D108BD9-81ED-4DB2-BD59-A6C34878D82A}">
                    <a16:rowId xmlns:a16="http://schemas.microsoft.com/office/drawing/2014/main" val="2022889668"/>
                  </a:ext>
                </a:extLst>
              </a:tr>
            </a:tbl>
          </a:graphicData>
        </a:graphic>
      </p:graphicFrame>
      <p:sp>
        <p:nvSpPr>
          <p:cNvPr id="6" name="TextBox 5">
            <a:extLst>
              <a:ext uri="{FF2B5EF4-FFF2-40B4-BE49-F238E27FC236}">
                <a16:creationId xmlns:a16="http://schemas.microsoft.com/office/drawing/2014/main" id="{C7DAB845-A759-6E7F-5EB4-8817F5FA3980}"/>
              </a:ext>
            </a:extLst>
          </p:cNvPr>
          <p:cNvSpPr txBox="1"/>
          <p:nvPr/>
        </p:nvSpPr>
        <p:spPr>
          <a:xfrm>
            <a:off x="584200" y="7429500"/>
            <a:ext cx="6388100" cy="525337"/>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 feasibility analysis confirms that the proposed system is practical for academic implementation and can serve as a strong prototype for future institutional use.</a:t>
            </a:r>
            <a:endParaRPr lang="en-IN" sz="1100">
              <a:solidFill>
                <a:srgbClr val="30241E"/>
              </a:solidFill>
              <a:latin typeface="Times New Roman" panose="02020603050405020304" pitchFamily="18" charset="0"/>
            </a:endParaRPr>
          </a:p>
        </p:txBody>
      </p:sp>
      <p:sp>
        <p:nvSpPr>
          <p:cNvPr id="7" name="TextBox 6">
            <a:extLst>
              <a:ext uri="{FF2B5EF4-FFF2-40B4-BE49-F238E27FC236}">
                <a16:creationId xmlns:a16="http://schemas.microsoft.com/office/drawing/2014/main" id="{A131A1A4-B3AF-6267-5A0E-2AC09B3DCF04}"/>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3. Feasibility study summary for the proposed Smart Hospital Management System.</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3287386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40E242-932B-5737-D2DF-2A894AA35C9C}"/>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3E. INPUT AND OUTPUT ANALYSIS</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02624CC5-572C-4005-8DE8-5E7A64E22FC4}"/>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49266F2-D10C-DD1E-F900-3B3ACDCFD27D}"/>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27</a:t>
            </a:r>
          </a:p>
        </p:txBody>
      </p:sp>
      <p:graphicFrame>
        <p:nvGraphicFramePr>
          <p:cNvPr id="5" name="Table 4">
            <a:extLst>
              <a:ext uri="{FF2B5EF4-FFF2-40B4-BE49-F238E27FC236}">
                <a16:creationId xmlns:a16="http://schemas.microsoft.com/office/drawing/2014/main" id="{37D4EC7C-C3CE-E522-BFF2-25992977C0A0}"/>
              </a:ext>
            </a:extLst>
          </p:cNvPr>
          <p:cNvGraphicFramePr>
            <a:graphicFrameLocks noGrp="1"/>
          </p:cNvGraphicFramePr>
          <p:nvPr>
            <p:extLst>
              <p:ext uri="{D42A27DB-BD31-4B8C-83A1-F6EECF244321}">
                <p14:modId xmlns:p14="http://schemas.microsoft.com/office/powerpoint/2010/main" val="1825404083"/>
              </p:ext>
            </p:extLst>
          </p:nvPr>
        </p:nvGraphicFramePr>
        <p:xfrm>
          <a:off x="584199" y="1841500"/>
          <a:ext cx="6388100" cy="5461000"/>
        </p:xfrm>
        <a:graphic>
          <a:graphicData uri="http://schemas.openxmlformats.org/drawingml/2006/table">
            <a:tbl>
              <a:tblPr firstRow="1" bandRow="1">
                <a:tableStyleId>{5C22544A-7EE6-4342-B048-85BDC9FD1C3A}</a:tableStyleId>
              </a:tblPr>
              <a:tblGrid>
                <a:gridCol w="2129367">
                  <a:extLst>
                    <a:ext uri="{9D8B030D-6E8A-4147-A177-3AD203B41FA5}">
                      <a16:colId xmlns:a16="http://schemas.microsoft.com/office/drawing/2014/main" val="1275405923"/>
                    </a:ext>
                  </a:extLst>
                </a:gridCol>
                <a:gridCol w="2129367">
                  <a:extLst>
                    <a:ext uri="{9D8B030D-6E8A-4147-A177-3AD203B41FA5}">
                      <a16:colId xmlns:a16="http://schemas.microsoft.com/office/drawing/2014/main" val="38635253"/>
                    </a:ext>
                  </a:extLst>
                </a:gridCol>
                <a:gridCol w="2129367">
                  <a:extLst>
                    <a:ext uri="{9D8B030D-6E8A-4147-A177-3AD203B41FA5}">
                      <a16:colId xmlns:a16="http://schemas.microsoft.com/office/drawing/2014/main" val="3236748989"/>
                    </a:ext>
                  </a:extLst>
                </a:gridCol>
              </a:tblGrid>
              <a:tr h="780143">
                <a:tc>
                  <a:txBody>
                    <a:bodyPr/>
                    <a:lstStyle/>
                    <a:p>
                      <a:r>
                        <a:rPr lang="en-IN" sz="1000" b="1">
                          <a:latin typeface="Times New Roman" panose="02020603050405020304" pitchFamily="18" charset="0"/>
                        </a:rPr>
                        <a:t>Module</a:t>
                      </a:r>
                    </a:p>
                  </a:txBody>
                  <a:tcPr>
                    <a:solidFill>
                      <a:srgbClr val="E9E9E9"/>
                    </a:solidFill>
                  </a:tcPr>
                </a:tc>
                <a:tc>
                  <a:txBody>
                    <a:bodyPr/>
                    <a:lstStyle/>
                    <a:p>
                      <a:r>
                        <a:rPr lang="en-IN" sz="1000" b="1">
                          <a:latin typeface="Times New Roman" panose="02020603050405020304" pitchFamily="18" charset="0"/>
                        </a:rPr>
                        <a:t>Primary Inputs</a:t>
                      </a:r>
                    </a:p>
                  </a:txBody>
                  <a:tcPr>
                    <a:solidFill>
                      <a:srgbClr val="E9E9E9"/>
                    </a:solidFill>
                  </a:tcPr>
                </a:tc>
                <a:tc>
                  <a:txBody>
                    <a:bodyPr/>
                    <a:lstStyle/>
                    <a:p>
                      <a:r>
                        <a:rPr lang="en-IN" sz="1000" b="1">
                          <a:latin typeface="Times New Roman" panose="02020603050405020304" pitchFamily="18" charset="0"/>
                        </a:rPr>
                        <a:t>Primary Outputs</a:t>
                      </a:r>
                    </a:p>
                  </a:txBody>
                  <a:tcPr>
                    <a:solidFill>
                      <a:srgbClr val="E9E9E9"/>
                    </a:solidFill>
                  </a:tcPr>
                </a:tc>
                <a:extLst>
                  <a:ext uri="{0D108BD9-81ED-4DB2-BD59-A6C34878D82A}">
                    <a16:rowId xmlns:a16="http://schemas.microsoft.com/office/drawing/2014/main" val="2364830150"/>
                  </a:ext>
                </a:extLst>
              </a:tr>
              <a:tr h="780143">
                <a:tc>
                  <a:txBody>
                    <a:bodyPr/>
                    <a:lstStyle/>
                    <a:p>
                      <a:r>
                        <a:rPr lang="en-IN" sz="900">
                          <a:latin typeface="Times New Roman" panose="02020603050405020304" pitchFamily="18" charset="0"/>
                        </a:rPr>
                        <a:t>Authentication</a:t>
                      </a:r>
                    </a:p>
                  </a:txBody>
                  <a:tcPr/>
                </a:tc>
                <a:tc>
                  <a:txBody>
                    <a:bodyPr/>
                    <a:lstStyle/>
                    <a:p>
                      <a:r>
                        <a:rPr lang="en-IN" sz="900">
                          <a:latin typeface="Times New Roman" panose="02020603050405020304" pitchFamily="18" charset="0"/>
                        </a:rPr>
                        <a:t>Name, email, password, OTP</a:t>
                      </a:r>
                    </a:p>
                  </a:txBody>
                  <a:tcPr/>
                </a:tc>
                <a:tc>
                  <a:txBody>
                    <a:bodyPr/>
                    <a:lstStyle/>
                    <a:p>
                      <a:r>
                        <a:rPr lang="en-IN" sz="900">
                          <a:latin typeface="Times New Roman" panose="02020603050405020304" pitchFamily="18" charset="0"/>
                        </a:rPr>
                        <a:t>User session, verification status</a:t>
                      </a:r>
                    </a:p>
                  </a:txBody>
                  <a:tcPr/>
                </a:tc>
                <a:extLst>
                  <a:ext uri="{0D108BD9-81ED-4DB2-BD59-A6C34878D82A}">
                    <a16:rowId xmlns:a16="http://schemas.microsoft.com/office/drawing/2014/main" val="1109699405"/>
                  </a:ext>
                </a:extLst>
              </a:tr>
              <a:tr h="780143">
                <a:tc>
                  <a:txBody>
                    <a:bodyPr/>
                    <a:lstStyle/>
                    <a:p>
                      <a:r>
                        <a:rPr lang="en-IN" sz="900">
                          <a:latin typeface="Times New Roman" panose="02020603050405020304" pitchFamily="18" charset="0"/>
                        </a:rPr>
                        <a:t>Patient Management</a:t>
                      </a:r>
                    </a:p>
                  </a:txBody>
                  <a:tcPr/>
                </a:tc>
                <a:tc>
                  <a:txBody>
                    <a:bodyPr/>
                    <a:lstStyle/>
                    <a:p>
                      <a:r>
                        <a:rPr lang="en-US" sz="900">
                          <a:latin typeface="Times New Roman" panose="02020603050405020304" pitchFamily="18" charset="0"/>
                        </a:rPr>
                        <a:t>Age, gender, blood group, disease</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Structured patient record</a:t>
                      </a:r>
                    </a:p>
                  </a:txBody>
                  <a:tcPr/>
                </a:tc>
                <a:extLst>
                  <a:ext uri="{0D108BD9-81ED-4DB2-BD59-A6C34878D82A}">
                    <a16:rowId xmlns:a16="http://schemas.microsoft.com/office/drawing/2014/main" val="2944890582"/>
                  </a:ext>
                </a:extLst>
              </a:tr>
              <a:tr h="780143">
                <a:tc>
                  <a:txBody>
                    <a:bodyPr/>
                    <a:lstStyle/>
                    <a:p>
                      <a:r>
                        <a:rPr lang="en-IN" sz="900">
                          <a:latin typeface="Times New Roman" panose="02020603050405020304" pitchFamily="18" charset="0"/>
                        </a:rPr>
                        <a:t>Appointments</a:t>
                      </a:r>
                    </a:p>
                  </a:txBody>
                  <a:tcPr/>
                </a:tc>
                <a:tc>
                  <a:txBody>
                    <a:bodyPr/>
                    <a:lstStyle/>
                    <a:p>
                      <a:r>
                        <a:rPr lang="en-IN" sz="900">
                          <a:latin typeface="Times New Roman" panose="02020603050405020304" pitchFamily="18" charset="0"/>
                        </a:rPr>
                        <a:t>Doctor, patient, date, reason</a:t>
                      </a:r>
                    </a:p>
                  </a:txBody>
                  <a:tcPr/>
                </a:tc>
                <a:tc>
                  <a:txBody>
                    <a:bodyPr/>
                    <a:lstStyle/>
                    <a:p>
                      <a:r>
                        <a:rPr lang="en-IN" sz="900">
                          <a:latin typeface="Times New Roman" panose="02020603050405020304" pitchFamily="18" charset="0"/>
                        </a:rPr>
                        <a:t>Appointment entry and status</a:t>
                      </a:r>
                    </a:p>
                  </a:txBody>
                  <a:tcPr/>
                </a:tc>
                <a:extLst>
                  <a:ext uri="{0D108BD9-81ED-4DB2-BD59-A6C34878D82A}">
                    <a16:rowId xmlns:a16="http://schemas.microsoft.com/office/drawing/2014/main" val="1268460510"/>
                  </a:ext>
                </a:extLst>
              </a:tr>
              <a:tr h="780143">
                <a:tc>
                  <a:txBody>
                    <a:bodyPr/>
                    <a:lstStyle/>
                    <a:p>
                      <a:r>
                        <a:rPr lang="en-IN" sz="900">
                          <a:latin typeface="Times New Roman" panose="02020603050405020304" pitchFamily="18" charset="0"/>
                        </a:rPr>
                        <a:t>Orders</a:t>
                      </a:r>
                    </a:p>
                  </a:txBody>
                  <a:tcPr/>
                </a:tc>
                <a:tc>
                  <a:txBody>
                    <a:bodyPr/>
                    <a:lstStyle/>
                    <a:p>
                      <a:r>
                        <a:rPr lang="en-IN" sz="900">
                          <a:latin typeface="Times New Roman" panose="02020603050405020304" pitchFamily="18" charset="0"/>
                        </a:rPr>
                        <a:t>Product selection and quantity</a:t>
                      </a:r>
                    </a:p>
                  </a:txBody>
                  <a:tcPr/>
                </a:tc>
                <a:tc>
                  <a:txBody>
                    <a:bodyPr/>
                    <a:lstStyle/>
                    <a:p>
                      <a:r>
                        <a:rPr lang="en-US" sz="900">
                          <a:latin typeface="Times New Roman" panose="02020603050405020304" pitchFamily="18" charset="0"/>
                        </a:rPr>
                        <a:t>Cart contents, order confirmation, total amount</a:t>
                      </a:r>
                      <a:endParaRPr lang="en-IN" sz="900">
                        <a:latin typeface="Times New Roman" panose="02020603050405020304" pitchFamily="18" charset="0"/>
                      </a:endParaRPr>
                    </a:p>
                  </a:txBody>
                  <a:tcPr/>
                </a:tc>
                <a:extLst>
                  <a:ext uri="{0D108BD9-81ED-4DB2-BD59-A6C34878D82A}">
                    <a16:rowId xmlns:a16="http://schemas.microsoft.com/office/drawing/2014/main" val="2936265841"/>
                  </a:ext>
                </a:extLst>
              </a:tr>
              <a:tr h="780143">
                <a:tc>
                  <a:txBody>
                    <a:bodyPr/>
                    <a:lstStyle/>
                    <a:p>
                      <a:r>
                        <a:rPr lang="en-IN" sz="900">
                          <a:latin typeface="Times New Roman" panose="02020603050405020304" pitchFamily="18" charset="0"/>
                        </a:rPr>
                        <a:t>Upload</a:t>
                      </a:r>
                    </a:p>
                  </a:txBody>
                  <a:tcPr/>
                </a:tc>
                <a:tc>
                  <a:txBody>
                    <a:bodyPr/>
                    <a:lstStyle/>
                    <a:p>
                      <a:r>
                        <a:rPr lang="en-IN" sz="900">
                          <a:latin typeface="Times New Roman" panose="02020603050405020304" pitchFamily="18" charset="0"/>
                        </a:rPr>
                        <a:t>Report file</a:t>
                      </a:r>
                    </a:p>
                  </a:txBody>
                  <a:tcPr/>
                </a:tc>
                <a:tc>
                  <a:txBody>
                    <a:bodyPr/>
                    <a:lstStyle/>
                    <a:p>
                      <a:r>
                        <a:rPr lang="en-US" sz="900">
                          <a:latin typeface="Times New Roman" panose="02020603050405020304" pitchFamily="18" charset="0"/>
                        </a:rPr>
                        <a:t>Stored file path and upload acknowledgment</a:t>
                      </a:r>
                      <a:endParaRPr lang="en-IN" sz="900">
                        <a:latin typeface="Times New Roman" panose="02020603050405020304" pitchFamily="18" charset="0"/>
                      </a:endParaRPr>
                    </a:p>
                  </a:txBody>
                  <a:tcPr/>
                </a:tc>
                <a:extLst>
                  <a:ext uri="{0D108BD9-81ED-4DB2-BD59-A6C34878D82A}">
                    <a16:rowId xmlns:a16="http://schemas.microsoft.com/office/drawing/2014/main" val="2998512035"/>
                  </a:ext>
                </a:extLst>
              </a:tr>
              <a:tr h="780143">
                <a:tc>
                  <a:txBody>
                    <a:bodyPr/>
                    <a:lstStyle/>
                    <a:p>
                      <a:r>
                        <a:rPr lang="en-IN" sz="900">
                          <a:latin typeface="Times New Roman" panose="02020603050405020304" pitchFamily="18" charset="0"/>
                        </a:rPr>
                        <a:t>Chat and Notifications</a:t>
                      </a:r>
                    </a:p>
                  </a:txBody>
                  <a:tcPr/>
                </a:tc>
                <a:tc>
                  <a:txBody>
                    <a:bodyPr/>
                    <a:lstStyle/>
                    <a:p>
                      <a:r>
                        <a:rPr lang="en-US" sz="900">
                          <a:latin typeface="Times New Roman" panose="02020603050405020304" pitchFamily="18" charset="0"/>
                        </a:rPr>
                        <a:t>Message text or event trigger</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Delivered messages and alert entries</a:t>
                      </a:r>
                    </a:p>
                  </a:txBody>
                  <a:tcPr/>
                </a:tc>
                <a:extLst>
                  <a:ext uri="{0D108BD9-81ED-4DB2-BD59-A6C34878D82A}">
                    <a16:rowId xmlns:a16="http://schemas.microsoft.com/office/drawing/2014/main" val="3977046798"/>
                  </a:ext>
                </a:extLst>
              </a:tr>
            </a:tbl>
          </a:graphicData>
        </a:graphic>
      </p:graphicFrame>
      <p:sp>
        <p:nvSpPr>
          <p:cNvPr id="6" name="TextBox 5">
            <a:extLst>
              <a:ext uri="{FF2B5EF4-FFF2-40B4-BE49-F238E27FC236}">
                <a16:creationId xmlns:a16="http://schemas.microsoft.com/office/drawing/2014/main" id="{B05AE9DF-7F81-D8C0-6A0A-EBDE60C493D6}"/>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4. Input and output analysis of the core modules.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19447487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FCFE17-EEB4-DB83-FCE8-50DFCCE19DF0}"/>
              </a:ext>
            </a:extLst>
          </p:cNvPr>
          <p:cNvSpPr txBox="1"/>
          <p:nvPr/>
        </p:nvSpPr>
        <p:spPr>
          <a:xfrm>
            <a:off x="584200" y="431800"/>
            <a:ext cx="6388100" cy="584775"/>
          </a:xfrm>
          <a:prstGeom prst="rect">
            <a:avLst/>
          </a:prstGeom>
          <a:noFill/>
        </p:spPr>
        <p:txBody>
          <a:bodyPr vert="horz" rtlCol="0">
            <a:spAutoFit/>
          </a:bodyPr>
          <a:lstStyle/>
          <a:p>
            <a:r>
              <a:rPr lang="en-US" sz="1600" b="1">
                <a:solidFill>
                  <a:srgbClr val="0C0428"/>
                </a:solidFill>
                <a:latin typeface="Times New Roman" panose="02020603050405020304" pitchFamily="18" charset="0"/>
              </a:rPr>
              <a:t>3F. SOFTWARE REQUIREMENT SPECIFICATION (FUNCTIONAL)</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5FF59C7E-4453-90C9-2C9D-819B89CB328A}"/>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C3D1593-2E10-55D8-D778-C7CA9162B2C0}"/>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28</a:t>
            </a:r>
          </a:p>
        </p:txBody>
      </p:sp>
      <p:sp>
        <p:nvSpPr>
          <p:cNvPr id="5" name="TextBox 4">
            <a:extLst>
              <a:ext uri="{FF2B5EF4-FFF2-40B4-BE49-F238E27FC236}">
                <a16:creationId xmlns:a16="http://schemas.microsoft.com/office/drawing/2014/main" id="{48F78E27-478E-8703-512B-8223AFF8CDC8}"/>
              </a:ext>
            </a:extLst>
          </p:cNvPr>
          <p:cNvSpPr txBox="1"/>
          <p:nvPr/>
        </p:nvSpPr>
        <p:spPr>
          <a:xfrm>
            <a:off x="762000" y="1841500"/>
            <a:ext cx="6223000" cy="3276923"/>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allow user registration and secure login.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generate and verify email OTP for account verification.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enforce role-based access for admin, doctor, and patient users.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admin shall perform create, read, update, and delete operations on patient records.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support appointment booking, status updates, and e-prescription recording.</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provide search and filter functionality across major record types.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support product selection, cart storage, and order placement through COD.</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allow report file uploads and store their references.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support real-time user-to-user chat.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system shall generate notifications for important operational events.</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460507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531875-95D5-382C-1D6D-782B2AF65C8B}"/>
              </a:ext>
            </a:extLst>
          </p:cNvPr>
          <p:cNvSpPr txBox="1"/>
          <p:nvPr/>
        </p:nvSpPr>
        <p:spPr>
          <a:xfrm>
            <a:off x="584200" y="431800"/>
            <a:ext cx="6388100" cy="584775"/>
          </a:xfrm>
          <a:prstGeom prst="rect">
            <a:avLst/>
          </a:prstGeom>
          <a:noFill/>
        </p:spPr>
        <p:txBody>
          <a:bodyPr vert="horz" rtlCol="0">
            <a:spAutoFit/>
          </a:bodyPr>
          <a:lstStyle/>
          <a:p>
            <a:r>
              <a:rPr lang="en-IN" sz="1600" b="1">
                <a:solidFill>
                  <a:srgbClr val="0C0428"/>
                </a:solidFill>
                <a:latin typeface="Times New Roman" panose="02020603050405020304" pitchFamily="18" charset="0"/>
              </a:rPr>
              <a:t>3G. SOFTWARE REQUIREMENT SPECIFICATION (NON-FUNCTIONAL)</a:t>
            </a:r>
          </a:p>
        </p:txBody>
      </p:sp>
      <p:sp>
        <p:nvSpPr>
          <p:cNvPr id="3" name="Rectangle 2">
            <a:extLst>
              <a:ext uri="{FF2B5EF4-FFF2-40B4-BE49-F238E27FC236}">
                <a16:creationId xmlns:a16="http://schemas.microsoft.com/office/drawing/2014/main" id="{D5E0632E-EDA7-D1F2-3E75-35B6A843D431}"/>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9B309C4-7590-E0BB-83CD-FC6ED693BDF3}"/>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29</a:t>
            </a:r>
          </a:p>
        </p:txBody>
      </p:sp>
      <p:sp>
        <p:nvSpPr>
          <p:cNvPr id="5" name="TextBox 4">
            <a:extLst>
              <a:ext uri="{FF2B5EF4-FFF2-40B4-BE49-F238E27FC236}">
                <a16:creationId xmlns:a16="http://schemas.microsoft.com/office/drawing/2014/main" id="{5250F669-1A06-BD2E-0950-206B959280C0}"/>
              </a:ext>
            </a:extLst>
          </p:cNvPr>
          <p:cNvSpPr txBox="1"/>
          <p:nvPr/>
        </p:nvSpPr>
        <p:spPr>
          <a:xfrm>
            <a:off x="762000" y="1841500"/>
            <a:ext cx="6223000" cy="2857321"/>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Usability: the interface should remain simple enough for non-technical users.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Security: passwords must be hashed and private routes must be token protected.</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Performance: normal operations should complete within acceptable demo response time.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Reliability: main CRUD and order flows should remain stable under regular use.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Maintainability: backend code should follow MVC and frontend components should stay modular.</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Scalability: additional modules such as telemedicine should be addable later.</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Responsiveness: major pages should display properly on standard desktop and laptop screens.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Availability: the application should run locally with standard Node.js and MongoDB setup.</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239487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735DB1-B7DF-6FEB-88B4-0624696468B4}"/>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3H. SOFTWARE ENGINEERING PARADIGM APPLIED</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9D9A10D5-BBAB-7FAA-FEEC-99B9C7A5FF9A}"/>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0F7A4BC-708F-B7DD-17BB-3FFD058C9745}"/>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30</a:t>
            </a:r>
          </a:p>
        </p:txBody>
      </p:sp>
      <p:sp>
        <p:nvSpPr>
          <p:cNvPr id="5" name="TextBox 4">
            <a:extLst>
              <a:ext uri="{FF2B5EF4-FFF2-40B4-BE49-F238E27FC236}">
                <a16:creationId xmlns:a16="http://schemas.microsoft.com/office/drawing/2014/main" id="{7832B56E-AE81-DC9F-2F31-DD7D3CD56222}"/>
              </a:ext>
            </a:extLst>
          </p:cNvPr>
          <p:cNvSpPr txBox="1"/>
          <p:nvPr/>
        </p:nvSpPr>
        <p:spPr>
          <a:xfrm>
            <a:off x="584200" y="1397000"/>
            <a:ext cx="6388100" cy="3116109"/>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project follows an incremental and iterative development approach. Instead of attempting the full application in one step, the system was built module by module: first the authentication layer, then patient and appointment management, then order handling, and finally communication, notifications, and AI-assisted interaction support.</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On the architectural side, the backend uses the MVC pattern. Models define MongoDB schemas, controllers handle business logic, and routes connect endpoints to the appropriate controller actions. This separation helps developers debug features, extend modules, and maintain clarity.</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frontend follows a component-oriented structure in React, which supports reuse and keeps stateful logic separated from visual sections.</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686492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088B2E-ABC0-368C-5148-F41057194C75}"/>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3I. OVERALL WORKFLOW OF THE SYSTEM</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86C56A73-BF40-0209-6D40-E891BBCB4C05}"/>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B00DC42-5C2E-FF4C-7242-867539113E0B}"/>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31</a:t>
            </a:r>
          </a:p>
        </p:txBody>
      </p:sp>
      <p:sp>
        <p:nvSpPr>
          <p:cNvPr id="5" name="TextBox 4">
            <a:extLst>
              <a:ext uri="{FF2B5EF4-FFF2-40B4-BE49-F238E27FC236}">
                <a16:creationId xmlns:a16="http://schemas.microsoft.com/office/drawing/2014/main" id="{8B306574-4466-B15B-02E2-A0535DA4B76D}"/>
              </a:ext>
            </a:extLst>
          </p:cNvPr>
          <p:cNvSpPr txBox="1"/>
          <p:nvPr/>
        </p:nvSpPr>
        <p:spPr>
          <a:xfrm>
            <a:off x="762000" y="1841500"/>
            <a:ext cx="6223000" cy="2857321"/>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User creates an account and logs in through secure authentication.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OTP verification confirms identity when required for account trust.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Admin manages patient records and assigns appointments to doctors.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Patient views schedules, uploads reports, and interacts with the system dashboard.</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Medical items can be added to cart; repeated additions increase quantity rather than creating duplicate rows.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Patient places order through COD and receives a confirmation view with total amount.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Admin updates order status and can remove delivered orders from history when permitted.</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Chat and notification modules maintain communication between the connected users.</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BF9BB11A-76ED-E47E-617B-67B3F0E7FE41}"/>
              </a:ext>
            </a:extLst>
          </p:cNvPr>
          <p:cNvSpPr txBox="1"/>
          <p:nvPr/>
        </p:nvSpPr>
        <p:spPr>
          <a:xfrm>
            <a:off x="584200" y="8382000"/>
            <a:ext cx="6388100" cy="296813"/>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This workflow integrates administrative control and patient self-service into one coordinated web system.</a:t>
            </a:r>
            <a:endParaRPr lang="en-IN" sz="11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321108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8DACB9-150D-E9C2-A131-5110B81F9038}"/>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CHAPTER 4: SYSTEM DESIGN</a:t>
            </a:r>
          </a:p>
        </p:txBody>
      </p:sp>
      <p:sp>
        <p:nvSpPr>
          <p:cNvPr id="3" name="Rectangle 2">
            <a:extLst>
              <a:ext uri="{FF2B5EF4-FFF2-40B4-BE49-F238E27FC236}">
                <a16:creationId xmlns:a16="http://schemas.microsoft.com/office/drawing/2014/main" id="{638DA3FC-376A-2C50-7011-9F3512972A83}"/>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D757204-DD4F-A03D-4E57-A12E389937E1}"/>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32</a:t>
            </a:r>
          </a:p>
        </p:txBody>
      </p:sp>
      <p:sp>
        <p:nvSpPr>
          <p:cNvPr id="5" name="TextBox 4">
            <a:extLst>
              <a:ext uri="{FF2B5EF4-FFF2-40B4-BE49-F238E27FC236}">
                <a16:creationId xmlns:a16="http://schemas.microsoft.com/office/drawing/2014/main" id="{862A2E17-4229-E855-ABF3-D26623020351}"/>
              </a:ext>
            </a:extLst>
          </p:cNvPr>
          <p:cNvSpPr txBox="1"/>
          <p:nvPr/>
        </p:nvSpPr>
        <p:spPr>
          <a:xfrm>
            <a:off x="584200" y="1397000"/>
            <a:ext cx="6388100" cy="2214324"/>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System design translates the analyzed requirements into a concrete technical structure. In this project, design includes the layered architecture of the application, the division of modules, the movement of data between actors and processes, and the schema-level relationships that support persistent storage.</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To align with the sample report and project guidelines, this chapter includes the system architecture diagram, data flow diagrams, a use case diagram, a sequence diagram, a schema / ER diagram, and flowcharts for core processes.</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426197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DD8824-F17B-3386-D256-E656045E066B}"/>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4A. SYSTEM ARCHITECTURE DIAGRAM</a:t>
            </a:r>
          </a:p>
        </p:txBody>
      </p:sp>
      <p:sp>
        <p:nvSpPr>
          <p:cNvPr id="3" name="Rectangle 2">
            <a:extLst>
              <a:ext uri="{FF2B5EF4-FFF2-40B4-BE49-F238E27FC236}">
                <a16:creationId xmlns:a16="http://schemas.microsoft.com/office/drawing/2014/main" id="{E83881F5-7034-F4F3-9534-71C822932931}"/>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39B24F4-A037-3D68-F7A7-AE5D5DADD4A4}"/>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33</a:t>
            </a:r>
          </a:p>
        </p:txBody>
      </p:sp>
      <p:sp>
        <p:nvSpPr>
          <p:cNvPr id="5" name="Oval 4">
            <a:extLst>
              <a:ext uri="{FF2B5EF4-FFF2-40B4-BE49-F238E27FC236}">
                <a16:creationId xmlns:a16="http://schemas.microsoft.com/office/drawing/2014/main" id="{5E6969C9-D812-DE98-456E-AA93DCCA64D3}"/>
              </a:ext>
            </a:extLst>
          </p:cNvPr>
          <p:cNvSpPr/>
          <p:nvPr/>
        </p:nvSpPr>
        <p:spPr>
          <a:xfrm>
            <a:off x="736600" y="2222500"/>
            <a:ext cx="228600" cy="228600"/>
          </a:xfrm>
          <a:prstGeom prst="ellipse">
            <a:avLst/>
          </a:prstGeom>
          <a:noFill/>
          <a:ln w="19050" cap="flat" cmpd="sng" algn="ctr">
            <a:solidFill>
              <a:srgbClr val="30241E"/>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9F7066FF-1C63-29FD-1457-6CDE6F859ED5}"/>
              </a:ext>
            </a:extLst>
          </p:cNvPr>
          <p:cNvCxnSpPr/>
          <p:nvPr/>
        </p:nvCxnSpPr>
        <p:spPr>
          <a:xfrm>
            <a:off x="850900" y="2451100"/>
            <a:ext cx="0" cy="4318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C920BFB6-DD7C-33BD-6424-7D86DD858022}"/>
              </a:ext>
            </a:extLst>
          </p:cNvPr>
          <p:cNvCxnSpPr/>
          <p:nvPr/>
        </p:nvCxnSpPr>
        <p:spPr>
          <a:xfrm>
            <a:off x="635000" y="2603500"/>
            <a:ext cx="431800" cy="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774E1B2-7167-D698-F32A-338BB3D507CD}"/>
              </a:ext>
            </a:extLst>
          </p:cNvPr>
          <p:cNvCxnSpPr/>
          <p:nvPr/>
        </p:nvCxnSpPr>
        <p:spPr>
          <a:xfrm flipH="1">
            <a:off x="635000" y="28829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BCF27D7-BED5-38D9-986E-22D13BCAB706}"/>
              </a:ext>
            </a:extLst>
          </p:cNvPr>
          <p:cNvCxnSpPr/>
          <p:nvPr/>
        </p:nvCxnSpPr>
        <p:spPr>
          <a:xfrm>
            <a:off x="850900" y="28829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F6A2406-5BA1-7C57-866E-C8FF996997F7}"/>
              </a:ext>
            </a:extLst>
          </p:cNvPr>
          <p:cNvSpPr txBox="1"/>
          <p:nvPr/>
        </p:nvSpPr>
        <p:spPr>
          <a:xfrm>
            <a:off x="381000" y="3238500"/>
            <a:ext cx="1143000" cy="296813"/>
          </a:xfrm>
          <a:prstGeom prst="rect">
            <a:avLst/>
          </a:prstGeom>
          <a:noFill/>
        </p:spPr>
        <p:txBody>
          <a:bodyPr vert="horz" wrap="square" rtlCol="0">
            <a:spAutoFit/>
          </a:bodyPr>
          <a:lstStyle/>
          <a:p>
            <a:pPr algn="ctr">
              <a:lnSpc>
                <a:spcPct val="135000"/>
              </a:lnSpc>
              <a:spcAft>
                <a:spcPts val="600"/>
              </a:spcAft>
            </a:pPr>
            <a:r>
              <a:rPr lang="en-IN" sz="1100">
                <a:solidFill>
                  <a:srgbClr val="30241E"/>
                </a:solidFill>
                <a:latin typeface="Times New Roman" panose="02020603050405020304" pitchFamily="18" charset="0"/>
              </a:rPr>
              <a:t>Patient</a:t>
            </a:r>
          </a:p>
        </p:txBody>
      </p:sp>
      <p:sp>
        <p:nvSpPr>
          <p:cNvPr id="11" name="Oval 10">
            <a:extLst>
              <a:ext uri="{FF2B5EF4-FFF2-40B4-BE49-F238E27FC236}">
                <a16:creationId xmlns:a16="http://schemas.microsoft.com/office/drawing/2014/main" id="{59E09AB6-FD9F-18F5-F13B-3D9F5B63F264}"/>
              </a:ext>
            </a:extLst>
          </p:cNvPr>
          <p:cNvSpPr/>
          <p:nvPr/>
        </p:nvSpPr>
        <p:spPr>
          <a:xfrm>
            <a:off x="736600" y="4191000"/>
            <a:ext cx="228600" cy="228600"/>
          </a:xfrm>
          <a:prstGeom prst="ellipse">
            <a:avLst/>
          </a:prstGeom>
          <a:noFill/>
          <a:ln w="19050" cap="flat" cmpd="sng" algn="ctr">
            <a:solidFill>
              <a:srgbClr val="30241E"/>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94F64628-DB27-C92A-844A-BD86469F0BC6}"/>
              </a:ext>
            </a:extLst>
          </p:cNvPr>
          <p:cNvCxnSpPr/>
          <p:nvPr/>
        </p:nvCxnSpPr>
        <p:spPr>
          <a:xfrm>
            <a:off x="850900" y="4419600"/>
            <a:ext cx="0" cy="4318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54A7DE7-E998-C57E-7C13-22EBE8DF69F9}"/>
              </a:ext>
            </a:extLst>
          </p:cNvPr>
          <p:cNvCxnSpPr/>
          <p:nvPr/>
        </p:nvCxnSpPr>
        <p:spPr>
          <a:xfrm>
            <a:off x="635000" y="4572000"/>
            <a:ext cx="431800" cy="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249D8C2-0F93-81B0-BAA9-08C0E4B788FE}"/>
              </a:ext>
            </a:extLst>
          </p:cNvPr>
          <p:cNvCxnSpPr/>
          <p:nvPr/>
        </p:nvCxnSpPr>
        <p:spPr>
          <a:xfrm flipH="1">
            <a:off x="635000" y="48514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6149F97-F8A9-88B1-3F09-15B1C1CB02A0}"/>
              </a:ext>
            </a:extLst>
          </p:cNvPr>
          <p:cNvCxnSpPr/>
          <p:nvPr/>
        </p:nvCxnSpPr>
        <p:spPr>
          <a:xfrm>
            <a:off x="850900" y="48514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8DECAA3-9CDA-EF80-6883-5045F255A0B6}"/>
              </a:ext>
            </a:extLst>
          </p:cNvPr>
          <p:cNvSpPr txBox="1"/>
          <p:nvPr/>
        </p:nvSpPr>
        <p:spPr>
          <a:xfrm>
            <a:off x="381000" y="5207000"/>
            <a:ext cx="1143000" cy="296813"/>
          </a:xfrm>
          <a:prstGeom prst="rect">
            <a:avLst/>
          </a:prstGeom>
          <a:noFill/>
        </p:spPr>
        <p:txBody>
          <a:bodyPr vert="horz" wrap="square" rtlCol="0">
            <a:spAutoFit/>
          </a:bodyPr>
          <a:lstStyle/>
          <a:p>
            <a:pPr algn="ctr">
              <a:lnSpc>
                <a:spcPct val="135000"/>
              </a:lnSpc>
              <a:spcAft>
                <a:spcPts val="600"/>
              </a:spcAft>
            </a:pPr>
            <a:r>
              <a:rPr lang="en-IN" sz="1100">
                <a:solidFill>
                  <a:srgbClr val="30241E"/>
                </a:solidFill>
                <a:latin typeface="Times New Roman" panose="02020603050405020304" pitchFamily="18" charset="0"/>
              </a:rPr>
              <a:t>Doctor</a:t>
            </a:r>
          </a:p>
        </p:txBody>
      </p:sp>
      <p:sp>
        <p:nvSpPr>
          <p:cNvPr id="17" name="Oval 16">
            <a:extLst>
              <a:ext uri="{FF2B5EF4-FFF2-40B4-BE49-F238E27FC236}">
                <a16:creationId xmlns:a16="http://schemas.microsoft.com/office/drawing/2014/main" id="{783C66FC-B382-3EFC-12BF-897A146E96E6}"/>
              </a:ext>
            </a:extLst>
          </p:cNvPr>
          <p:cNvSpPr/>
          <p:nvPr/>
        </p:nvSpPr>
        <p:spPr>
          <a:xfrm>
            <a:off x="736600" y="6159500"/>
            <a:ext cx="228600" cy="228600"/>
          </a:xfrm>
          <a:prstGeom prst="ellipse">
            <a:avLst/>
          </a:prstGeom>
          <a:noFill/>
          <a:ln w="19050" cap="flat" cmpd="sng" algn="ctr">
            <a:solidFill>
              <a:srgbClr val="30241E"/>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Connector 17">
            <a:extLst>
              <a:ext uri="{FF2B5EF4-FFF2-40B4-BE49-F238E27FC236}">
                <a16:creationId xmlns:a16="http://schemas.microsoft.com/office/drawing/2014/main" id="{571A3B23-785C-EA30-26A6-A93B59E636DD}"/>
              </a:ext>
            </a:extLst>
          </p:cNvPr>
          <p:cNvCxnSpPr/>
          <p:nvPr/>
        </p:nvCxnSpPr>
        <p:spPr>
          <a:xfrm>
            <a:off x="850900" y="6388100"/>
            <a:ext cx="0" cy="4318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17C6C27-2A95-6C60-27EE-B6F8B96A2EC8}"/>
              </a:ext>
            </a:extLst>
          </p:cNvPr>
          <p:cNvCxnSpPr/>
          <p:nvPr/>
        </p:nvCxnSpPr>
        <p:spPr>
          <a:xfrm>
            <a:off x="635000" y="6540500"/>
            <a:ext cx="431800" cy="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D523E1C-6721-3C1E-EF81-8D9E6A6D6D1D}"/>
              </a:ext>
            </a:extLst>
          </p:cNvPr>
          <p:cNvCxnSpPr/>
          <p:nvPr/>
        </p:nvCxnSpPr>
        <p:spPr>
          <a:xfrm flipH="1">
            <a:off x="635000" y="68199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ED7696A-BCC3-B5CB-42B6-07D57C91B7A0}"/>
              </a:ext>
            </a:extLst>
          </p:cNvPr>
          <p:cNvCxnSpPr/>
          <p:nvPr/>
        </p:nvCxnSpPr>
        <p:spPr>
          <a:xfrm>
            <a:off x="850900" y="68199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89B99D7-DB0D-9BD6-3FDF-9A03E638157F}"/>
              </a:ext>
            </a:extLst>
          </p:cNvPr>
          <p:cNvSpPr txBox="1"/>
          <p:nvPr/>
        </p:nvSpPr>
        <p:spPr>
          <a:xfrm>
            <a:off x="381000" y="7175500"/>
            <a:ext cx="1143000" cy="296813"/>
          </a:xfrm>
          <a:prstGeom prst="rect">
            <a:avLst/>
          </a:prstGeom>
          <a:noFill/>
        </p:spPr>
        <p:txBody>
          <a:bodyPr vert="horz" wrap="square" rtlCol="0">
            <a:spAutoFit/>
          </a:bodyPr>
          <a:lstStyle/>
          <a:p>
            <a:pPr algn="ctr">
              <a:lnSpc>
                <a:spcPct val="135000"/>
              </a:lnSpc>
              <a:spcAft>
                <a:spcPts val="600"/>
              </a:spcAft>
            </a:pPr>
            <a:r>
              <a:rPr lang="en-IN" sz="1100">
                <a:solidFill>
                  <a:srgbClr val="30241E"/>
                </a:solidFill>
                <a:latin typeface="Times New Roman" panose="02020603050405020304" pitchFamily="18" charset="0"/>
              </a:rPr>
              <a:t>Admin</a:t>
            </a:r>
          </a:p>
        </p:txBody>
      </p:sp>
      <p:sp>
        <p:nvSpPr>
          <p:cNvPr id="23" name="Rectangle: Rounded Corners 22">
            <a:extLst>
              <a:ext uri="{FF2B5EF4-FFF2-40B4-BE49-F238E27FC236}">
                <a16:creationId xmlns:a16="http://schemas.microsoft.com/office/drawing/2014/main" id="{5C15ED00-2A6B-5C57-1B2F-B7C0756EB929}"/>
              </a:ext>
            </a:extLst>
          </p:cNvPr>
          <p:cNvSpPr/>
          <p:nvPr/>
        </p:nvSpPr>
        <p:spPr>
          <a:xfrm>
            <a:off x="2222500" y="2349500"/>
            <a:ext cx="3175000" cy="8890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Times New Roman" panose="02020603050405020304" pitchFamily="18" charset="0"/>
              </a:rPr>
              <a:t>React Frontend</a:t>
            </a:r>
          </a:p>
          <a:p>
            <a:pPr algn="ctr"/>
            <a:r>
              <a:rPr lang="en-US" sz="1200">
                <a:latin typeface="Times New Roman" panose="02020603050405020304" pitchFamily="18" charset="0"/>
              </a:rPr>
              <a:t>(Login, Dashboard, Cart, Chat, AI Widget)</a:t>
            </a:r>
            <a:endParaRPr lang="en-IN" sz="1200">
              <a:latin typeface="Times New Roman" panose="02020603050405020304" pitchFamily="18" charset="0"/>
            </a:endParaRPr>
          </a:p>
        </p:txBody>
      </p:sp>
      <p:sp>
        <p:nvSpPr>
          <p:cNvPr id="24" name="Rectangle: Rounded Corners 23">
            <a:extLst>
              <a:ext uri="{FF2B5EF4-FFF2-40B4-BE49-F238E27FC236}">
                <a16:creationId xmlns:a16="http://schemas.microsoft.com/office/drawing/2014/main" id="{FB91E6DF-EA27-9424-8926-077F2AA65569}"/>
              </a:ext>
            </a:extLst>
          </p:cNvPr>
          <p:cNvSpPr/>
          <p:nvPr/>
        </p:nvSpPr>
        <p:spPr>
          <a:xfrm>
            <a:off x="2222500" y="4000500"/>
            <a:ext cx="3175000" cy="889000"/>
          </a:xfrm>
          <a:prstGeom prst="round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latin typeface="Times New Roman" panose="02020603050405020304" pitchFamily="18" charset="0"/>
              </a:rPr>
              <a:t>Express.js API Layer</a:t>
            </a:r>
          </a:p>
          <a:p>
            <a:pPr algn="ctr"/>
            <a:r>
              <a:rPr lang="en-IN" sz="1200">
                <a:latin typeface="Times New Roman" panose="02020603050405020304" pitchFamily="18" charset="0"/>
              </a:rPr>
              <a:t>(Routes, Controllers, Middleware)</a:t>
            </a:r>
          </a:p>
        </p:txBody>
      </p:sp>
      <p:sp>
        <p:nvSpPr>
          <p:cNvPr id="25" name="Rectangle: Rounded Corners 24">
            <a:extLst>
              <a:ext uri="{FF2B5EF4-FFF2-40B4-BE49-F238E27FC236}">
                <a16:creationId xmlns:a16="http://schemas.microsoft.com/office/drawing/2014/main" id="{6170FEA6-6CBE-A898-13BF-2BF0D35367E3}"/>
              </a:ext>
            </a:extLst>
          </p:cNvPr>
          <p:cNvSpPr/>
          <p:nvPr/>
        </p:nvSpPr>
        <p:spPr>
          <a:xfrm>
            <a:off x="2222500" y="5651500"/>
            <a:ext cx="3175000" cy="711200"/>
          </a:xfrm>
          <a:prstGeom prst="round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Times New Roman" panose="02020603050405020304" pitchFamily="18" charset="0"/>
              </a:rPr>
              <a:t>Socket.IO Layer</a:t>
            </a:r>
          </a:p>
          <a:p>
            <a:pPr algn="ctr"/>
            <a:r>
              <a:rPr lang="en-US" sz="1200">
                <a:latin typeface="Times New Roman" panose="02020603050405020304" pitchFamily="18" charset="0"/>
              </a:rPr>
              <a:t>(Real-time Chat Events)</a:t>
            </a:r>
            <a:endParaRPr lang="en-IN" sz="1200">
              <a:latin typeface="Times New Roman" panose="02020603050405020304" pitchFamily="18" charset="0"/>
            </a:endParaRPr>
          </a:p>
        </p:txBody>
      </p:sp>
      <p:sp>
        <p:nvSpPr>
          <p:cNvPr id="26" name="Rectangle: Rounded Corners 25">
            <a:extLst>
              <a:ext uri="{FF2B5EF4-FFF2-40B4-BE49-F238E27FC236}">
                <a16:creationId xmlns:a16="http://schemas.microsoft.com/office/drawing/2014/main" id="{6E51B7C7-4D44-66BA-8D1F-7A21191A8D2B}"/>
              </a:ext>
            </a:extLst>
          </p:cNvPr>
          <p:cNvSpPr/>
          <p:nvPr/>
        </p:nvSpPr>
        <p:spPr>
          <a:xfrm>
            <a:off x="1905000" y="7112000"/>
            <a:ext cx="3810000" cy="1066800"/>
          </a:xfrm>
          <a:prstGeom prst="roundRect">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latin typeface="Times New Roman" panose="02020603050405020304" pitchFamily="18" charset="0"/>
              </a:rPr>
              <a:t>MongoDB Database</a:t>
            </a:r>
          </a:p>
          <a:p>
            <a:pPr algn="ctr"/>
            <a:r>
              <a:rPr lang="en-IN" sz="1200">
                <a:latin typeface="Times New Roman" panose="02020603050405020304" pitchFamily="18" charset="0"/>
              </a:rPr>
              <a:t>(Users, Patients, Appointments, Orders, Messages, Notifications)</a:t>
            </a:r>
          </a:p>
        </p:txBody>
      </p:sp>
      <p:cxnSp>
        <p:nvCxnSpPr>
          <p:cNvPr id="27" name="Straight Connector 26">
            <a:extLst>
              <a:ext uri="{FF2B5EF4-FFF2-40B4-BE49-F238E27FC236}">
                <a16:creationId xmlns:a16="http://schemas.microsoft.com/office/drawing/2014/main" id="{4F9F1BBA-19F2-9E11-7586-3233DB901F16}"/>
              </a:ext>
            </a:extLst>
          </p:cNvPr>
          <p:cNvCxnSpPr/>
          <p:nvPr/>
        </p:nvCxnSpPr>
        <p:spPr>
          <a:xfrm>
            <a:off x="1206500" y="2794000"/>
            <a:ext cx="1016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AFE30E4-540F-1A6C-27B6-683DFC0CF609}"/>
              </a:ext>
            </a:extLst>
          </p:cNvPr>
          <p:cNvCxnSpPr/>
          <p:nvPr/>
        </p:nvCxnSpPr>
        <p:spPr>
          <a:xfrm flipV="1">
            <a:off x="1206500" y="2794000"/>
            <a:ext cx="1016000" cy="1968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D0033B2-071F-8BC7-D4E1-4A69A8C9E1AB}"/>
              </a:ext>
            </a:extLst>
          </p:cNvPr>
          <p:cNvCxnSpPr/>
          <p:nvPr/>
        </p:nvCxnSpPr>
        <p:spPr>
          <a:xfrm flipV="1">
            <a:off x="1206500" y="2794000"/>
            <a:ext cx="1016000" cy="39370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E8515B90-8074-86BB-F1C4-C6A27D8D31A3}"/>
              </a:ext>
            </a:extLst>
          </p:cNvPr>
          <p:cNvCxnSpPr/>
          <p:nvPr/>
        </p:nvCxnSpPr>
        <p:spPr>
          <a:xfrm>
            <a:off x="3810000" y="3238500"/>
            <a:ext cx="0" cy="7620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DCA649C-FDEC-8432-1E7E-7EF39E0BD295}"/>
              </a:ext>
            </a:extLst>
          </p:cNvPr>
          <p:cNvCxnSpPr/>
          <p:nvPr/>
        </p:nvCxnSpPr>
        <p:spPr>
          <a:xfrm>
            <a:off x="3810000" y="4889500"/>
            <a:ext cx="0" cy="7620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E61686F-480D-839C-BF48-65AA182442E1}"/>
              </a:ext>
            </a:extLst>
          </p:cNvPr>
          <p:cNvCxnSpPr/>
          <p:nvPr/>
        </p:nvCxnSpPr>
        <p:spPr>
          <a:xfrm>
            <a:off x="3810000" y="6362700"/>
            <a:ext cx="0" cy="7493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545A16DC-B2F8-0CA9-A9E0-3CF02913CC12}"/>
              </a:ext>
            </a:extLst>
          </p:cNvPr>
          <p:cNvCxnSpPr/>
          <p:nvPr/>
        </p:nvCxnSpPr>
        <p:spPr>
          <a:xfrm>
            <a:off x="5410200" y="4445000"/>
            <a:ext cx="11938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159AA4DB-D91A-FFE4-6EF1-813B1C44EDC9}"/>
              </a:ext>
            </a:extLst>
          </p:cNvPr>
          <p:cNvSpPr/>
          <p:nvPr/>
        </p:nvSpPr>
        <p:spPr>
          <a:xfrm>
            <a:off x="5524500" y="4000500"/>
            <a:ext cx="1397000" cy="914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a:latin typeface="Times New Roman" panose="02020603050405020304" pitchFamily="18" charset="0"/>
              </a:rPr>
              <a:t>External Services</a:t>
            </a:r>
          </a:p>
          <a:p>
            <a:pPr algn="ctr"/>
            <a:r>
              <a:rPr lang="fr-FR" sz="1000">
                <a:latin typeface="Times New Roman" panose="02020603050405020304" pitchFamily="18" charset="0"/>
              </a:rPr>
              <a:t>(OTP Email, Map Tiles, Groq AI)</a:t>
            </a:r>
            <a:endParaRPr lang="en-IN" sz="1000">
              <a:latin typeface="Times New Roman" panose="02020603050405020304" pitchFamily="18" charset="0"/>
            </a:endParaRPr>
          </a:p>
        </p:txBody>
      </p:sp>
      <p:sp>
        <p:nvSpPr>
          <p:cNvPr id="35" name="TextBox 34">
            <a:extLst>
              <a:ext uri="{FF2B5EF4-FFF2-40B4-BE49-F238E27FC236}">
                <a16:creationId xmlns:a16="http://schemas.microsoft.com/office/drawing/2014/main" id="{4F7F4D59-B50D-17FC-FFBA-3A427B9B5B09}"/>
              </a:ext>
            </a:extLst>
          </p:cNvPr>
          <p:cNvSpPr txBox="1"/>
          <p:nvPr/>
        </p:nvSpPr>
        <p:spPr>
          <a:xfrm>
            <a:off x="762000" y="9575800"/>
            <a:ext cx="5969000" cy="485967"/>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1. Layered architecture showing users, frontend, API, real-time communication, database, and external services.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7718567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2C0DFB-E640-AA3E-122B-9183646E5C5A}"/>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4B. MODULE DESIGN</a:t>
            </a:r>
          </a:p>
        </p:txBody>
      </p:sp>
      <p:sp>
        <p:nvSpPr>
          <p:cNvPr id="3" name="Rectangle 2">
            <a:extLst>
              <a:ext uri="{FF2B5EF4-FFF2-40B4-BE49-F238E27FC236}">
                <a16:creationId xmlns:a16="http://schemas.microsoft.com/office/drawing/2014/main" id="{AB6B0636-20DA-CBF2-D719-A6513D629BCA}"/>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DCE44C2-62AC-28C7-742E-109A35E095C7}"/>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34</a:t>
            </a:r>
          </a:p>
        </p:txBody>
      </p:sp>
      <p:sp>
        <p:nvSpPr>
          <p:cNvPr id="5" name="Rectangle: Rounded Corners 4">
            <a:extLst>
              <a:ext uri="{FF2B5EF4-FFF2-40B4-BE49-F238E27FC236}">
                <a16:creationId xmlns:a16="http://schemas.microsoft.com/office/drawing/2014/main" id="{F0311718-6B50-D6C1-1D5A-CFA332232411}"/>
              </a:ext>
            </a:extLst>
          </p:cNvPr>
          <p:cNvSpPr/>
          <p:nvPr/>
        </p:nvSpPr>
        <p:spPr>
          <a:xfrm>
            <a:off x="2286000" y="1778000"/>
            <a:ext cx="2794000" cy="635000"/>
          </a:xfrm>
          <a:prstGeom prst="roundRect">
            <a:avLst/>
          </a:prstGeom>
          <a:solidFill>
            <a:srgbClr val="0A6BA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latin typeface="Times New Roman" panose="02020603050405020304" pitchFamily="18" charset="0"/>
              </a:rPr>
              <a:t>Smart Hospital Management System</a:t>
            </a:r>
          </a:p>
        </p:txBody>
      </p:sp>
      <p:sp>
        <p:nvSpPr>
          <p:cNvPr id="6" name="Rectangle: Rounded Corners 5">
            <a:extLst>
              <a:ext uri="{FF2B5EF4-FFF2-40B4-BE49-F238E27FC236}">
                <a16:creationId xmlns:a16="http://schemas.microsoft.com/office/drawing/2014/main" id="{96BA82BF-15E1-F745-EF40-11E905E9DC1C}"/>
              </a:ext>
            </a:extLst>
          </p:cNvPr>
          <p:cNvSpPr/>
          <p:nvPr/>
        </p:nvSpPr>
        <p:spPr>
          <a:xfrm>
            <a:off x="825500" y="3175000"/>
            <a:ext cx="1905000" cy="6604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Authentication and OTP</a:t>
            </a:r>
          </a:p>
        </p:txBody>
      </p:sp>
      <p:sp>
        <p:nvSpPr>
          <p:cNvPr id="7" name="Rectangle: Rounded Corners 6">
            <a:extLst>
              <a:ext uri="{FF2B5EF4-FFF2-40B4-BE49-F238E27FC236}">
                <a16:creationId xmlns:a16="http://schemas.microsoft.com/office/drawing/2014/main" id="{BFFB5C04-6EC6-281A-3CA7-39822FBE820B}"/>
              </a:ext>
            </a:extLst>
          </p:cNvPr>
          <p:cNvSpPr/>
          <p:nvPr/>
        </p:nvSpPr>
        <p:spPr>
          <a:xfrm>
            <a:off x="3111500" y="3175000"/>
            <a:ext cx="1397000" cy="660400"/>
          </a:xfrm>
          <a:prstGeom prst="round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Patient Records</a:t>
            </a:r>
          </a:p>
        </p:txBody>
      </p:sp>
      <p:sp>
        <p:nvSpPr>
          <p:cNvPr id="8" name="Rectangle: Rounded Corners 7">
            <a:extLst>
              <a:ext uri="{FF2B5EF4-FFF2-40B4-BE49-F238E27FC236}">
                <a16:creationId xmlns:a16="http://schemas.microsoft.com/office/drawing/2014/main" id="{4A57EB27-C79C-4558-BCDA-4591EA3861E5}"/>
              </a:ext>
            </a:extLst>
          </p:cNvPr>
          <p:cNvSpPr/>
          <p:nvPr/>
        </p:nvSpPr>
        <p:spPr>
          <a:xfrm>
            <a:off x="4953000" y="3175000"/>
            <a:ext cx="1841500" cy="660400"/>
          </a:xfrm>
          <a:prstGeom prst="round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Appointments and E-Prescription</a:t>
            </a:r>
          </a:p>
        </p:txBody>
      </p:sp>
      <p:sp>
        <p:nvSpPr>
          <p:cNvPr id="9" name="Rectangle: Rounded Corners 8">
            <a:extLst>
              <a:ext uri="{FF2B5EF4-FFF2-40B4-BE49-F238E27FC236}">
                <a16:creationId xmlns:a16="http://schemas.microsoft.com/office/drawing/2014/main" id="{9D894179-7055-B036-7119-1B1555585147}"/>
              </a:ext>
            </a:extLst>
          </p:cNvPr>
          <p:cNvSpPr/>
          <p:nvPr/>
        </p:nvSpPr>
        <p:spPr>
          <a:xfrm>
            <a:off x="825500" y="4953000"/>
            <a:ext cx="1905000" cy="660400"/>
          </a:xfrm>
          <a:prstGeom prst="round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Medical Store and Cart</a:t>
            </a:r>
          </a:p>
        </p:txBody>
      </p:sp>
      <p:sp>
        <p:nvSpPr>
          <p:cNvPr id="10" name="Rectangle: Rounded Corners 9">
            <a:extLst>
              <a:ext uri="{FF2B5EF4-FFF2-40B4-BE49-F238E27FC236}">
                <a16:creationId xmlns:a16="http://schemas.microsoft.com/office/drawing/2014/main" id="{72D1D5D3-2CE4-94EC-ABCF-FB8B38AD2EBA}"/>
              </a:ext>
            </a:extLst>
          </p:cNvPr>
          <p:cNvSpPr/>
          <p:nvPr/>
        </p:nvSpPr>
        <p:spPr>
          <a:xfrm>
            <a:off x="3111500" y="4953000"/>
            <a:ext cx="1397000" cy="6604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Uploads and Reports</a:t>
            </a:r>
          </a:p>
        </p:txBody>
      </p:sp>
      <p:sp>
        <p:nvSpPr>
          <p:cNvPr id="11" name="Rectangle: Rounded Corners 10">
            <a:extLst>
              <a:ext uri="{FF2B5EF4-FFF2-40B4-BE49-F238E27FC236}">
                <a16:creationId xmlns:a16="http://schemas.microsoft.com/office/drawing/2014/main" id="{2F45C74D-4624-8C20-3EDC-35FE8CFF289C}"/>
              </a:ext>
            </a:extLst>
          </p:cNvPr>
          <p:cNvSpPr/>
          <p:nvPr/>
        </p:nvSpPr>
        <p:spPr>
          <a:xfrm>
            <a:off x="4953000" y="4953000"/>
            <a:ext cx="1841500" cy="660400"/>
          </a:xfrm>
          <a:prstGeom prst="round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Chat and Notifications</a:t>
            </a:r>
          </a:p>
        </p:txBody>
      </p:sp>
      <p:sp>
        <p:nvSpPr>
          <p:cNvPr id="12" name="Rectangle: Rounded Corners 11">
            <a:extLst>
              <a:ext uri="{FF2B5EF4-FFF2-40B4-BE49-F238E27FC236}">
                <a16:creationId xmlns:a16="http://schemas.microsoft.com/office/drawing/2014/main" id="{33AE21E5-96E1-F392-69DA-E37AACC4FC05}"/>
              </a:ext>
            </a:extLst>
          </p:cNvPr>
          <p:cNvSpPr/>
          <p:nvPr/>
        </p:nvSpPr>
        <p:spPr>
          <a:xfrm>
            <a:off x="1651000" y="6731000"/>
            <a:ext cx="1524000" cy="635000"/>
          </a:xfrm>
          <a:prstGeom prst="roundRect">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Search and Filter</a:t>
            </a:r>
          </a:p>
        </p:txBody>
      </p:sp>
      <p:sp>
        <p:nvSpPr>
          <p:cNvPr id="13" name="Rectangle: Rounded Corners 12">
            <a:extLst>
              <a:ext uri="{FF2B5EF4-FFF2-40B4-BE49-F238E27FC236}">
                <a16:creationId xmlns:a16="http://schemas.microsoft.com/office/drawing/2014/main" id="{BB4D7506-99CF-3997-D0AB-9F4020490E53}"/>
              </a:ext>
            </a:extLst>
          </p:cNvPr>
          <p:cNvSpPr/>
          <p:nvPr/>
        </p:nvSpPr>
        <p:spPr>
          <a:xfrm>
            <a:off x="4254500" y="6731000"/>
            <a:ext cx="1778000" cy="635000"/>
          </a:xfrm>
          <a:prstGeom prst="round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Map and AI Assistant</a:t>
            </a:r>
          </a:p>
        </p:txBody>
      </p:sp>
      <p:cxnSp>
        <p:nvCxnSpPr>
          <p:cNvPr id="14" name="Straight Connector 13">
            <a:extLst>
              <a:ext uri="{FF2B5EF4-FFF2-40B4-BE49-F238E27FC236}">
                <a16:creationId xmlns:a16="http://schemas.microsoft.com/office/drawing/2014/main" id="{866820B9-6ECD-DCC0-01FD-2F23C3AE9FD1}"/>
              </a:ext>
            </a:extLst>
          </p:cNvPr>
          <p:cNvCxnSpPr/>
          <p:nvPr/>
        </p:nvCxnSpPr>
        <p:spPr>
          <a:xfrm flipH="1">
            <a:off x="1778000" y="2413000"/>
            <a:ext cx="1905000" cy="762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1610349-047D-442D-6CC6-8EC9D06703CC}"/>
              </a:ext>
            </a:extLst>
          </p:cNvPr>
          <p:cNvCxnSpPr/>
          <p:nvPr/>
        </p:nvCxnSpPr>
        <p:spPr>
          <a:xfrm>
            <a:off x="3683000" y="2413000"/>
            <a:ext cx="127000" cy="762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B187C11-1C28-CC85-5D76-F6B8421FC226}"/>
              </a:ext>
            </a:extLst>
          </p:cNvPr>
          <p:cNvCxnSpPr/>
          <p:nvPr/>
        </p:nvCxnSpPr>
        <p:spPr>
          <a:xfrm>
            <a:off x="3683000" y="2413000"/>
            <a:ext cx="2184400" cy="762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00D37D1-9799-5110-EFCF-49EA084821E5}"/>
              </a:ext>
            </a:extLst>
          </p:cNvPr>
          <p:cNvCxnSpPr/>
          <p:nvPr/>
        </p:nvCxnSpPr>
        <p:spPr>
          <a:xfrm flipH="1">
            <a:off x="1778000" y="2413000"/>
            <a:ext cx="1905000" cy="2540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E9A4AFD-26A8-6715-64E6-51E78D82D4E1}"/>
              </a:ext>
            </a:extLst>
          </p:cNvPr>
          <p:cNvCxnSpPr/>
          <p:nvPr/>
        </p:nvCxnSpPr>
        <p:spPr>
          <a:xfrm>
            <a:off x="3683000" y="2413000"/>
            <a:ext cx="127000" cy="2540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41354BF-9198-5D8D-94CE-8F4FAE90AADE}"/>
              </a:ext>
            </a:extLst>
          </p:cNvPr>
          <p:cNvCxnSpPr/>
          <p:nvPr/>
        </p:nvCxnSpPr>
        <p:spPr>
          <a:xfrm>
            <a:off x="3683000" y="2413000"/>
            <a:ext cx="2184400" cy="2540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FE716A1-B9E9-FFCE-2A1A-D6576D9F2268}"/>
              </a:ext>
            </a:extLst>
          </p:cNvPr>
          <p:cNvCxnSpPr/>
          <p:nvPr/>
        </p:nvCxnSpPr>
        <p:spPr>
          <a:xfrm flipH="1">
            <a:off x="2413000" y="2413000"/>
            <a:ext cx="1270000" cy="4318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14A0B60-3979-F20F-1774-6AE7A1A5550B}"/>
              </a:ext>
            </a:extLst>
          </p:cNvPr>
          <p:cNvCxnSpPr/>
          <p:nvPr/>
        </p:nvCxnSpPr>
        <p:spPr>
          <a:xfrm>
            <a:off x="3683000" y="2413000"/>
            <a:ext cx="1460500" cy="4318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A4EEBD45-04DE-22D9-6D0A-6158FC70A8BE}"/>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2. Module-level decomposition of the proposed system.</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2680045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7BB344-DA59-DC14-9EAB-3BD75F434D18}"/>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4C. DATA FLOW DIAGRAM LEVEL 0</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B4CDD808-1768-F4D4-78D8-808D412E584C}"/>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7AF367F-9169-5CB3-E06B-7694485CE5BA}"/>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35</a:t>
            </a:r>
          </a:p>
        </p:txBody>
      </p:sp>
      <p:sp>
        <p:nvSpPr>
          <p:cNvPr id="5" name="Rectangle 4">
            <a:extLst>
              <a:ext uri="{FF2B5EF4-FFF2-40B4-BE49-F238E27FC236}">
                <a16:creationId xmlns:a16="http://schemas.microsoft.com/office/drawing/2014/main" id="{68D77C1F-45D0-831A-1D2A-5C5D0D3FC931}"/>
              </a:ext>
            </a:extLst>
          </p:cNvPr>
          <p:cNvSpPr/>
          <p:nvPr/>
        </p:nvSpPr>
        <p:spPr>
          <a:xfrm>
            <a:off x="571500" y="3429000"/>
            <a:ext cx="1143000" cy="558800"/>
          </a:xfrm>
          <a:prstGeom prst="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Patient</a:t>
            </a:r>
          </a:p>
        </p:txBody>
      </p:sp>
      <p:sp>
        <p:nvSpPr>
          <p:cNvPr id="6" name="Rectangle 5">
            <a:extLst>
              <a:ext uri="{FF2B5EF4-FFF2-40B4-BE49-F238E27FC236}">
                <a16:creationId xmlns:a16="http://schemas.microsoft.com/office/drawing/2014/main" id="{6B39160E-2700-6993-B9AC-DDAC36DE8FD8}"/>
              </a:ext>
            </a:extLst>
          </p:cNvPr>
          <p:cNvSpPr/>
          <p:nvPr/>
        </p:nvSpPr>
        <p:spPr>
          <a:xfrm>
            <a:off x="571500" y="5461000"/>
            <a:ext cx="1143000" cy="558800"/>
          </a:xfrm>
          <a:prstGeom prst="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Doctor</a:t>
            </a:r>
          </a:p>
        </p:txBody>
      </p:sp>
      <p:sp>
        <p:nvSpPr>
          <p:cNvPr id="7" name="Rectangle 6">
            <a:extLst>
              <a:ext uri="{FF2B5EF4-FFF2-40B4-BE49-F238E27FC236}">
                <a16:creationId xmlns:a16="http://schemas.microsoft.com/office/drawing/2014/main" id="{B3149905-2FE7-9457-60EC-01C2E8DAF359}"/>
              </a:ext>
            </a:extLst>
          </p:cNvPr>
          <p:cNvSpPr/>
          <p:nvPr/>
        </p:nvSpPr>
        <p:spPr>
          <a:xfrm>
            <a:off x="5842000" y="4445000"/>
            <a:ext cx="1143000" cy="5588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Admin</a:t>
            </a:r>
          </a:p>
        </p:txBody>
      </p:sp>
      <p:sp>
        <p:nvSpPr>
          <p:cNvPr id="8" name="Rectangle: Rounded Corners 7">
            <a:extLst>
              <a:ext uri="{FF2B5EF4-FFF2-40B4-BE49-F238E27FC236}">
                <a16:creationId xmlns:a16="http://schemas.microsoft.com/office/drawing/2014/main" id="{85868D4D-4F80-E52C-E956-BEA2FF33B2A1}"/>
              </a:ext>
            </a:extLst>
          </p:cNvPr>
          <p:cNvSpPr/>
          <p:nvPr/>
        </p:nvSpPr>
        <p:spPr>
          <a:xfrm>
            <a:off x="2476500" y="4191000"/>
            <a:ext cx="2540000" cy="990600"/>
          </a:xfrm>
          <a:prstGeom prst="roundRect">
            <a:avLst/>
          </a:prstGeom>
          <a:solidFill>
            <a:srgbClr val="0A6BA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300">
                <a:latin typeface="Times New Roman" panose="02020603050405020304" pitchFamily="18" charset="0"/>
              </a:rPr>
              <a:t>0. Smart Hospital Management System</a:t>
            </a:r>
          </a:p>
        </p:txBody>
      </p:sp>
      <p:cxnSp>
        <p:nvCxnSpPr>
          <p:cNvPr id="9" name="Straight Connector 8">
            <a:extLst>
              <a:ext uri="{FF2B5EF4-FFF2-40B4-BE49-F238E27FC236}">
                <a16:creationId xmlns:a16="http://schemas.microsoft.com/office/drawing/2014/main" id="{51733D81-8A66-687B-148D-FCEFF397A02F}"/>
              </a:ext>
            </a:extLst>
          </p:cNvPr>
          <p:cNvCxnSpPr/>
          <p:nvPr/>
        </p:nvCxnSpPr>
        <p:spPr>
          <a:xfrm>
            <a:off x="1714500" y="3708400"/>
            <a:ext cx="762000" cy="7620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8E045D0-5947-5592-0DDA-AC357046D321}"/>
              </a:ext>
            </a:extLst>
          </p:cNvPr>
          <p:cNvCxnSpPr/>
          <p:nvPr/>
        </p:nvCxnSpPr>
        <p:spPr>
          <a:xfrm flipH="1" flipV="1">
            <a:off x="1714500" y="3708400"/>
            <a:ext cx="762000" cy="11684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8D6FDF8-11F3-0B48-64B1-66D6D687AD9D}"/>
              </a:ext>
            </a:extLst>
          </p:cNvPr>
          <p:cNvCxnSpPr/>
          <p:nvPr/>
        </p:nvCxnSpPr>
        <p:spPr>
          <a:xfrm flipV="1">
            <a:off x="1714500" y="4953000"/>
            <a:ext cx="762000" cy="7874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B9DC187-CF06-4B71-A104-480E182F9CBF}"/>
              </a:ext>
            </a:extLst>
          </p:cNvPr>
          <p:cNvCxnSpPr/>
          <p:nvPr/>
        </p:nvCxnSpPr>
        <p:spPr>
          <a:xfrm>
            <a:off x="5016500" y="4699000"/>
            <a:ext cx="8255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1D6AF7A-4720-46A1-20D8-96C8F1527327}"/>
              </a:ext>
            </a:extLst>
          </p:cNvPr>
          <p:cNvCxnSpPr/>
          <p:nvPr/>
        </p:nvCxnSpPr>
        <p:spPr>
          <a:xfrm flipH="1">
            <a:off x="5016500" y="4978400"/>
            <a:ext cx="8255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D659B485-4AF2-7B60-F2A2-98B45960B750}"/>
              </a:ext>
            </a:extLst>
          </p:cNvPr>
          <p:cNvSpPr txBox="1"/>
          <p:nvPr/>
        </p:nvSpPr>
        <p:spPr>
          <a:xfrm>
            <a:off x="1524000" y="4000500"/>
            <a:ext cx="1079500" cy="446597"/>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register, login, view status</a:t>
            </a:r>
          </a:p>
        </p:txBody>
      </p:sp>
      <p:sp>
        <p:nvSpPr>
          <p:cNvPr id="15" name="TextBox 14">
            <a:extLst>
              <a:ext uri="{FF2B5EF4-FFF2-40B4-BE49-F238E27FC236}">
                <a16:creationId xmlns:a16="http://schemas.microsoft.com/office/drawing/2014/main" id="{A58A892F-9823-DF88-8B87-6D42DD59ACE3}"/>
              </a:ext>
            </a:extLst>
          </p:cNvPr>
          <p:cNvSpPr txBox="1"/>
          <p:nvPr/>
        </p:nvSpPr>
        <p:spPr>
          <a:xfrm>
            <a:off x="1524000" y="5207000"/>
            <a:ext cx="1079500" cy="446597"/>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appointments, reports</a:t>
            </a:r>
          </a:p>
        </p:txBody>
      </p:sp>
      <p:sp>
        <p:nvSpPr>
          <p:cNvPr id="16" name="TextBox 15">
            <a:extLst>
              <a:ext uri="{FF2B5EF4-FFF2-40B4-BE49-F238E27FC236}">
                <a16:creationId xmlns:a16="http://schemas.microsoft.com/office/drawing/2014/main" id="{C6A3DD79-C5E7-16CD-CD80-04D1ADB3670C}"/>
              </a:ext>
            </a:extLst>
          </p:cNvPr>
          <p:cNvSpPr txBox="1"/>
          <p:nvPr/>
        </p:nvSpPr>
        <p:spPr>
          <a:xfrm>
            <a:off x="5080000" y="4127500"/>
            <a:ext cx="1206500" cy="446597"/>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manage records and orders</a:t>
            </a:r>
          </a:p>
        </p:txBody>
      </p:sp>
      <p:sp>
        <p:nvSpPr>
          <p:cNvPr id="17" name="TextBox 16">
            <a:extLst>
              <a:ext uri="{FF2B5EF4-FFF2-40B4-BE49-F238E27FC236}">
                <a16:creationId xmlns:a16="http://schemas.microsoft.com/office/drawing/2014/main" id="{ABEA5FEB-5AC1-61D3-F273-DA08C5DDF072}"/>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3. Level 0 DFD showing the system as one high-level process connected to major actors.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9726533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FBD4B8-F2AD-A609-4C24-A4B2FD2E0E85}"/>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4D. DATA FLOW DIAGRAM LEVEL 1 - PATIENT</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A0EF1AA5-4562-7696-F224-8E013BC39233}"/>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41F0570-7A15-C971-C748-CDFB114785FF}"/>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36</a:t>
            </a:r>
          </a:p>
        </p:txBody>
      </p:sp>
      <p:sp>
        <p:nvSpPr>
          <p:cNvPr id="5" name="Rectangle 4">
            <a:extLst>
              <a:ext uri="{FF2B5EF4-FFF2-40B4-BE49-F238E27FC236}">
                <a16:creationId xmlns:a16="http://schemas.microsoft.com/office/drawing/2014/main" id="{8C697ABC-1079-C8BC-3742-D43E05A117C6}"/>
              </a:ext>
            </a:extLst>
          </p:cNvPr>
          <p:cNvSpPr/>
          <p:nvPr/>
        </p:nvSpPr>
        <p:spPr>
          <a:xfrm>
            <a:off x="381000" y="4572000"/>
            <a:ext cx="1016000" cy="533400"/>
          </a:xfrm>
          <a:prstGeom prst="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Patient</a:t>
            </a:r>
          </a:p>
        </p:txBody>
      </p:sp>
      <p:sp>
        <p:nvSpPr>
          <p:cNvPr id="6" name="Rectangle: Rounded Corners 5">
            <a:extLst>
              <a:ext uri="{FF2B5EF4-FFF2-40B4-BE49-F238E27FC236}">
                <a16:creationId xmlns:a16="http://schemas.microsoft.com/office/drawing/2014/main" id="{BA88699A-8D14-D52F-EBBF-6EDEEA4370D8}"/>
              </a:ext>
            </a:extLst>
          </p:cNvPr>
          <p:cNvSpPr/>
          <p:nvPr/>
        </p:nvSpPr>
        <p:spPr>
          <a:xfrm>
            <a:off x="1778000" y="1778000"/>
            <a:ext cx="1524000" cy="5588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1.1 Register / Login</a:t>
            </a:r>
          </a:p>
        </p:txBody>
      </p:sp>
      <p:sp>
        <p:nvSpPr>
          <p:cNvPr id="7" name="Rectangle: Rounded Corners 6">
            <a:extLst>
              <a:ext uri="{FF2B5EF4-FFF2-40B4-BE49-F238E27FC236}">
                <a16:creationId xmlns:a16="http://schemas.microsoft.com/office/drawing/2014/main" id="{BCF7D315-F620-51F4-9CBE-511B4FF6BE71}"/>
              </a:ext>
            </a:extLst>
          </p:cNvPr>
          <p:cNvSpPr/>
          <p:nvPr/>
        </p:nvSpPr>
        <p:spPr>
          <a:xfrm>
            <a:off x="1778000" y="3175000"/>
            <a:ext cx="1524000" cy="660400"/>
          </a:xfrm>
          <a:prstGeom prst="round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1.2 Manage Profile and Reports</a:t>
            </a:r>
            <a:endParaRPr lang="en-IN" sz="1100">
              <a:latin typeface="Times New Roman" panose="02020603050405020304" pitchFamily="18" charset="0"/>
            </a:endParaRPr>
          </a:p>
        </p:txBody>
      </p:sp>
      <p:sp>
        <p:nvSpPr>
          <p:cNvPr id="8" name="Rectangle: Rounded Corners 7">
            <a:extLst>
              <a:ext uri="{FF2B5EF4-FFF2-40B4-BE49-F238E27FC236}">
                <a16:creationId xmlns:a16="http://schemas.microsoft.com/office/drawing/2014/main" id="{96E7E7E0-A8E9-7660-D11D-9338F26C310E}"/>
              </a:ext>
            </a:extLst>
          </p:cNvPr>
          <p:cNvSpPr/>
          <p:nvPr/>
        </p:nvSpPr>
        <p:spPr>
          <a:xfrm>
            <a:off x="1778000" y="4699000"/>
            <a:ext cx="1524000" cy="660400"/>
          </a:xfrm>
          <a:prstGeom prst="round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1.3 Book and View Appointments</a:t>
            </a:r>
            <a:endParaRPr lang="en-IN" sz="1100">
              <a:latin typeface="Times New Roman" panose="02020603050405020304" pitchFamily="18" charset="0"/>
            </a:endParaRPr>
          </a:p>
        </p:txBody>
      </p:sp>
      <p:sp>
        <p:nvSpPr>
          <p:cNvPr id="9" name="Rectangle: Rounded Corners 8">
            <a:extLst>
              <a:ext uri="{FF2B5EF4-FFF2-40B4-BE49-F238E27FC236}">
                <a16:creationId xmlns:a16="http://schemas.microsoft.com/office/drawing/2014/main" id="{307697B3-7EBA-6C65-7D18-F11697EAFE61}"/>
              </a:ext>
            </a:extLst>
          </p:cNvPr>
          <p:cNvSpPr/>
          <p:nvPr/>
        </p:nvSpPr>
        <p:spPr>
          <a:xfrm>
            <a:off x="1778000" y="6286500"/>
            <a:ext cx="1524000" cy="660400"/>
          </a:xfrm>
          <a:prstGeom prst="roundRect">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1.4 Cart and Place Order</a:t>
            </a:r>
            <a:endParaRPr lang="en-IN" sz="1100">
              <a:latin typeface="Times New Roman" panose="02020603050405020304" pitchFamily="18" charset="0"/>
            </a:endParaRPr>
          </a:p>
        </p:txBody>
      </p:sp>
      <p:sp>
        <p:nvSpPr>
          <p:cNvPr id="10" name="Rectangle 9">
            <a:extLst>
              <a:ext uri="{FF2B5EF4-FFF2-40B4-BE49-F238E27FC236}">
                <a16:creationId xmlns:a16="http://schemas.microsoft.com/office/drawing/2014/main" id="{D7A08AD1-4528-AA0C-25A8-0B06132DFCD8}"/>
              </a:ext>
            </a:extLst>
          </p:cNvPr>
          <p:cNvSpPr/>
          <p:nvPr/>
        </p:nvSpPr>
        <p:spPr>
          <a:xfrm>
            <a:off x="4572000" y="1778000"/>
            <a:ext cx="1397000" cy="533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D1 Users</a:t>
            </a:r>
          </a:p>
        </p:txBody>
      </p:sp>
      <p:sp>
        <p:nvSpPr>
          <p:cNvPr id="11" name="Rectangle 10">
            <a:extLst>
              <a:ext uri="{FF2B5EF4-FFF2-40B4-BE49-F238E27FC236}">
                <a16:creationId xmlns:a16="http://schemas.microsoft.com/office/drawing/2014/main" id="{D081A54B-1AB9-19EB-B097-3266F56811FF}"/>
              </a:ext>
            </a:extLst>
          </p:cNvPr>
          <p:cNvSpPr/>
          <p:nvPr/>
        </p:nvSpPr>
        <p:spPr>
          <a:xfrm>
            <a:off x="4572000" y="3175000"/>
            <a:ext cx="1397000" cy="533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D2 Patients</a:t>
            </a:r>
          </a:p>
        </p:txBody>
      </p:sp>
      <p:sp>
        <p:nvSpPr>
          <p:cNvPr id="12" name="Rectangle 11">
            <a:extLst>
              <a:ext uri="{FF2B5EF4-FFF2-40B4-BE49-F238E27FC236}">
                <a16:creationId xmlns:a16="http://schemas.microsoft.com/office/drawing/2014/main" id="{8D875989-4783-F8DC-8753-046982AD28C2}"/>
              </a:ext>
            </a:extLst>
          </p:cNvPr>
          <p:cNvSpPr/>
          <p:nvPr/>
        </p:nvSpPr>
        <p:spPr>
          <a:xfrm>
            <a:off x="4572000" y="4699000"/>
            <a:ext cx="1397000" cy="533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D3 Appointments</a:t>
            </a:r>
          </a:p>
        </p:txBody>
      </p:sp>
      <p:sp>
        <p:nvSpPr>
          <p:cNvPr id="13" name="Rectangle 12">
            <a:extLst>
              <a:ext uri="{FF2B5EF4-FFF2-40B4-BE49-F238E27FC236}">
                <a16:creationId xmlns:a16="http://schemas.microsoft.com/office/drawing/2014/main" id="{FF3F182B-0E14-89B8-BF5E-BA40BCC16CA6}"/>
              </a:ext>
            </a:extLst>
          </p:cNvPr>
          <p:cNvSpPr/>
          <p:nvPr/>
        </p:nvSpPr>
        <p:spPr>
          <a:xfrm>
            <a:off x="4572000" y="6286500"/>
            <a:ext cx="1397000" cy="533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D4 Orders</a:t>
            </a:r>
          </a:p>
        </p:txBody>
      </p:sp>
      <p:sp>
        <p:nvSpPr>
          <p:cNvPr id="14" name="Rectangle 13">
            <a:extLst>
              <a:ext uri="{FF2B5EF4-FFF2-40B4-BE49-F238E27FC236}">
                <a16:creationId xmlns:a16="http://schemas.microsoft.com/office/drawing/2014/main" id="{6CB638E6-7B78-0577-409D-9DE576718C01}"/>
              </a:ext>
            </a:extLst>
          </p:cNvPr>
          <p:cNvSpPr/>
          <p:nvPr/>
        </p:nvSpPr>
        <p:spPr>
          <a:xfrm>
            <a:off x="4191000" y="7747000"/>
            <a:ext cx="2159000" cy="5588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D5 Notifications / Messages</a:t>
            </a:r>
          </a:p>
        </p:txBody>
      </p:sp>
      <p:cxnSp>
        <p:nvCxnSpPr>
          <p:cNvPr id="15" name="Straight Connector 14">
            <a:extLst>
              <a:ext uri="{FF2B5EF4-FFF2-40B4-BE49-F238E27FC236}">
                <a16:creationId xmlns:a16="http://schemas.microsoft.com/office/drawing/2014/main" id="{397A0914-191D-6CFF-A238-77AE8A747E80}"/>
              </a:ext>
            </a:extLst>
          </p:cNvPr>
          <p:cNvCxnSpPr/>
          <p:nvPr/>
        </p:nvCxnSpPr>
        <p:spPr>
          <a:xfrm flipV="1">
            <a:off x="1397000" y="2057400"/>
            <a:ext cx="381000" cy="27813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D61991F-752E-A04E-7ED6-976DE28B0686}"/>
              </a:ext>
            </a:extLst>
          </p:cNvPr>
          <p:cNvCxnSpPr/>
          <p:nvPr/>
        </p:nvCxnSpPr>
        <p:spPr>
          <a:xfrm flipV="1">
            <a:off x="1397000" y="3505200"/>
            <a:ext cx="381000" cy="1333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124B0E3-4C8C-4CB5-8516-6735A3681EF7}"/>
              </a:ext>
            </a:extLst>
          </p:cNvPr>
          <p:cNvCxnSpPr/>
          <p:nvPr/>
        </p:nvCxnSpPr>
        <p:spPr>
          <a:xfrm>
            <a:off x="1397000" y="4838700"/>
            <a:ext cx="381000" cy="190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73683121-07FC-960A-2D36-4077008162DF}"/>
              </a:ext>
            </a:extLst>
          </p:cNvPr>
          <p:cNvCxnSpPr/>
          <p:nvPr/>
        </p:nvCxnSpPr>
        <p:spPr>
          <a:xfrm>
            <a:off x="1397000" y="4838700"/>
            <a:ext cx="381000" cy="17653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4FEAB3F-2779-1E41-D566-17708E472CD7}"/>
              </a:ext>
            </a:extLst>
          </p:cNvPr>
          <p:cNvCxnSpPr/>
          <p:nvPr/>
        </p:nvCxnSpPr>
        <p:spPr>
          <a:xfrm>
            <a:off x="3302000" y="2057400"/>
            <a:ext cx="1270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766424B-5963-2A35-2473-392253AA99AC}"/>
              </a:ext>
            </a:extLst>
          </p:cNvPr>
          <p:cNvCxnSpPr/>
          <p:nvPr/>
        </p:nvCxnSpPr>
        <p:spPr>
          <a:xfrm>
            <a:off x="3302000" y="3505200"/>
            <a:ext cx="1270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07CE83E-AF0B-2641-9D57-F17DE8DF6C20}"/>
              </a:ext>
            </a:extLst>
          </p:cNvPr>
          <p:cNvCxnSpPr/>
          <p:nvPr/>
        </p:nvCxnSpPr>
        <p:spPr>
          <a:xfrm>
            <a:off x="3302000" y="5029200"/>
            <a:ext cx="1270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FA170EB-B7DD-E6C9-4DED-A1C530325926}"/>
              </a:ext>
            </a:extLst>
          </p:cNvPr>
          <p:cNvCxnSpPr/>
          <p:nvPr/>
        </p:nvCxnSpPr>
        <p:spPr>
          <a:xfrm>
            <a:off x="3302000" y="6604000"/>
            <a:ext cx="1270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637A0719-560A-8197-D13F-77FEEAC30AA4}"/>
              </a:ext>
            </a:extLst>
          </p:cNvPr>
          <p:cNvCxnSpPr/>
          <p:nvPr/>
        </p:nvCxnSpPr>
        <p:spPr>
          <a:xfrm>
            <a:off x="3302000" y="6604000"/>
            <a:ext cx="889000" cy="14224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482D89BE-F66E-08E6-C5C9-93F3F329C20E}"/>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4. Level 1 DFD describing the main patient-side processes and the connected data stores.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1605165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1E961C-7489-3310-5976-B1BDB16931F3}"/>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4E. DATA FLOW DIAGRAM LEVEL 1 - ADMIN AND DOCTOR</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B6453EAA-C78E-4B7C-F286-E472BB304455}"/>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D218AF4-8B7F-B76F-5C35-57D12D9BAC56}"/>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37</a:t>
            </a:r>
          </a:p>
        </p:txBody>
      </p:sp>
      <p:sp>
        <p:nvSpPr>
          <p:cNvPr id="5" name="Rectangle 4">
            <a:extLst>
              <a:ext uri="{FF2B5EF4-FFF2-40B4-BE49-F238E27FC236}">
                <a16:creationId xmlns:a16="http://schemas.microsoft.com/office/drawing/2014/main" id="{86338DD0-3DAB-5B2D-2674-D94C4D6614DB}"/>
              </a:ext>
            </a:extLst>
          </p:cNvPr>
          <p:cNvSpPr/>
          <p:nvPr/>
        </p:nvSpPr>
        <p:spPr>
          <a:xfrm>
            <a:off x="317500" y="2794000"/>
            <a:ext cx="1016000" cy="5334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Admin</a:t>
            </a:r>
          </a:p>
        </p:txBody>
      </p:sp>
      <p:sp>
        <p:nvSpPr>
          <p:cNvPr id="6" name="Rectangle 5">
            <a:extLst>
              <a:ext uri="{FF2B5EF4-FFF2-40B4-BE49-F238E27FC236}">
                <a16:creationId xmlns:a16="http://schemas.microsoft.com/office/drawing/2014/main" id="{107C3685-46D3-2A3E-06CD-E346ED20BA51}"/>
              </a:ext>
            </a:extLst>
          </p:cNvPr>
          <p:cNvSpPr/>
          <p:nvPr/>
        </p:nvSpPr>
        <p:spPr>
          <a:xfrm>
            <a:off x="317500" y="5969000"/>
            <a:ext cx="1016000" cy="533400"/>
          </a:xfrm>
          <a:prstGeom prst="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Doctor</a:t>
            </a:r>
          </a:p>
        </p:txBody>
      </p:sp>
      <p:sp>
        <p:nvSpPr>
          <p:cNvPr id="7" name="Rectangle: Rounded Corners 6">
            <a:extLst>
              <a:ext uri="{FF2B5EF4-FFF2-40B4-BE49-F238E27FC236}">
                <a16:creationId xmlns:a16="http://schemas.microsoft.com/office/drawing/2014/main" id="{36C4AACB-AC42-FEF0-37C4-3A2B52D67EB3}"/>
              </a:ext>
            </a:extLst>
          </p:cNvPr>
          <p:cNvSpPr/>
          <p:nvPr/>
        </p:nvSpPr>
        <p:spPr>
          <a:xfrm>
            <a:off x="1841500" y="1905000"/>
            <a:ext cx="1778000" cy="6096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2.1 Manage Users and Patients</a:t>
            </a:r>
            <a:endParaRPr lang="en-IN" sz="1100">
              <a:latin typeface="Times New Roman" panose="02020603050405020304" pitchFamily="18" charset="0"/>
            </a:endParaRPr>
          </a:p>
        </p:txBody>
      </p:sp>
      <p:sp>
        <p:nvSpPr>
          <p:cNvPr id="8" name="Rectangle: Rounded Corners 7">
            <a:extLst>
              <a:ext uri="{FF2B5EF4-FFF2-40B4-BE49-F238E27FC236}">
                <a16:creationId xmlns:a16="http://schemas.microsoft.com/office/drawing/2014/main" id="{B6D2C35D-8EFB-9275-B6C8-3CD1B75F4A6F}"/>
              </a:ext>
            </a:extLst>
          </p:cNvPr>
          <p:cNvSpPr/>
          <p:nvPr/>
        </p:nvSpPr>
        <p:spPr>
          <a:xfrm>
            <a:off x="1841500" y="3429000"/>
            <a:ext cx="1778000" cy="660400"/>
          </a:xfrm>
          <a:prstGeom prst="round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2.2 Create and Update Appointments</a:t>
            </a:r>
            <a:endParaRPr lang="en-IN" sz="1100">
              <a:latin typeface="Times New Roman" panose="02020603050405020304" pitchFamily="18" charset="0"/>
            </a:endParaRPr>
          </a:p>
        </p:txBody>
      </p:sp>
      <p:sp>
        <p:nvSpPr>
          <p:cNvPr id="9" name="Rectangle: Rounded Corners 8">
            <a:extLst>
              <a:ext uri="{FF2B5EF4-FFF2-40B4-BE49-F238E27FC236}">
                <a16:creationId xmlns:a16="http://schemas.microsoft.com/office/drawing/2014/main" id="{1DD8CCC0-9C7E-B428-AA6E-223C5B5AACDF}"/>
              </a:ext>
            </a:extLst>
          </p:cNvPr>
          <p:cNvSpPr/>
          <p:nvPr/>
        </p:nvSpPr>
        <p:spPr>
          <a:xfrm>
            <a:off x="1841500" y="5080000"/>
            <a:ext cx="1778000" cy="660400"/>
          </a:xfrm>
          <a:prstGeom prst="roundRect">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2.3 Review Orders and Delivery Status</a:t>
            </a:r>
            <a:endParaRPr lang="en-IN" sz="1100">
              <a:latin typeface="Times New Roman" panose="02020603050405020304" pitchFamily="18" charset="0"/>
            </a:endParaRPr>
          </a:p>
        </p:txBody>
      </p:sp>
      <p:sp>
        <p:nvSpPr>
          <p:cNvPr id="10" name="Rectangle: Rounded Corners 9">
            <a:extLst>
              <a:ext uri="{FF2B5EF4-FFF2-40B4-BE49-F238E27FC236}">
                <a16:creationId xmlns:a16="http://schemas.microsoft.com/office/drawing/2014/main" id="{C2C1693B-C239-F8E8-DE22-664074C39C65}"/>
              </a:ext>
            </a:extLst>
          </p:cNvPr>
          <p:cNvSpPr/>
          <p:nvPr/>
        </p:nvSpPr>
        <p:spPr>
          <a:xfrm>
            <a:off x="1841500" y="6731000"/>
            <a:ext cx="1778000" cy="685800"/>
          </a:xfrm>
          <a:prstGeom prst="round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2.4 Doctor Reviews Case and Prescription</a:t>
            </a:r>
            <a:endParaRPr lang="en-IN" sz="1100">
              <a:latin typeface="Times New Roman" panose="02020603050405020304" pitchFamily="18" charset="0"/>
            </a:endParaRPr>
          </a:p>
        </p:txBody>
      </p:sp>
      <p:sp>
        <p:nvSpPr>
          <p:cNvPr id="11" name="Rectangle 10">
            <a:extLst>
              <a:ext uri="{FF2B5EF4-FFF2-40B4-BE49-F238E27FC236}">
                <a16:creationId xmlns:a16="http://schemas.microsoft.com/office/drawing/2014/main" id="{0D84466C-A166-3BDF-1F8F-A5EBD60719D5}"/>
              </a:ext>
            </a:extLst>
          </p:cNvPr>
          <p:cNvSpPr/>
          <p:nvPr/>
        </p:nvSpPr>
        <p:spPr>
          <a:xfrm>
            <a:off x="4889500" y="1905000"/>
            <a:ext cx="1397000" cy="533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D1 Users</a:t>
            </a:r>
          </a:p>
        </p:txBody>
      </p:sp>
      <p:sp>
        <p:nvSpPr>
          <p:cNvPr id="12" name="Rectangle 11">
            <a:extLst>
              <a:ext uri="{FF2B5EF4-FFF2-40B4-BE49-F238E27FC236}">
                <a16:creationId xmlns:a16="http://schemas.microsoft.com/office/drawing/2014/main" id="{BCDF2D66-18DB-850E-9AAF-3556993C5CF8}"/>
              </a:ext>
            </a:extLst>
          </p:cNvPr>
          <p:cNvSpPr/>
          <p:nvPr/>
        </p:nvSpPr>
        <p:spPr>
          <a:xfrm>
            <a:off x="4889500" y="3175000"/>
            <a:ext cx="1397000" cy="533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D2 Patients</a:t>
            </a:r>
          </a:p>
        </p:txBody>
      </p:sp>
      <p:sp>
        <p:nvSpPr>
          <p:cNvPr id="13" name="Rectangle 12">
            <a:extLst>
              <a:ext uri="{FF2B5EF4-FFF2-40B4-BE49-F238E27FC236}">
                <a16:creationId xmlns:a16="http://schemas.microsoft.com/office/drawing/2014/main" id="{F3633C44-D1C8-3695-BE48-22A09D36099B}"/>
              </a:ext>
            </a:extLst>
          </p:cNvPr>
          <p:cNvSpPr/>
          <p:nvPr/>
        </p:nvSpPr>
        <p:spPr>
          <a:xfrm>
            <a:off x="4889500" y="4635500"/>
            <a:ext cx="1397000" cy="533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D3 Appointments</a:t>
            </a:r>
          </a:p>
        </p:txBody>
      </p:sp>
      <p:sp>
        <p:nvSpPr>
          <p:cNvPr id="14" name="Rectangle 13">
            <a:extLst>
              <a:ext uri="{FF2B5EF4-FFF2-40B4-BE49-F238E27FC236}">
                <a16:creationId xmlns:a16="http://schemas.microsoft.com/office/drawing/2014/main" id="{8F1A2312-0363-62E8-3917-0C2686060E4F}"/>
              </a:ext>
            </a:extLst>
          </p:cNvPr>
          <p:cNvSpPr/>
          <p:nvPr/>
        </p:nvSpPr>
        <p:spPr>
          <a:xfrm>
            <a:off x="4889500" y="5969000"/>
            <a:ext cx="1397000" cy="5334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D4 Orders</a:t>
            </a:r>
          </a:p>
        </p:txBody>
      </p:sp>
      <p:sp>
        <p:nvSpPr>
          <p:cNvPr id="15" name="Rectangle 14">
            <a:extLst>
              <a:ext uri="{FF2B5EF4-FFF2-40B4-BE49-F238E27FC236}">
                <a16:creationId xmlns:a16="http://schemas.microsoft.com/office/drawing/2014/main" id="{BFAB5295-8E4A-F9E7-CF30-CBB8B9F3A2D8}"/>
              </a:ext>
            </a:extLst>
          </p:cNvPr>
          <p:cNvSpPr/>
          <p:nvPr/>
        </p:nvSpPr>
        <p:spPr>
          <a:xfrm>
            <a:off x="4445000" y="7683500"/>
            <a:ext cx="2286000" cy="558800"/>
          </a:xfrm>
          <a:prstGeom prst="rect">
            <a:avLst/>
          </a:prstGeom>
          <a:solidFill>
            <a:srgbClr val="FBF7EC"/>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D5 Notifications / Messages</a:t>
            </a:r>
          </a:p>
        </p:txBody>
      </p:sp>
      <p:cxnSp>
        <p:nvCxnSpPr>
          <p:cNvPr id="16" name="Straight Connector 15">
            <a:extLst>
              <a:ext uri="{FF2B5EF4-FFF2-40B4-BE49-F238E27FC236}">
                <a16:creationId xmlns:a16="http://schemas.microsoft.com/office/drawing/2014/main" id="{39B3E2D6-14F7-77BF-0570-A1DE35BC0887}"/>
              </a:ext>
            </a:extLst>
          </p:cNvPr>
          <p:cNvCxnSpPr/>
          <p:nvPr/>
        </p:nvCxnSpPr>
        <p:spPr>
          <a:xfrm flipV="1">
            <a:off x="1333500" y="2222500"/>
            <a:ext cx="508000" cy="825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DBCD154-C474-161C-C6C6-48F1887F77F7}"/>
              </a:ext>
            </a:extLst>
          </p:cNvPr>
          <p:cNvCxnSpPr/>
          <p:nvPr/>
        </p:nvCxnSpPr>
        <p:spPr>
          <a:xfrm>
            <a:off x="1333500" y="3048000"/>
            <a:ext cx="508000" cy="698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66FCD2A-DC36-2093-500D-2BF276D0E336}"/>
              </a:ext>
            </a:extLst>
          </p:cNvPr>
          <p:cNvCxnSpPr/>
          <p:nvPr/>
        </p:nvCxnSpPr>
        <p:spPr>
          <a:xfrm>
            <a:off x="1333500" y="3048000"/>
            <a:ext cx="508000" cy="2349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651550C-DAB6-16BB-C3B0-6AFE1DC7A829}"/>
              </a:ext>
            </a:extLst>
          </p:cNvPr>
          <p:cNvCxnSpPr/>
          <p:nvPr/>
        </p:nvCxnSpPr>
        <p:spPr>
          <a:xfrm>
            <a:off x="1333500" y="6223000"/>
            <a:ext cx="508000" cy="8890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8E09F50-1E03-71D9-E34C-7C7F7A0BB5D6}"/>
              </a:ext>
            </a:extLst>
          </p:cNvPr>
          <p:cNvCxnSpPr/>
          <p:nvPr/>
        </p:nvCxnSpPr>
        <p:spPr>
          <a:xfrm flipV="1">
            <a:off x="3619500" y="2171700"/>
            <a:ext cx="1270000" cy="508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A9E98E9-08CE-11D2-FE70-FCC01D2BC0A0}"/>
              </a:ext>
            </a:extLst>
          </p:cNvPr>
          <p:cNvCxnSpPr/>
          <p:nvPr/>
        </p:nvCxnSpPr>
        <p:spPr>
          <a:xfrm>
            <a:off x="3619500" y="3746500"/>
            <a:ext cx="1270000" cy="11557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8CB6428-5F82-2AE0-E23F-0BBA3A930EE6}"/>
              </a:ext>
            </a:extLst>
          </p:cNvPr>
          <p:cNvCxnSpPr/>
          <p:nvPr/>
        </p:nvCxnSpPr>
        <p:spPr>
          <a:xfrm>
            <a:off x="3619500" y="5397500"/>
            <a:ext cx="1270000" cy="8382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BA569C6-C4E3-3C9F-13AD-5EF244E090D0}"/>
              </a:ext>
            </a:extLst>
          </p:cNvPr>
          <p:cNvCxnSpPr/>
          <p:nvPr/>
        </p:nvCxnSpPr>
        <p:spPr>
          <a:xfrm>
            <a:off x="3619500" y="7073900"/>
            <a:ext cx="825500" cy="8890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EB8303A-AD52-E965-93D6-28E2E357BB66}"/>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5. Level 1 DFD describing the admin and doctor operational processes.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21083597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2CB42F-CC22-E2A2-2072-A58E9D97502F}"/>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4F. USE CASE DIAGRAM</a:t>
            </a:r>
          </a:p>
        </p:txBody>
      </p:sp>
      <p:sp>
        <p:nvSpPr>
          <p:cNvPr id="3" name="Rectangle 2">
            <a:extLst>
              <a:ext uri="{FF2B5EF4-FFF2-40B4-BE49-F238E27FC236}">
                <a16:creationId xmlns:a16="http://schemas.microsoft.com/office/drawing/2014/main" id="{073D50D4-487E-99A4-AD8E-A98E22CD1F04}"/>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B2A2537-CC80-E72E-337C-D264A4716F15}"/>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38</a:t>
            </a:r>
          </a:p>
        </p:txBody>
      </p:sp>
      <p:sp>
        <p:nvSpPr>
          <p:cNvPr id="5" name="Oval 4">
            <a:extLst>
              <a:ext uri="{FF2B5EF4-FFF2-40B4-BE49-F238E27FC236}">
                <a16:creationId xmlns:a16="http://schemas.microsoft.com/office/drawing/2014/main" id="{DA15E705-3275-D947-997A-A99F90F3A465}"/>
              </a:ext>
            </a:extLst>
          </p:cNvPr>
          <p:cNvSpPr/>
          <p:nvPr/>
        </p:nvSpPr>
        <p:spPr>
          <a:xfrm>
            <a:off x="482600" y="3048000"/>
            <a:ext cx="228600" cy="228600"/>
          </a:xfrm>
          <a:prstGeom prst="ellipse">
            <a:avLst/>
          </a:prstGeom>
          <a:noFill/>
          <a:ln w="19050" cap="flat" cmpd="sng" algn="ctr">
            <a:solidFill>
              <a:srgbClr val="30241E"/>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2D541BB4-0CE4-5F7F-E940-DE5463EB5340}"/>
              </a:ext>
            </a:extLst>
          </p:cNvPr>
          <p:cNvCxnSpPr/>
          <p:nvPr/>
        </p:nvCxnSpPr>
        <p:spPr>
          <a:xfrm>
            <a:off x="596900" y="3276600"/>
            <a:ext cx="0" cy="4318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774292C-0843-1DEE-989B-A0B00370FA1F}"/>
              </a:ext>
            </a:extLst>
          </p:cNvPr>
          <p:cNvCxnSpPr/>
          <p:nvPr/>
        </p:nvCxnSpPr>
        <p:spPr>
          <a:xfrm>
            <a:off x="381000" y="3429000"/>
            <a:ext cx="431800" cy="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92DD111-43D2-EB3C-22C4-B7CDDB170908}"/>
              </a:ext>
            </a:extLst>
          </p:cNvPr>
          <p:cNvCxnSpPr/>
          <p:nvPr/>
        </p:nvCxnSpPr>
        <p:spPr>
          <a:xfrm flipH="1">
            <a:off x="381000" y="37084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FF736A7-7218-FF79-1FBE-6CE075547BCF}"/>
              </a:ext>
            </a:extLst>
          </p:cNvPr>
          <p:cNvCxnSpPr/>
          <p:nvPr/>
        </p:nvCxnSpPr>
        <p:spPr>
          <a:xfrm>
            <a:off x="596900" y="37084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6EB0105-C995-7940-C4AE-BBEC813D6F97}"/>
              </a:ext>
            </a:extLst>
          </p:cNvPr>
          <p:cNvSpPr txBox="1"/>
          <p:nvPr/>
        </p:nvSpPr>
        <p:spPr>
          <a:xfrm>
            <a:off x="127000" y="4064000"/>
            <a:ext cx="1143000" cy="296813"/>
          </a:xfrm>
          <a:prstGeom prst="rect">
            <a:avLst/>
          </a:prstGeom>
          <a:noFill/>
        </p:spPr>
        <p:txBody>
          <a:bodyPr vert="horz" wrap="square" rtlCol="0">
            <a:spAutoFit/>
          </a:bodyPr>
          <a:lstStyle/>
          <a:p>
            <a:pPr algn="ctr">
              <a:lnSpc>
                <a:spcPct val="135000"/>
              </a:lnSpc>
              <a:spcAft>
                <a:spcPts val="600"/>
              </a:spcAft>
            </a:pPr>
            <a:r>
              <a:rPr lang="en-IN" sz="1100">
                <a:solidFill>
                  <a:srgbClr val="30241E"/>
                </a:solidFill>
                <a:latin typeface="Times New Roman" panose="02020603050405020304" pitchFamily="18" charset="0"/>
              </a:rPr>
              <a:t>Patient</a:t>
            </a:r>
          </a:p>
        </p:txBody>
      </p:sp>
      <p:sp>
        <p:nvSpPr>
          <p:cNvPr id="11" name="Oval 10">
            <a:extLst>
              <a:ext uri="{FF2B5EF4-FFF2-40B4-BE49-F238E27FC236}">
                <a16:creationId xmlns:a16="http://schemas.microsoft.com/office/drawing/2014/main" id="{E6BAB3B6-AED8-869C-3110-B91FC1C9BA6A}"/>
              </a:ext>
            </a:extLst>
          </p:cNvPr>
          <p:cNvSpPr/>
          <p:nvPr/>
        </p:nvSpPr>
        <p:spPr>
          <a:xfrm>
            <a:off x="6578600" y="2540000"/>
            <a:ext cx="228600" cy="228600"/>
          </a:xfrm>
          <a:prstGeom prst="ellipse">
            <a:avLst/>
          </a:prstGeom>
          <a:noFill/>
          <a:ln w="19050" cap="flat" cmpd="sng" algn="ctr">
            <a:solidFill>
              <a:srgbClr val="30241E"/>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F74E7E26-4040-4046-04E1-A3575AC2E8FB}"/>
              </a:ext>
            </a:extLst>
          </p:cNvPr>
          <p:cNvCxnSpPr/>
          <p:nvPr/>
        </p:nvCxnSpPr>
        <p:spPr>
          <a:xfrm>
            <a:off x="6692900" y="2768600"/>
            <a:ext cx="0" cy="4318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D5C2070-0E02-1919-045B-D44C5F26FE9A}"/>
              </a:ext>
            </a:extLst>
          </p:cNvPr>
          <p:cNvCxnSpPr/>
          <p:nvPr/>
        </p:nvCxnSpPr>
        <p:spPr>
          <a:xfrm>
            <a:off x="6477000" y="2921000"/>
            <a:ext cx="431800" cy="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27F4272-10B0-657A-3733-20C1E48C962D}"/>
              </a:ext>
            </a:extLst>
          </p:cNvPr>
          <p:cNvCxnSpPr/>
          <p:nvPr/>
        </p:nvCxnSpPr>
        <p:spPr>
          <a:xfrm flipH="1">
            <a:off x="6477000" y="32004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69C0EB0-2474-598F-C363-82460D1FB09D}"/>
              </a:ext>
            </a:extLst>
          </p:cNvPr>
          <p:cNvCxnSpPr/>
          <p:nvPr/>
        </p:nvCxnSpPr>
        <p:spPr>
          <a:xfrm>
            <a:off x="6692900" y="32004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E9060F1-2FEE-A222-CD2D-333AE2C04AD8}"/>
              </a:ext>
            </a:extLst>
          </p:cNvPr>
          <p:cNvSpPr txBox="1"/>
          <p:nvPr/>
        </p:nvSpPr>
        <p:spPr>
          <a:xfrm>
            <a:off x="6223000" y="3556000"/>
            <a:ext cx="1143000" cy="296813"/>
          </a:xfrm>
          <a:prstGeom prst="rect">
            <a:avLst/>
          </a:prstGeom>
          <a:noFill/>
        </p:spPr>
        <p:txBody>
          <a:bodyPr vert="horz" wrap="square" rtlCol="0">
            <a:spAutoFit/>
          </a:bodyPr>
          <a:lstStyle/>
          <a:p>
            <a:pPr algn="ctr">
              <a:lnSpc>
                <a:spcPct val="135000"/>
              </a:lnSpc>
              <a:spcAft>
                <a:spcPts val="600"/>
              </a:spcAft>
            </a:pPr>
            <a:r>
              <a:rPr lang="en-IN" sz="1100">
                <a:solidFill>
                  <a:srgbClr val="30241E"/>
                </a:solidFill>
                <a:latin typeface="Times New Roman" panose="02020603050405020304" pitchFamily="18" charset="0"/>
              </a:rPr>
              <a:t>Admin</a:t>
            </a:r>
          </a:p>
        </p:txBody>
      </p:sp>
      <p:sp>
        <p:nvSpPr>
          <p:cNvPr id="17" name="Oval 16">
            <a:extLst>
              <a:ext uri="{FF2B5EF4-FFF2-40B4-BE49-F238E27FC236}">
                <a16:creationId xmlns:a16="http://schemas.microsoft.com/office/drawing/2014/main" id="{E0940521-7E13-9B54-9AE6-0F9148582BA2}"/>
              </a:ext>
            </a:extLst>
          </p:cNvPr>
          <p:cNvSpPr/>
          <p:nvPr/>
        </p:nvSpPr>
        <p:spPr>
          <a:xfrm>
            <a:off x="6578600" y="5778500"/>
            <a:ext cx="228600" cy="228600"/>
          </a:xfrm>
          <a:prstGeom prst="ellipse">
            <a:avLst/>
          </a:prstGeom>
          <a:noFill/>
          <a:ln w="19050" cap="flat" cmpd="sng" algn="ctr">
            <a:solidFill>
              <a:srgbClr val="30241E"/>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Connector 17">
            <a:extLst>
              <a:ext uri="{FF2B5EF4-FFF2-40B4-BE49-F238E27FC236}">
                <a16:creationId xmlns:a16="http://schemas.microsoft.com/office/drawing/2014/main" id="{9C97C2C6-D054-8AF5-095C-B9878138A273}"/>
              </a:ext>
            </a:extLst>
          </p:cNvPr>
          <p:cNvCxnSpPr/>
          <p:nvPr/>
        </p:nvCxnSpPr>
        <p:spPr>
          <a:xfrm>
            <a:off x="6692900" y="6007100"/>
            <a:ext cx="0" cy="4318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1271EF6-A2DF-CEA4-6906-39C1CE5277BC}"/>
              </a:ext>
            </a:extLst>
          </p:cNvPr>
          <p:cNvCxnSpPr/>
          <p:nvPr/>
        </p:nvCxnSpPr>
        <p:spPr>
          <a:xfrm>
            <a:off x="6477000" y="6159500"/>
            <a:ext cx="431800" cy="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B3D6ECB-D5F6-CC7E-F2BB-748B44CA05C9}"/>
              </a:ext>
            </a:extLst>
          </p:cNvPr>
          <p:cNvCxnSpPr/>
          <p:nvPr/>
        </p:nvCxnSpPr>
        <p:spPr>
          <a:xfrm flipH="1">
            <a:off x="6477000" y="64389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755CBC5-8BBE-622D-DF93-90B5A2C6ADDC}"/>
              </a:ext>
            </a:extLst>
          </p:cNvPr>
          <p:cNvCxnSpPr/>
          <p:nvPr/>
        </p:nvCxnSpPr>
        <p:spPr>
          <a:xfrm>
            <a:off x="6692900" y="6438900"/>
            <a:ext cx="215900" cy="292100"/>
          </a:xfrm>
          <a:prstGeom prst="line">
            <a:avLst/>
          </a:prstGeom>
          <a:ln>
            <a:solidFill>
              <a:srgbClr val="30241E"/>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C335B5C-7EA1-422B-14CA-98973148D4C7}"/>
              </a:ext>
            </a:extLst>
          </p:cNvPr>
          <p:cNvSpPr txBox="1"/>
          <p:nvPr/>
        </p:nvSpPr>
        <p:spPr>
          <a:xfrm>
            <a:off x="6223000" y="6794500"/>
            <a:ext cx="1143000" cy="296813"/>
          </a:xfrm>
          <a:prstGeom prst="rect">
            <a:avLst/>
          </a:prstGeom>
          <a:noFill/>
        </p:spPr>
        <p:txBody>
          <a:bodyPr vert="horz" wrap="square" rtlCol="0">
            <a:spAutoFit/>
          </a:bodyPr>
          <a:lstStyle/>
          <a:p>
            <a:pPr algn="ctr">
              <a:lnSpc>
                <a:spcPct val="135000"/>
              </a:lnSpc>
              <a:spcAft>
                <a:spcPts val="600"/>
              </a:spcAft>
            </a:pPr>
            <a:r>
              <a:rPr lang="en-IN" sz="1100">
                <a:solidFill>
                  <a:srgbClr val="30241E"/>
                </a:solidFill>
                <a:latin typeface="Times New Roman" panose="02020603050405020304" pitchFamily="18" charset="0"/>
              </a:rPr>
              <a:t>Doctor</a:t>
            </a:r>
          </a:p>
        </p:txBody>
      </p:sp>
      <p:sp>
        <p:nvSpPr>
          <p:cNvPr id="23" name="Rectangle 22">
            <a:extLst>
              <a:ext uri="{FF2B5EF4-FFF2-40B4-BE49-F238E27FC236}">
                <a16:creationId xmlns:a16="http://schemas.microsoft.com/office/drawing/2014/main" id="{4B7B1AB6-9838-B09F-4401-F5489D5BF4E7}"/>
              </a:ext>
            </a:extLst>
          </p:cNvPr>
          <p:cNvSpPr/>
          <p:nvPr/>
        </p:nvSpPr>
        <p:spPr>
          <a:xfrm>
            <a:off x="1524000" y="1714500"/>
            <a:ext cx="4318000" cy="6604000"/>
          </a:xfrm>
          <a:prstGeom prst="rect">
            <a:avLst/>
          </a:prstGeom>
          <a:noFill/>
          <a:ln w="19050" cap="flat" cmpd="sng" algn="ctr">
            <a:solidFill>
              <a:srgbClr val="5B5B5B"/>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B93A2AF1-ABEC-EB3C-C882-A25F60D03647}"/>
              </a:ext>
            </a:extLst>
          </p:cNvPr>
          <p:cNvSpPr txBox="1"/>
          <p:nvPr/>
        </p:nvSpPr>
        <p:spPr>
          <a:xfrm>
            <a:off x="3048000" y="1778000"/>
            <a:ext cx="1397000" cy="278218"/>
          </a:xfrm>
          <a:prstGeom prst="rect">
            <a:avLst/>
          </a:prstGeom>
          <a:noFill/>
        </p:spPr>
        <p:txBody>
          <a:bodyPr vert="horz" wrap="square" rtlCol="0">
            <a:spAutoFit/>
          </a:bodyPr>
          <a:lstStyle/>
          <a:p>
            <a:pPr algn="ctr">
              <a:lnSpc>
                <a:spcPct val="135000"/>
              </a:lnSpc>
              <a:spcAft>
                <a:spcPts val="600"/>
              </a:spcAft>
            </a:pPr>
            <a:r>
              <a:rPr lang="en-IN" sz="1000">
                <a:solidFill>
                  <a:srgbClr val="696969"/>
                </a:solidFill>
                <a:latin typeface="Times New Roman" panose="02020603050405020304" pitchFamily="18" charset="0"/>
              </a:rPr>
              <a:t>System Boundary</a:t>
            </a:r>
          </a:p>
        </p:txBody>
      </p:sp>
      <p:sp>
        <p:nvSpPr>
          <p:cNvPr id="25" name="Oval 24">
            <a:extLst>
              <a:ext uri="{FF2B5EF4-FFF2-40B4-BE49-F238E27FC236}">
                <a16:creationId xmlns:a16="http://schemas.microsoft.com/office/drawing/2014/main" id="{144A4607-68C6-97F8-9707-0D9B9FD1713A}"/>
              </a:ext>
            </a:extLst>
          </p:cNvPr>
          <p:cNvSpPr/>
          <p:nvPr/>
        </p:nvSpPr>
        <p:spPr>
          <a:xfrm>
            <a:off x="2222500" y="2349500"/>
            <a:ext cx="1333500" cy="508000"/>
          </a:xfrm>
          <a:prstGeom prst="ellipse">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Register / Login</a:t>
            </a:r>
          </a:p>
        </p:txBody>
      </p:sp>
      <p:sp>
        <p:nvSpPr>
          <p:cNvPr id="26" name="Oval 25">
            <a:extLst>
              <a:ext uri="{FF2B5EF4-FFF2-40B4-BE49-F238E27FC236}">
                <a16:creationId xmlns:a16="http://schemas.microsoft.com/office/drawing/2014/main" id="{0B246B4F-7927-4050-3EAB-D421048D450E}"/>
              </a:ext>
            </a:extLst>
          </p:cNvPr>
          <p:cNvSpPr/>
          <p:nvPr/>
        </p:nvSpPr>
        <p:spPr>
          <a:xfrm>
            <a:off x="3810000" y="2349500"/>
            <a:ext cx="1206500" cy="508000"/>
          </a:xfrm>
          <a:prstGeom prst="ellipse">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Verify OTP</a:t>
            </a:r>
          </a:p>
        </p:txBody>
      </p:sp>
      <p:sp>
        <p:nvSpPr>
          <p:cNvPr id="27" name="Oval 26">
            <a:extLst>
              <a:ext uri="{FF2B5EF4-FFF2-40B4-BE49-F238E27FC236}">
                <a16:creationId xmlns:a16="http://schemas.microsoft.com/office/drawing/2014/main" id="{0AB19810-94ED-47F3-FF83-3E41B5CB9421}"/>
              </a:ext>
            </a:extLst>
          </p:cNvPr>
          <p:cNvSpPr/>
          <p:nvPr/>
        </p:nvSpPr>
        <p:spPr>
          <a:xfrm>
            <a:off x="2667000" y="3302000"/>
            <a:ext cx="1968500" cy="584200"/>
          </a:xfrm>
          <a:prstGeom prst="ellipse">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Manage Patient Records</a:t>
            </a:r>
          </a:p>
        </p:txBody>
      </p:sp>
      <p:sp>
        <p:nvSpPr>
          <p:cNvPr id="28" name="Oval 27">
            <a:extLst>
              <a:ext uri="{FF2B5EF4-FFF2-40B4-BE49-F238E27FC236}">
                <a16:creationId xmlns:a16="http://schemas.microsoft.com/office/drawing/2014/main" id="{613D830F-9BA2-14F1-8A70-A5BBA4A5F492}"/>
              </a:ext>
            </a:extLst>
          </p:cNvPr>
          <p:cNvSpPr/>
          <p:nvPr/>
        </p:nvSpPr>
        <p:spPr>
          <a:xfrm>
            <a:off x="2603500" y="4254500"/>
            <a:ext cx="2095500" cy="584200"/>
          </a:xfrm>
          <a:prstGeom prst="ellipse">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Manage Appointments</a:t>
            </a:r>
          </a:p>
        </p:txBody>
      </p:sp>
      <p:sp>
        <p:nvSpPr>
          <p:cNvPr id="29" name="Oval 28">
            <a:extLst>
              <a:ext uri="{FF2B5EF4-FFF2-40B4-BE49-F238E27FC236}">
                <a16:creationId xmlns:a16="http://schemas.microsoft.com/office/drawing/2014/main" id="{9078A063-1FE4-A36F-4CF8-EC670EE6CF80}"/>
              </a:ext>
            </a:extLst>
          </p:cNvPr>
          <p:cNvSpPr/>
          <p:nvPr/>
        </p:nvSpPr>
        <p:spPr>
          <a:xfrm>
            <a:off x="2286000" y="5334000"/>
            <a:ext cx="1333500" cy="533400"/>
          </a:xfrm>
          <a:prstGeom prst="ellipse">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Upload Reports</a:t>
            </a:r>
          </a:p>
        </p:txBody>
      </p:sp>
      <p:sp>
        <p:nvSpPr>
          <p:cNvPr id="30" name="Oval 29">
            <a:extLst>
              <a:ext uri="{FF2B5EF4-FFF2-40B4-BE49-F238E27FC236}">
                <a16:creationId xmlns:a16="http://schemas.microsoft.com/office/drawing/2014/main" id="{CD2A1C1D-C864-C2C3-9901-DED25CD95751}"/>
              </a:ext>
            </a:extLst>
          </p:cNvPr>
          <p:cNvSpPr/>
          <p:nvPr/>
        </p:nvSpPr>
        <p:spPr>
          <a:xfrm>
            <a:off x="3810000" y="5334000"/>
            <a:ext cx="1524000" cy="533400"/>
          </a:xfrm>
          <a:prstGeom prst="ellipse">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Cart and Place Order</a:t>
            </a:r>
          </a:p>
        </p:txBody>
      </p:sp>
      <p:sp>
        <p:nvSpPr>
          <p:cNvPr id="31" name="Oval 30">
            <a:extLst>
              <a:ext uri="{FF2B5EF4-FFF2-40B4-BE49-F238E27FC236}">
                <a16:creationId xmlns:a16="http://schemas.microsoft.com/office/drawing/2014/main" id="{21D0D00B-E3D3-116D-2D8D-732325AEC5B7}"/>
              </a:ext>
            </a:extLst>
          </p:cNvPr>
          <p:cNvSpPr/>
          <p:nvPr/>
        </p:nvSpPr>
        <p:spPr>
          <a:xfrm>
            <a:off x="2286000" y="6413500"/>
            <a:ext cx="1333500" cy="533400"/>
          </a:xfrm>
          <a:prstGeom prst="ellipse">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Real-time Chat</a:t>
            </a:r>
          </a:p>
        </p:txBody>
      </p:sp>
      <p:sp>
        <p:nvSpPr>
          <p:cNvPr id="32" name="Oval 31">
            <a:extLst>
              <a:ext uri="{FF2B5EF4-FFF2-40B4-BE49-F238E27FC236}">
                <a16:creationId xmlns:a16="http://schemas.microsoft.com/office/drawing/2014/main" id="{79DD7E62-A582-D0C9-E328-FCC194F48803}"/>
              </a:ext>
            </a:extLst>
          </p:cNvPr>
          <p:cNvSpPr/>
          <p:nvPr/>
        </p:nvSpPr>
        <p:spPr>
          <a:xfrm>
            <a:off x="3810000" y="6413500"/>
            <a:ext cx="1524000" cy="533400"/>
          </a:xfrm>
          <a:prstGeom prst="ellipse">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View Notifications</a:t>
            </a:r>
          </a:p>
        </p:txBody>
      </p:sp>
      <p:cxnSp>
        <p:nvCxnSpPr>
          <p:cNvPr id="33" name="Straight Connector 32">
            <a:extLst>
              <a:ext uri="{FF2B5EF4-FFF2-40B4-BE49-F238E27FC236}">
                <a16:creationId xmlns:a16="http://schemas.microsoft.com/office/drawing/2014/main" id="{23D89B67-2B1E-86BD-A00C-8D522CC29062}"/>
              </a:ext>
            </a:extLst>
          </p:cNvPr>
          <p:cNvCxnSpPr/>
          <p:nvPr/>
        </p:nvCxnSpPr>
        <p:spPr>
          <a:xfrm flipV="1">
            <a:off x="939800" y="2603500"/>
            <a:ext cx="1282700" cy="889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298ED05-E0B9-7684-63D7-283F599F431B}"/>
              </a:ext>
            </a:extLst>
          </p:cNvPr>
          <p:cNvCxnSpPr/>
          <p:nvPr/>
        </p:nvCxnSpPr>
        <p:spPr>
          <a:xfrm flipV="1">
            <a:off x="939800" y="2603500"/>
            <a:ext cx="2870200" cy="12065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704AD6D-F361-965E-A998-F63B9756537A}"/>
              </a:ext>
            </a:extLst>
          </p:cNvPr>
          <p:cNvCxnSpPr/>
          <p:nvPr/>
        </p:nvCxnSpPr>
        <p:spPr>
          <a:xfrm>
            <a:off x="939800" y="4064000"/>
            <a:ext cx="1663700" cy="4699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11CC2BE9-A646-9D3B-DA87-A8F05C685441}"/>
              </a:ext>
            </a:extLst>
          </p:cNvPr>
          <p:cNvCxnSpPr/>
          <p:nvPr/>
        </p:nvCxnSpPr>
        <p:spPr>
          <a:xfrm>
            <a:off x="939800" y="4318000"/>
            <a:ext cx="1981200" cy="12827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FE4C73C-077A-393E-C30D-96F4F8341A8D}"/>
              </a:ext>
            </a:extLst>
          </p:cNvPr>
          <p:cNvCxnSpPr/>
          <p:nvPr/>
        </p:nvCxnSpPr>
        <p:spPr>
          <a:xfrm>
            <a:off x="939800" y="4635500"/>
            <a:ext cx="3378200" cy="9652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E66EA16-3AB0-43A9-0518-209525A54619}"/>
              </a:ext>
            </a:extLst>
          </p:cNvPr>
          <p:cNvCxnSpPr/>
          <p:nvPr/>
        </p:nvCxnSpPr>
        <p:spPr>
          <a:xfrm>
            <a:off x="939800" y="4953000"/>
            <a:ext cx="1981200" cy="17272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C0C1D959-A50A-1C58-75DB-3B902BA7C38E}"/>
              </a:ext>
            </a:extLst>
          </p:cNvPr>
          <p:cNvCxnSpPr/>
          <p:nvPr/>
        </p:nvCxnSpPr>
        <p:spPr>
          <a:xfrm>
            <a:off x="939800" y="5270500"/>
            <a:ext cx="3378200" cy="14097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599BDB7C-68C8-96EE-B27D-96670EDC8531}"/>
              </a:ext>
            </a:extLst>
          </p:cNvPr>
          <p:cNvCxnSpPr/>
          <p:nvPr/>
        </p:nvCxnSpPr>
        <p:spPr>
          <a:xfrm flipH="1">
            <a:off x="4635500" y="3111500"/>
            <a:ext cx="1714500" cy="4826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5A7F696A-A6A3-E21A-D847-001C859E6BC9}"/>
              </a:ext>
            </a:extLst>
          </p:cNvPr>
          <p:cNvCxnSpPr/>
          <p:nvPr/>
        </p:nvCxnSpPr>
        <p:spPr>
          <a:xfrm flipH="1">
            <a:off x="4635500" y="3429000"/>
            <a:ext cx="1714500" cy="11049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AD621332-B867-1C1A-BC70-75545C2DA931}"/>
              </a:ext>
            </a:extLst>
          </p:cNvPr>
          <p:cNvCxnSpPr/>
          <p:nvPr/>
        </p:nvCxnSpPr>
        <p:spPr>
          <a:xfrm flipH="1" flipV="1">
            <a:off x="4635500" y="4533900"/>
            <a:ext cx="1714500" cy="16256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01F446D-9DDF-831B-EFB4-6EC593E63756}"/>
              </a:ext>
            </a:extLst>
          </p:cNvPr>
          <p:cNvCxnSpPr/>
          <p:nvPr/>
        </p:nvCxnSpPr>
        <p:spPr>
          <a:xfrm flipH="1">
            <a:off x="2984500" y="6477000"/>
            <a:ext cx="3365500" cy="2032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9F1E3AB6-1906-5FC9-884D-F791C96A961A}"/>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6. Use case diagram showing interactions among patient, admin, doctor, and the system.</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16141391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8C5081-0F28-2BB7-9FA2-16271340332E}"/>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4G. SEQUENCE DIAGRAM - APPOINTMENT BOOKING</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C316EB77-8397-9A49-9934-6BD34BCB1A0F}"/>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0C07BA0-F45A-D473-89F4-D6DD009826E3}"/>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39</a:t>
            </a:r>
          </a:p>
        </p:txBody>
      </p:sp>
      <p:sp>
        <p:nvSpPr>
          <p:cNvPr id="5" name="Rectangle: Rounded Corners 4">
            <a:extLst>
              <a:ext uri="{FF2B5EF4-FFF2-40B4-BE49-F238E27FC236}">
                <a16:creationId xmlns:a16="http://schemas.microsoft.com/office/drawing/2014/main" id="{F72B3C29-9796-7D87-9F00-28F97F69970F}"/>
              </a:ext>
            </a:extLst>
          </p:cNvPr>
          <p:cNvSpPr/>
          <p:nvPr/>
        </p:nvSpPr>
        <p:spPr>
          <a:xfrm>
            <a:off x="762000" y="1905000"/>
            <a:ext cx="1270000" cy="3556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Patient</a:t>
            </a:r>
          </a:p>
        </p:txBody>
      </p:sp>
      <p:cxnSp>
        <p:nvCxnSpPr>
          <p:cNvPr id="6" name="Straight Connector 5">
            <a:extLst>
              <a:ext uri="{FF2B5EF4-FFF2-40B4-BE49-F238E27FC236}">
                <a16:creationId xmlns:a16="http://schemas.microsoft.com/office/drawing/2014/main" id="{0DDD25D0-9F09-B032-E6CB-268A14452E4D}"/>
              </a:ext>
            </a:extLst>
          </p:cNvPr>
          <p:cNvCxnSpPr/>
          <p:nvPr/>
        </p:nvCxnSpPr>
        <p:spPr>
          <a:xfrm>
            <a:off x="1397000" y="2260600"/>
            <a:ext cx="0" cy="5994400"/>
          </a:xfrm>
          <a:prstGeom prst="line">
            <a:avLst/>
          </a:prstGeom>
          <a:ln>
            <a:solidFill>
              <a:srgbClr val="5B5B5B"/>
            </a:solidFill>
            <a:prstDash val="dash"/>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152D3D04-6068-5017-2BE2-1D890F6EA1D1}"/>
              </a:ext>
            </a:extLst>
          </p:cNvPr>
          <p:cNvSpPr/>
          <p:nvPr/>
        </p:nvSpPr>
        <p:spPr>
          <a:xfrm>
            <a:off x="2286000" y="1905000"/>
            <a:ext cx="1270000" cy="3556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React UI</a:t>
            </a:r>
          </a:p>
        </p:txBody>
      </p:sp>
      <p:cxnSp>
        <p:nvCxnSpPr>
          <p:cNvPr id="8" name="Straight Connector 7">
            <a:extLst>
              <a:ext uri="{FF2B5EF4-FFF2-40B4-BE49-F238E27FC236}">
                <a16:creationId xmlns:a16="http://schemas.microsoft.com/office/drawing/2014/main" id="{62CC4005-5506-0C65-CDAB-BF769C7AFEC6}"/>
              </a:ext>
            </a:extLst>
          </p:cNvPr>
          <p:cNvCxnSpPr/>
          <p:nvPr/>
        </p:nvCxnSpPr>
        <p:spPr>
          <a:xfrm>
            <a:off x="2921000" y="2260600"/>
            <a:ext cx="0" cy="5994400"/>
          </a:xfrm>
          <a:prstGeom prst="line">
            <a:avLst/>
          </a:prstGeom>
          <a:ln>
            <a:solidFill>
              <a:srgbClr val="5B5B5B"/>
            </a:solidFill>
            <a:prstDash val="dash"/>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175E4DFA-6098-DC84-26CC-6D6EA91C594D}"/>
              </a:ext>
            </a:extLst>
          </p:cNvPr>
          <p:cNvSpPr/>
          <p:nvPr/>
        </p:nvSpPr>
        <p:spPr>
          <a:xfrm>
            <a:off x="3810000" y="1905000"/>
            <a:ext cx="1270000" cy="3556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Express API</a:t>
            </a:r>
          </a:p>
        </p:txBody>
      </p:sp>
      <p:cxnSp>
        <p:nvCxnSpPr>
          <p:cNvPr id="10" name="Straight Connector 9">
            <a:extLst>
              <a:ext uri="{FF2B5EF4-FFF2-40B4-BE49-F238E27FC236}">
                <a16:creationId xmlns:a16="http://schemas.microsoft.com/office/drawing/2014/main" id="{6B24DBC8-1759-B442-D9AF-82DF34856427}"/>
              </a:ext>
            </a:extLst>
          </p:cNvPr>
          <p:cNvCxnSpPr/>
          <p:nvPr/>
        </p:nvCxnSpPr>
        <p:spPr>
          <a:xfrm>
            <a:off x="4445000" y="2260600"/>
            <a:ext cx="0" cy="5994400"/>
          </a:xfrm>
          <a:prstGeom prst="line">
            <a:avLst/>
          </a:prstGeom>
          <a:ln>
            <a:solidFill>
              <a:srgbClr val="5B5B5B"/>
            </a:solidFill>
            <a:prstDash val="dash"/>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0A48A83F-9C00-BD6B-8CF0-2EFE18327517}"/>
              </a:ext>
            </a:extLst>
          </p:cNvPr>
          <p:cNvSpPr/>
          <p:nvPr/>
        </p:nvSpPr>
        <p:spPr>
          <a:xfrm>
            <a:off x="5334000" y="1905000"/>
            <a:ext cx="1270000" cy="355600"/>
          </a:xfrm>
          <a:prstGeom prst="round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MongoDB</a:t>
            </a:r>
          </a:p>
        </p:txBody>
      </p:sp>
      <p:cxnSp>
        <p:nvCxnSpPr>
          <p:cNvPr id="12" name="Straight Connector 11">
            <a:extLst>
              <a:ext uri="{FF2B5EF4-FFF2-40B4-BE49-F238E27FC236}">
                <a16:creationId xmlns:a16="http://schemas.microsoft.com/office/drawing/2014/main" id="{B291BC83-971B-7956-699E-4EED592B8A52}"/>
              </a:ext>
            </a:extLst>
          </p:cNvPr>
          <p:cNvCxnSpPr/>
          <p:nvPr/>
        </p:nvCxnSpPr>
        <p:spPr>
          <a:xfrm>
            <a:off x="5969000" y="2260600"/>
            <a:ext cx="0" cy="5994400"/>
          </a:xfrm>
          <a:prstGeom prst="line">
            <a:avLst/>
          </a:prstGeom>
          <a:ln>
            <a:solidFill>
              <a:srgbClr val="5B5B5B"/>
            </a:solidFill>
            <a:prstDash val="dash"/>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5865BF5-3492-230C-09C6-7A65FF0580F8}"/>
              </a:ext>
            </a:extLst>
          </p:cNvPr>
          <p:cNvCxnSpPr/>
          <p:nvPr/>
        </p:nvCxnSpPr>
        <p:spPr>
          <a:xfrm>
            <a:off x="1397000" y="2794000"/>
            <a:ext cx="1524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EA1A2FED-E751-93AB-6F70-0F32AC838F20}"/>
              </a:ext>
            </a:extLst>
          </p:cNvPr>
          <p:cNvSpPr txBox="1"/>
          <p:nvPr/>
        </p:nvSpPr>
        <p:spPr>
          <a:xfrm>
            <a:off x="1498600" y="2514600"/>
            <a:ext cx="1524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1. appointment request</a:t>
            </a:r>
          </a:p>
        </p:txBody>
      </p:sp>
      <p:cxnSp>
        <p:nvCxnSpPr>
          <p:cNvPr id="15" name="Straight Connector 14">
            <a:extLst>
              <a:ext uri="{FF2B5EF4-FFF2-40B4-BE49-F238E27FC236}">
                <a16:creationId xmlns:a16="http://schemas.microsoft.com/office/drawing/2014/main" id="{EDEBD7D4-49B9-6E36-B5AE-A4B851ED772F}"/>
              </a:ext>
            </a:extLst>
          </p:cNvPr>
          <p:cNvCxnSpPr/>
          <p:nvPr/>
        </p:nvCxnSpPr>
        <p:spPr>
          <a:xfrm>
            <a:off x="2921000" y="3619500"/>
            <a:ext cx="1524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9B1D8073-1380-8B9D-BF6B-576527C1526F}"/>
              </a:ext>
            </a:extLst>
          </p:cNvPr>
          <p:cNvSpPr txBox="1"/>
          <p:nvPr/>
        </p:nvSpPr>
        <p:spPr>
          <a:xfrm>
            <a:off x="3022600" y="3327400"/>
            <a:ext cx="1524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2. POST /appointments</a:t>
            </a:r>
          </a:p>
        </p:txBody>
      </p:sp>
      <p:cxnSp>
        <p:nvCxnSpPr>
          <p:cNvPr id="17" name="Straight Connector 16">
            <a:extLst>
              <a:ext uri="{FF2B5EF4-FFF2-40B4-BE49-F238E27FC236}">
                <a16:creationId xmlns:a16="http://schemas.microsoft.com/office/drawing/2014/main" id="{7EBEF8AC-A7DC-CD29-89AE-2E67C41029C2}"/>
              </a:ext>
            </a:extLst>
          </p:cNvPr>
          <p:cNvCxnSpPr/>
          <p:nvPr/>
        </p:nvCxnSpPr>
        <p:spPr>
          <a:xfrm>
            <a:off x="4445000" y="4445000"/>
            <a:ext cx="1524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26C01F9-71AA-D76D-BACF-C70623D3A755}"/>
              </a:ext>
            </a:extLst>
          </p:cNvPr>
          <p:cNvSpPr txBox="1"/>
          <p:nvPr/>
        </p:nvSpPr>
        <p:spPr>
          <a:xfrm>
            <a:off x="4597400" y="4165600"/>
            <a:ext cx="14605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3. save appointment</a:t>
            </a:r>
          </a:p>
        </p:txBody>
      </p:sp>
      <p:cxnSp>
        <p:nvCxnSpPr>
          <p:cNvPr id="19" name="Straight Connector 18">
            <a:extLst>
              <a:ext uri="{FF2B5EF4-FFF2-40B4-BE49-F238E27FC236}">
                <a16:creationId xmlns:a16="http://schemas.microsoft.com/office/drawing/2014/main" id="{AF2B1746-F185-E45D-66CC-2CF862976C36}"/>
              </a:ext>
            </a:extLst>
          </p:cNvPr>
          <p:cNvCxnSpPr/>
          <p:nvPr/>
        </p:nvCxnSpPr>
        <p:spPr>
          <a:xfrm flipH="1">
            <a:off x="4445000" y="5270500"/>
            <a:ext cx="1524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170F4C5F-8980-69E6-04E1-5F01F7E47848}"/>
              </a:ext>
            </a:extLst>
          </p:cNvPr>
          <p:cNvSpPr txBox="1"/>
          <p:nvPr/>
        </p:nvSpPr>
        <p:spPr>
          <a:xfrm>
            <a:off x="4572000" y="4978400"/>
            <a:ext cx="1397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4. appointment id</a:t>
            </a:r>
          </a:p>
        </p:txBody>
      </p:sp>
      <p:cxnSp>
        <p:nvCxnSpPr>
          <p:cNvPr id="21" name="Straight Connector 20">
            <a:extLst>
              <a:ext uri="{FF2B5EF4-FFF2-40B4-BE49-F238E27FC236}">
                <a16:creationId xmlns:a16="http://schemas.microsoft.com/office/drawing/2014/main" id="{A2C50B2D-65F7-ECF9-D92B-C909882C19C3}"/>
              </a:ext>
            </a:extLst>
          </p:cNvPr>
          <p:cNvCxnSpPr/>
          <p:nvPr/>
        </p:nvCxnSpPr>
        <p:spPr>
          <a:xfrm flipH="1">
            <a:off x="2921000" y="6096000"/>
            <a:ext cx="1524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1719E5B8-0770-ADF7-F7F3-EB14F5A7D9AF}"/>
              </a:ext>
            </a:extLst>
          </p:cNvPr>
          <p:cNvSpPr txBox="1"/>
          <p:nvPr/>
        </p:nvSpPr>
        <p:spPr>
          <a:xfrm>
            <a:off x="3111500" y="5816600"/>
            <a:ext cx="1397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5. success response</a:t>
            </a:r>
          </a:p>
        </p:txBody>
      </p:sp>
      <p:cxnSp>
        <p:nvCxnSpPr>
          <p:cNvPr id="23" name="Straight Connector 22">
            <a:extLst>
              <a:ext uri="{FF2B5EF4-FFF2-40B4-BE49-F238E27FC236}">
                <a16:creationId xmlns:a16="http://schemas.microsoft.com/office/drawing/2014/main" id="{45C5CAE5-D77C-7502-0B2D-F703FAF1BF26}"/>
              </a:ext>
            </a:extLst>
          </p:cNvPr>
          <p:cNvCxnSpPr/>
          <p:nvPr/>
        </p:nvCxnSpPr>
        <p:spPr>
          <a:xfrm flipH="1">
            <a:off x="1397000" y="6921500"/>
            <a:ext cx="1524000" cy="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11DA103-8CE5-7E10-755E-CBA68A65163A}"/>
              </a:ext>
            </a:extLst>
          </p:cNvPr>
          <p:cNvSpPr txBox="1"/>
          <p:nvPr/>
        </p:nvSpPr>
        <p:spPr>
          <a:xfrm>
            <a:off x="1498600" y="6629400"/>
            <a:ext cx="1524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6. confirmation shown</a:t>
            </a:r>
          </a:p>
        </p:txBody>
      </p:sp>
      <p:sp>
        <p:nvSpPr>
          <p:cNvPr id="25" name="TextBox 24">
            <a:extLst>
              <a:ext uri="{FF2B5EF4-FFF2-40B4-BE49-F238E27FC236}">
                <a16:creationId xmlns:a16="http://schemas.microsoft.com/office/drawing/2014/main" id="{2A933B44-9CED-3877-8CA8-B299531857F6}"/>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7. Sequence of interactions when an appointment is created through the web interface.</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2639509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73A8B3-3365-8B64-D4CF-9E6E9B29B764}"/>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4H. SCHEMA / ENTITY RELATIONSHIP DIAGRAM</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D38A2B79-C28C-0D66-8F21-267EBE1F30E3}"/>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444A2CF-315B-E005-97E1-186BE329CF6B}"/>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40</a:t>
            </a:r>
          </a:p>
        </p:txBody>
      </p:sp>
      <p:sp>
        <p:nvSpPr>
          <p:cNvPr id="5" name="Rectangle 4">
            <a:extLst>
              <a:ext uri="{FF2B5EF4-FFF2-40B4-BE49-F238E27FC236}">
                <a16:creationId xmlns:a16="http://schemas.microsoft.com/office/drawing/2014/main" id="{0AAAEBED-AC92-52D0-9D05-D7BDF0C828B8}"/>
              </a:ext>
            </a:extLst>
          </p:cNvPr>
          <p:cNvSpPr/>
          <p:nvPr/>
        </p:nvSpPr>
        <p:spPr>
          <a:xfrm>
            <a:off x="635000" y="2159000"/>
            <a:ext cx="1397000" cy="1397000"/>
          </a:xfrm>
          <a:prstGeom prst="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User</a:t>
            </a:r>
          </a:p>
          <a:p>
            <a:pPr algn="ctr"/>
            <a:r>
              <a:rPr lang="en-IN" sz="1000">
                <a:latin typeface="Times New Roman" panose="02020603050405020304" pitchFamily="18" charset="0"/>
              </a:rPr>
              <a:t>- name</a:t>
            </a:r>
          </a:p>
          <a:p>
            <a:pPr algn="ctr"/>
            <a:r>
              <a:rPr lang="en-IN" sz="1000">
                <a:latin typeface="Times New Roman" panose="02020603050405020304" pitchFamily="18" charset="0"/>
              </a:rPr>
              <a:t>- email</a:t>
            </a:r>
          </a:p>
          <a:p>
            <a:pPr algn="ctr"/>
            <a:r>
              <a:rPr lang="en-IN" sz="1000">
                <a:latin typeface="Times New Roman" panose="02020603050405020304" pitchFamily="18" charset="0"/>
              </a:rPr>
              <a:t>- password</a:t>
            </a:r>
          </a:p>
          <a:p>
            <a:pPr algn="ctr"/>
            <a:r>
              <a:rPr lang="en-IN" sz="1000">
                <a:latin typeface="Times New Roman" panose="02020603050405020304" pitchFamily="18" charset="0"/>
              </a:rPr>
              <a:t>- role</a:t>
            </a:r>
          </a:p>
          <a:p>
            <a:pPr algn="ctr"/>
            <a:r>
              <a:rPr lang="en-IN" sz="1000">
                <a:latin typeface="Times New Roman" panose="02020603050405020304" pitchFamily="18" charset="0"/>
              </a:rPr>
              <a:t>- cart</a:t>
            </a:r>
          </a:p>
        </p:txBody>
      </p:sp>
      <p:sp>
        <p:nvSpPr>
          <p:cNvPr id="6" name="Rectangle 5">
            <a:extLst>
              <a:ext uri="{FF2B5EF4-FFF2-40B4-BE49-F238E27FC236}">
                <a16:creationId xmlns:a16="http://schemas.microsoft.com/office/drawing/2014/main" id="{569A0AC6-4C54-3B63-29E7-921A1B051A74}"/>
              </a:ext>
            </a:extLst>
          </p:cNvPr>
          <p:cNvSpPr/>
          <p:nvPr/>
        </p:nvSpPr>
        <p:spPr>
          <a:xfrm>
            <a:off x="2921000" y="1524000"/>
            <a:ext cx="1587500" cy="1524000"/>
          </a:xfrm>
          <a:prstGeom prst="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latin typeface="Times New Roman" panose="02020603050405020304" pitchFamily="18" charset="0"/>
              </a:rPr>
              <a:t>Patient</a:t>
            </a:r>
          </a:p>
          <a:p>
            <a:pPr algn="ctr"/>
            <a:r>
              <a:rPr lang="en-US" sz="1000">
                <a:latin typeface="Times New Roman" panose="02020603050405020304" pitchFamily="18" charset="0"/>
              </a:rPr>
              <a:t>- userId</a:t>
            </a:r>
          </a:p>
          <a:p>
            <a:pPr algn="ctr"/>
            <a:r>
              <a:rPr lang="en-US" sz="1000">
                <a:latin typeface="Times New Roman" panose="02020603050405020304" pitchFamily="18" charset="0"/>
              </a:rPr>
              <a:t>- age</a:t>
            </a:r>
          </a:p>
          <a:p>
            <a:pPr algn="ctr"/>
            <a:r>
              <a:rPr lang="en-US" sz="1000">
                <a:latin typeface="Times New Roman" panose="02020603050405020304" pitchFamily="18" charset="0"/>
              </a:rPr>
              <a:t>- gender</a:t>
            </a:r>
          </a:p>
          <a:p>
            <a:pPr algn="ctr"/>
            <a:r>
              <a:rPr lang="en-US" sz="1000">
                <a:latin typeface="Times New Roman" panose="02020603050405020304" pitchFamily="18" charset="0"/>
              </a:rPr>
              <a:t>- bloodGroup</a:t>
            </a:r>
          </a:p>
          <a:p>
            <a:pPr algn="ctr"/>
            <a:r>
              <a:rPr lang="en-US" sz="1000">
                <a:latin typeface="Times New Roman" panose="02020603050405020304" pitchFamily="18" charset="0"/>
              </a:rPr>
              <a:t>- disease</a:t>
            </a:r>
            <a:endParaRPr lang="en-IN" sz="1000">
              <a:latin typeface="Times New Roman" panose="02020603050405020304" pitchFamily="18" charset="0"/>
            </a:endParaRPr>
          </a:p>
        </p:txBody>
      </p:sp>
      <p:sp>
        <p:nvSpPr>
          <p:cNvPr id="7" name="Rectangle 6">
            <a:extLst>
              <a:ext uri="{FF2B5EF4-FFF2-40B4-BE49-F238E27FC236}">
                <a16:creationId xmlns:a16="http://schemas.microsoft.com/office/drawing/2014/main" id="{9778D308-D48C-9983-4BDD-EF5D58A0EBF6}"/>
              </a:ext>
            </a:extLst>
          </p:cNvPr>
          <p:cNvSpPr/>
          <p:nvPr/>
        </p:nvSpPr>
        <p:spPr>
          <a:xfrm>
            <a:off x="5207000" y="2159000"/>
            <a:ext cx="1587500" cy="15240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latin typeface="Times New Roman" panose="02020603050405020304" pitchFamily="18" charset="0"/>
              </a:rPr>
              <a:t>Appointment</a:t>
            </a:r>
          </a:p>
          <a:p>
            <a:pPr algn="ctr"/>
            <a:r>
              <a:rPr lang="en-US" sz="1000">
                <a:latin typeface="Times New Roman" panose="02020603050405020304" pitchFamily="18" charset="0"/>
              </a:rPr>
              <a:t>- patientId</a:t>
            </a:r>
          </a:p>
          <a:p>
            <a:pPr algn="ctr"/>
            <a:r>
              <a:rPr lang="en-US" sz="1000">
                <a:latin typeface="Times New Roman" panose="02020603050405020304" pitchFamily="18" charset="0"/>
              </a:rPr>
              <a:t>- doctorId</a:t>
            </a:r>
          </a:p>
          <a:p>
            <a:pPr algn="ctr"/>
            <a:r>
              <a:rPr lang="en-US" sz="1000">
                <a:latin typeface="Times New Roman" panose="02020603050405020304" pitchFamily="18" charset="0"/>
              </a:rPr>
              <a:t>- date</a:t>
            </a:r>
          </a:p>
          <a:p>
            <a:pPr algn="ctr"/>
            <a:r>
              <a:rPr lang="en-US" sz="1000">
                <a:latin typeface="Times New Roman" panose="02020603050405020304" pitchFamily="18" charset="0"/>
              </a:rPr>
              <a:t>- time</a:t>
            </a:r>
          </a:p>
          <a:p>
            <a:pPr algn="ctr"/>
            <a:r>
              <a:rPr lang="en-US" sz="1000">
                <a:latin typeface="Times New Roman" panose="02020603050405020304" pitchFamily="18" charset="0"/>
              </a:rPr>
              <a:t>- status</a:t>
            </a:r>
            <a:endParaRPr lang="en-IN" sz="1000">
              <a:latin typeface="Times New Roman" panose="02020603050405020304" pitchFamily="18" charset="0"/>
            </a:endParaRPr>
          </a:p>
        </p:txBody>
      </p:sp>
      <p:sp>
        <p:nvSpPr>
          <p:cNvPr id="8" name="Rectangle 7">
            <a:extLst>
              <a:ext uri="{FF2B5EF4-FFF2-40B4-BE49-F238E27FC236}">
                <a16:creationId xmlns:a16="http://schemas.microsoft.com/office/drawing/2014/main" id="{D738B83B-7858-AD3F-9E5D-0F4FD24010FC}"/>
              </a:ext>
            </a:extLst>
          </p:cNvPr>
          <p:cNvSpPr/>
          <p:nvPr/>
        </p:nvSpPr>
        <p:spPr>
          <a:xfrm>
            <a:off x="762000" y="5207000"/>
            <a:ext cx="1524000" cy="1397000"/>
          </a:xfrm>
          <a:prstGeom prst="rect">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latin typeface="Times New Roman" panose="02020603050405020304" pitchFamily="18" charset="0"/>
              </a:rPr>
              <a:t>Order</a:t>
            </a:r>
          </a:p>
          <a:p>
            <a:pPr algn="ctr"/>
            <a:r>
              <a:rPr lang="en-US" sz="1000">
                <a:latin typeface="Times New Roman" panose="02020603050405020304" pitchFamily="18" charset="0"/>
              </a:rPr>
              <a:t>- userId</a:t>
            </a:r>
          </a:p>
          <a:p>
            <a:pPr algn="ctr"/>
            <a:r>
              <a:rPr lang="en-US" sz="1000">
                <a:latin typeface="Times New Roman" panose="02020603050405020304" pitchFamily="18" charset="0"/>
              </a:rPr>
              <a:t>- items</a:t>
            </a:r>
          </a:p>
          <a:p>
            <a:pPr algn="ctr"/>
            <a:r>
              <a:rPr lang="en-US" sz="1000">
                <a:latin typeface="Times New Roman" panose="02020603050405020304" pitchFamily="18" charset="0"/>
              </a:rPr>
              <a:t>- totalAmount</a:t>
            </a:r>
          </a:p>
          <a:p>
            <a:pPr algn="ctr"/>
            <a:r>
              <a:rPr lang="en-US" sz="1000">
                <a:latin typeface="Times New Roman" panose="02020603050405020304" pitchFamily="18" charset="0"/>
              </a:rPr>
              <a:t>- paymentStatus</a:t>
            </a:r>
            <a:endParaRPr lang="en-IN" sz="1000">
              <a:latin typeface="Times New Roman" panose="02020603050405020304" pitchFamily="18" charset="0"/>
            </a:endParaRPr>
          </a:p>
        </p:txBody>
      </p:sp>
      <p:sp>
        <p:nvSpPr>
          <p:cNvPr id="9" name="Rectangle 8">
            <a:extLst>
              <a:ext uri="{FF2B5EF4-FFF2-40B4-BE49-F238E27FC236}">
                <a16:creationId xmlns:a16="http://schemas.microsoft.com/office/drawing/2014/main" id="{8C30C686-F629-E029-925C-8C7D1B15419D}"/>
              </a:ext>
            </a:extLst>
          </p:cNvPr>
          <p:cNvSpPr/>
          <p:nvPr/>
        </p:nvSpPr>
        <p:spPr>
          <a:xfrm>
            <a:off x="3111500" y="5016500"/>
            <a:ext cx="1524000" cy="1397000"/>
          </a:xfrm>
          <a:prstGeom prst="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latin typeface="Times New Roman" panose="02020603050405020304" pitchFamily="18" charset="0"/>
              </a:rPr>
              <a:t>Message</a:t>
            </a:r>
          </a:p>
          <a:p>
            <a:pPr algn="ctr"/>
            <a:r>
              <a:rPr lang="en-US" sz="1000">
                <a:latin typeface="Times New Roman" panose="02020603050405020304" pitchFamily="18" charset="0"/>
              </a:rPr>
              <a:t>- senderId</a:t>
            </a:r>
          </a:p>
          <a:p>
            <a:pPr algn="ctr"/>
            <a:r>
              <a:rPr lang="en-US" sz="1000">
                <a:latin typeface="Times New Roman" panose="02020603050405020304" pitchFamily="18" charset="0"/>
              </a:rPr>
              <a:t>- receiverId</a:t>
            </a:r>
          </a:p>
          <a:p>
            <a:pPr algn="ctr"/>
            <a:r>
              <a:rPr lang="en-US" sz="1000">
                <a:latin typeface="Times New Roman" panose="02020603050405020304" pitchFamily="18" charset="0"/>
              </a:rPr>
              <a:t>- text</a:t>
            </a:r>
          </a:p>
          <a:p>
            <a:pPr algn="ctr"/>
            <a:r>
              <a:rPr lang="en-US" sz="1000">
                <a:latin typeface="Times New Roman" panose="02020603050405020304" pitchFamily="18" charset="0"/>
              </a:rPr>
              <a:t>- createdAt</a:t>
            </a:r>
            <a:endParaRPr lang="en-IN" sz="1000">
              <a:latin typeface="Times New Roman" panose="02020603050405020304" pitchFamily="18" charset="0"/>
            </a:endParaRPr>
          </a:p>
        </p:txBody>
      </p:sp>
      <p:sp>
        <p:nvSpPr>
          <p:cNvPr id="10" name="Rectangle 9">
            <a:extLst>
              <a:ext uri="{FF2B5EF4-FFF2-40B4-BE49-F238E27FC236}">
                <a16:creationId xmlns:a16="http://schemas.microsoft.com/office/drawing/2014/main" id="{AA400A05-9F07-B13D-0635-11AA7CA22ECA}"/>
              </a:ext>
            </a:extLst>
          </p:cNvPr>
          <p:cNvSpPr/>
          <p:nvPr/>
        </p:nvSpPr>
        <p:spPr>
          <a:xfrm>
            <a:off x="5334000" y="5080000"/>
            <a:ext cx="1524000" cy="1397000"/>
          </a:xfrm>
          <a:prstGeom prst="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latin typeface="Times New Roman" panose="02020603050405020304" pitchFamily="18" charset="0"/>
              </a:rPr>
              <a:t>Notification</a:t>
            </a:r>
          </a:p>
          <a:p>
            <a:pPr algn="ctr"/>
            <a:r>
              <a:rPr lang="en-US" sz="1000">
                <a:latin typeface="Times New Roman" panose="02020603050405020304" pitchFamily="18" charset="0"/>
              </a:rPr>
              <a:t>- userId</a:t>
            </a:r>
          </a:p>
          <a:p>
            <a:pPr algn="ctr"/>
            <a:r>
              <a:rPr lang="en-US" sz="1000">
                <a:latin typeface="Times New Roman" panose="02020603050405020304" pitchFamily="18" charset="0"/>
              </a:rPr>
              <a:t>- title</a:t>
            </a:r>
          </a:p>
          <a:p>
            <a:pPr algn="ctr"/>
            <a:r>
              <a:rPr lang="en-US" sz="1000">
                <a:latin typeface="Times New Roman" panose="02020603050405020304" pitchFamily="18" charset="0"/>
              </a:rPr>
              <a:t>- message</a:t>
            </a:r>
          </a:p>
          <a:p>
            <a:pPr algn="ctr"/>
            <a:r>
              <a:rPr lang="en-US" sz="1000">
                <a:latin typeface="Times New Roman" panose="02020603050405020304" pitchFamily="18" charset="0"/>
              </a:rPr>
              <a:t>- read</a:t>
            </a:r>
            <a:endParaRPr lang="en-IN" sz="1000">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0F8850E9-5F2D-B7B0-6E35-76EC99F4EFEE}"/>
              </a:ext>
            </a:extLst>
          </p:cNvPr>
          <p:cNvCxnSpPr/>
          <p:nvPr/>
        </p:nvCxnSpPr>
        <p:spPr>
          <a:xfrm flipV="1">
            <a:off x="2032000" y="2286000"/>
            <a:ext cx="889000" cy="5715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D537D74-BE59-CB8B-740C-1EFAB58D04D2}"/>
              </a:ext>
            </a:extLst>
          </p:cNvPr>
          <p:cNvCxnSpPr/>
          <p:nvPr/>
        </p:nvCxnSpPr>
        <p:spPr>
          <a:xfrm>
            <a:off x="4508500" y="2286000"/>
            <a:ext cx="698500" cy="5715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23CABD9-7A7F-2ACB-0C88-CB2FCCDDE027}"/>
              </a:ext>
            </a:extLst>
          </p:cNvPr>
          <p:cNvCxnSpPr/>
          <p:nvPr/>
        </p:nvCxnSpPr>
        <p:spPr>
          <a:xfrm>
            <a:off x="1460500" y="3556000"/>
            <a:ext cx="0" cy="16510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8B63190-65A3-182A-3792-622A4402DB4E}"/>
              </a:ext>
            </a:extLst>
          </p:cNvPr>
          <p:cNvCxnSpPr/>
          <p:nvPr/>
        </p:nvCxnSpPr>
        <p:spPr>
          <a:xfrm>
            <a:off x="2032000" y="2984500"/>
            <a:ext cx="1079500" cy="27305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5373590-9BBF-193D-8CC4-6012A2CE64A2}"/>
              </a:ext>
            </a:extLst>
          </p:cNvPr>
          <p:cNvCxnSpPr/>
          <p:nvPr/>
        </p:nvCxnSpPr>
        <p:spPr>
          <a:xfrm>
            <a:off x="1778000" y="2984500"/>
            <a:ext cx="3556000" cy="2730500"/>
          </a:xfrm>
          <a:prstGeom prst="line">
            <a:avLst/>
          </a:prstGeom>
          <a:ln>
            <a:solidFill>
              <a:srgbClr val="5B5B5B"/>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4B5C5A3-86E1-E515-DB27-819EAAB859BE}"/>
              </a:ext>
            </a:extLst>
          </p:cNvPr>
          <p:cNvSpPr txBox="1"/>
          <p:nvPr/>
        </p:nvSpPr>
        <p:spPr>
          <a:xfrm>
            <a:off x="2324100" y="2311400"/>
            <a:ext cx="508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1 : 1</a:t>
            </a:r>
          </a:p>
        </p:txBody>
      </p:sp>
      <p:sp>
        <p:nvSpPr>
          <p:cNvPr id="17" name="TextBox 16">
            <a:extLst>
              <a:ext uri="{FF2B5EF4-FFF2-40B4-BE49-F238E27FC236}">
                <a16:creationId xmlns:a16="http://schemas.microsoft.com/office/drawing/2014/main" id="{C08673B4-6F63-2E69-90DD-84C99D6DF2A6}"/>
              </a:ext>
            </a:extLst>
          </p:cNvPr>
          <p:cNvSpPr txBox="1"/>
          <p:nvPr/>
        </p:nvSpPr>
        <p:spPr>
          <a:xfrm>
            <a:off x="4724400" y="2413000"/>
            <a:ext cx="6096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1 : many</a:t>
            </a:r>
          </a:p>
        </p:txBody>
      </p:sp>
      <p:sp>
        <p:nvSpPr>
          <p:cNvPr id="18" name="TextBox 17">
            <a:extLst>
              <a:ext uri="{FF2B5EF4-FFF2-40B4-BE49-F238E27FC236}">
                <a16:creationId xmlns:a16="http://schemas.microsoft.com/office/drawing/2014/main" id="{A6205AD7-BD94-03B1-5D10-98860956816D}"/>
              </a:ext>
            </a:extLst>
          </p:cNvPr>
          <p:cNvSpPr txBox="1"/>
          <p:nvPr/>
        </p:nvSpPr>
        <p:spPr>
          <a:xfrm>
            <a:off x="1117600" y="4254500"/>
            <a:ext cx="635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1 : many</a:t>
            </a:r>
          </a:p>
        </p:txBody>
      </p:sp>
      <p:sp>
        <p:nvSpPr>
          <p:cNvPr id="19" name="TextBox 18">
            <a:extLst>
              <a:ext uri="{FF2B5EF4-FFF2-40B4-BE49-F238E27FC236}">
                <a16:creationId xmlns:a16="http://schemas.microsoft.com/office/drawing/2014/main" id="{3DDEB9D9-A5D9-DCE4-D1B4-5572B6CB3647}"/>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8. Simplified schema / ER view of the core MongoDB collections.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797076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F63264-90F9-AC61-573D-1F01C484408F}"/>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4I. FLOWCHART - AUTHENTICATION</a:t>
            </a:r>
          </a:p>
        </p:txBody>
      </p:sp>
      <p:sp>
        <p:nvSpPr>
          <p:cNvPr id="3" name="Rectangle 2">
            <a:extLst>
              <a:ext uri="{FF2B5EF4-FFF2-40B4-BE49-F238E27FC236}">
                <a16:creationId xmlns:a16="http://schemas.microsoft.com/office/drawing/2014/main" id="{F65E5D0B-31D1-CF7A-A86C-2632AA12DA54}"/>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52FF9DE-BAE6-4D50-F231-CC4E2E5EE345}"/>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41</a:t>
            </a:r>
          </a:p>
        </p:txBody>
      </p:sp>
      <p:sp>
        <p:nvSpPr>
          <p:cNvPr id="5" name="Oval 4">
            <a:extLst>
              <a:ext uri="{FF2B5EF4-FFF2-40B4-BE49-F238E27FC236}">
                <a16:creationId xmlns:a16="http://schemas.microsoft.com/office/drawing/2014/main" id="{CE848E68-11D6-7597-3816-90BB9941B4BB}"/>
              </a:ext>
            </a:extLst>
          </p:cNvPr>
          <p:cNvSpPr/>
          <p:nvPr/>
        </p:nvSpPr>
        <p:spPr>
          <a:xfrm>
            <a:off x="3111500" y="1651000"/>
            <a:ext cx="1143000" cy="457200"/>
          </a:xfrm>
          <a:prstGeom prst="ellipse">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Start</a:t>
            </a:r>
          </a:p>
        </p:txBody>
      </p:sp>
      <p:sp>
        <p:nvSpPr>
          <p:cNvPr id="6" name="Rectangle 5">
            <a:extLst>
              <a:ext uri="{FF2B5EF4-FFF2-40B4-BE49-F238E27FC236}">
                <a16:creationId xmlns:a16="http://schemas.microsoft.com/office/drawing/2014/main" id="{D39847A4-D3A5-0AF9-7246-A91EFBCC541B}"/>
              </a:ext>
            </a:extLst>
          </p:cNvPr>
          <p:cNvSpPr/>
          <p:nvPr/>
        </p:nvSpPr>
        <p:spPr>
          <a:xfrm>
            <a:off x="2603500" y="2540000"/>
            <a:ext cx="2159000" cy="5588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Enter email and password</a:t>
            </a:r>
          </a:p>
        </p:txBody>
      </p:sp>
      <p:sp>
        <p:nvSpPr>
          <p:cNvPr id="7" name="Diamond 6">
            <a:extLst>
              <a:ext uri="{FF2B5EF4-FFF2-40B4-BE49-F238E27FC236}">
                <a16:creationId xmlns:a16="http://schemas.microsoft.com/office/drawing/2014/main" id="{71E4FB3B-423F-10F7-876A-52E32634EF0A}"/>
              </a:ext>
            </a:extLst>
          </p:cNvPr>
          <p:cNvSpPr/>
          <p:nvPr/>
        </p:nvSpPr>
        <p:spPr>
          <a:xfrm>
            <a:off x="2857500" y="3556000"/>
            <a:ext cx="1651000" cy="889000"/>
          </a:xfrm>
          <a:prstGeom prst="diamond">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User exists?</a:t>
            </a:r>
          </a:p>
        </p:txBody>
      </p:sp>
      <p:sp>
        <p:nvSpPr>
          <p:cNvPr id="8" name="Rectangle 7">
            <a:extLst>
              <a:ext uri="{FF2B5EF4-FFF2-40B4-BE49-F238E27FC236}">
                <a16:creationId xmlns:a16="http://schemas.microsoft.com/office/drawing/2014/main" id="{8B8B4B2C-FD9A-466B-34CD-93F0B8D7CD18}"/>
              </a:ext>
            </a:extLst>
          </p:cNvPr>
          <p:cNvSpPr/>
          <p:nvPr/>
        </p:nvSpPr>
        <p:spPr>
          <a:xfrm>
            <a:off x="635000" y="4953000"/>
            <a:ext cx="1968500" cy="5588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Show invalid user message</a:t>
            </a:r>
          </a:p>
        </p:txBody>
      </p:sp>
      <p:sp>
        <p:nvSpPr>
          <p:cNvPr id="9" name="Diamond 8">
            <a:extLst>
              <a:ext uri="{FF2B5EF4-FFF2-40B4-BE49-F238E27FC236}">
                <a16:creationId xmlns:a16="http://schemas.microsoft.com/office/drawing/2014/main" id="{47A9ACFE-8C1D-A485-2AA2-4726C6D889EF}"/>
              </a:ext>
            </a:extLst>
          </p:cNvPr>
          <p:cNvSpPr/>
          <p:nvPr/>
        </p:nvSpPr>
        <p:spPr>
          <a:xfrm>
            <a:off x="2857500" y="4953000"/>
            <a:ext cx="1651000" cy="889000"/>
          </a:xfrm>
          <a:prstGeom prst="diamond">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Password correct?</a:t>
            </a:r>
          </a:p>
        </p:txBody>
      </p:sp>
      <p:sp>
        <p:nvSpPr>
          <p:cNvPr id="10" name="Rectangle 9">
            <a:extLst>
              <a:ext uri="{FF2B5EF4-FFF2-40B4-BE49-F238E27FC236}">
                <a16:creationId xmlns:a16="http://schemas.microsoft.com/office/drawing/2014/main" id="{079E6520-6089-5FD9-B87C-DF57CB3724BC}"/>
              </a:ext>
            </a:extLst>
          </p:cNvPr>
          <p:cNvSpPr/>
          <p:nvPr/>
        </p:nvSpPr>
        <p:spPr>
          <a:xfrm>
            <a:off x="4635500" y="6477000"/>
            <a:ext cx="2222500" cy="609600"/>
          </a:xfrm>
          <a:prstGeom prst="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Generate JWT and load dashboard</a:t>
            </a:r>
            <a:endParaRPr lang="en-IN" sz="1100">
              <a:latin typeface="Times New Roman" panose="02020603050405020304" pitchFamily="18" charset="0"/>
            </a:endParaRPr>
          </a:p>
        </p:txBody>
      </p:sp>
      <p:sp>
        <p:nvSpPr>
          <p:cNvPr id="11" name="Rectangle 10">
            <a:extLst>
              <a:ext uri="{FF2B5EF4-FFF2-40B4-BE49-F238E27FC236}">
                <a16:creationId xmlns:a16="http://schemas.microsoft.com/office/drawing/2014/main" id="{BD3532A0-60AB-71A6-9BFD-8EA3F8FAD543}"/>
              </a:ext>
            </a:extLst>
          </p:cNvPr>
          <p:cNvSpPr/>
          <p:nvPr/>
        </p:nvSpPr>
        <p:spPr>
          <a:xfrm>
            <a:off x="635000" y="6477000"/>
            <a:ext cx="1587500" cy="5588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Show login error</a:t>
            </a:r>
          </a:p>
        </p:txBody>
      </p:sp>
      <p:sp>
        <p:nvSpPr>
          <p:cNvPr id="12" name="Oval 11">
            <a:extLst>
              <a:ext uri="{FF2B5EF4-FFF2-40B4-BE49-F238E27FC236}">
                <a16:creationId xmlns:a16="http://schemas.microsoft.com/office/drawing/2014/main" id="{E7887DF6-10F3-FACF-C182-3513BA02DF42}"/>
              </a:ext>
            </a:extLst>
          </p:cNvPr>
          <p:cNvSpPr/>
          <p:nvPr/>
        </p:nvSpPr>
        <p:spPr>
          <a:xfrm>
            <a:off x="3111500" y="7874000"/>
            <a:ext cx="1143000" cy="457200"/>
          </a:xfrm>
          <a:prstGeom prst="ellipse">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End</a:t>
            </a:r>
          </a:p>
        </p:txBody>
      </p:sp>
      <p:cxnSp>
        <p:nvCxnSpPr>
          <p:cNvPr id="13" name="Straight Connector 12">
            <a:extLst>
              <a:ext uri="{FF2B5EF4-FFF2-40B4-BE49-F238E27FC236}">
                <a16:creationId xmlns:a16="http://schemas.microsoft.com/office/drawing/2014/main" id="{36F837D1-9F68-8259-EE42-81371C08D39B}"/>
              </a:ext>
            </a:extLst>
          </p:cNvPr>
          <p:cNvCxnSpPr/>
          <p:nvPr/>
        </p:nvCxnSpPr>
        <p:spPr>
          <a:xfrm>
            <a:off x="3683000" y="2108200"/>
            <a:ext cx="0" cy="4318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CDADCE0-6780-FF2C-3231-484E9907FB96}"/>
              </a:ext>
            </a:extLst>
          </p:cNvPr>
          <p:cNvCxnSpPr/>
          <p:nvPr/>
        </p:nvCxnSpPr>
        <p:spPr>
          <a:xfrm>
            <a:off x="3683000" y="3098800"/>
            <a:ext cx="0" cy="4572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CA3EA4A-C488-8AED-17BA-D65075C58E46}"/>
              </a:ext>
            </a:extLst>
          </p:cNvPr>
          <p:cNvCxnSpPr/>
          <p:nvPr/>
        </p:nvCxnSpPr>
        <p:spPr>
          <a:xfrm flipH="1">
            <a:off x="1651000" y="4000500"/>
            <a:ext cx="1206500" cy="952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E258C9D-5530-25CB-5E9C-F69CBD998532}"/>
              </a:ext>
            </a:extLst>
          </p:cNvPr>
          <p:cNvCxnSpPr/>
          <p:nvPr/>
        </p:nvCxnSpPr>
        <p:spPr>
          <a:xfrm flipH="1">
            <a:off x="3683000" y="4000500"/>
            <a:ext cx="825500" cy="952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5FB2E63-20C8-1C49-9C7C-EE00A6A4AE8F}"/>
              </a:ext>
            </a:extLst>
          </p:cNvPr>
          <p:cNvCxnSpPr/>
          <p:nvPr/>
        </p:nvCxnSpPr>
        <p:spPr>
          <a:xfrm flipH="1">
            <a:off x="2222500" y="5461000"/>
            <a:ext cx="635000" cy="12954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44EF9639-A0ED-931A-6D99-0C694D332E8B}"/>
              </a:ext>
            </a:extLst>
          </p:cNvPr>
          <p:cNvCxnSpPr/>
          <p:nvPr/>
        </p:nvCxnSpPr>
        <p:spPr>
          <a:xfrm>
            <a:off x="4508500" y="5461000"/>
            <a:ext cx="127000" cy="13208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42FA5D57-1BA6-ECEF-F364-179E4BA88DB8}"/>
              </a:ext>
            </a:extLst>
          </p:cNvPr>
          <p:cNvCxnSpPr/>
          <p:nvPr/>
        </p:nvCxnSpPr>
        <p:spPr>
          <a:xfrm>
            <a:off x="1422400" y="7035800"/>
            <a:ext cx="1689100" cy="10668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F7885BF-0B98-BDD6-7F24-0846B096DDEB}"/>
              </a:ext>
            </a:extLst>
          </p:cNvPr>
          <p:cNvCxnSpPr/>
          <p:nvPr/>
        </p:nvCxnSpPr>
        <p:spPr>
          <a:xfrm flipH="1">
            <a:off x="4254500" y="7086600"/>
            <a:ext cx="1485900" cy="10160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96F90420-3705-57F2-E71C-DD2542F0B83C}"/>
              </a:ext>
            </a:extLst>
          </p:cNvPr>
          <p:cNvSpPr txBox="1"/>
          <p:nvPr/>
        </p:nvSpPr>
        <p:spPr>
          <a:xfrm>
            <a:off x="2349500" y="4356100"/>
            <a:ext cx="3556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No</a:t>
            </a:r>
          </a:p>
        </p:txBody>
      </p:sp>
      <p:sp>
        <p:nvSpPr>
          <p:cNvPr id="22" name="TextBox 21">
            <a:extLst>
              <a:ext uri="{FF2B5EF4-FFF2-40B4-BE49-F238E27FC236}">
                <a16:creationId xmlns:a16="http://schemas.microsoft.com/office/drawing/2014/main" id="{5FDB560A-743F-4D58-7DA5-19D6A4A09F2A}"/>
              </a:ext>
            </a:extLst>
          </p:cNvPr>
          <p:cNvSpPr txBox="1"/>
          <p:nvPr/>
        </p:nvSpPr>
        <p:spPr>
          <a:xfrm>
            <a:off x="4000500" y="4356100"/>
            <a:ext cx="355600" cy="446597"/>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Yes</a:t>
            </a:r>
          </a:p>
        </p:txBody>
      </p:sp>
      <p:sp>
        <p:nvSpPr>
          <p:cNvPr id="23" name="TextBox 22">
            <a:extLst>
              <a:ext uri="{FF2B5EF4-FFF2-40B4-BE49-F238E27FC236}">
                <a16:creationId xmlns:a16="http://schemas.microsoft.com/office/drawing/2014/main" id="{B1AED92B-C371-8682-149E-5A562C63EBB8}"/>
              </a:ext>
            </a:extLst>
          </p:cNvPr>
          <p:cNvSpPr txBox="1"/>
          <p:nvPr/>
        </p:nvSpPr>
        <p:spPr>
          <a:xfrm>
            <a:off x="2260600" y="5930900"/>
            <a:ext cx="3556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No</a:t>
            </a:r>
          </a:p>
        </p:txBody>
      </p:sp>
      <p:sp>
        <p:nvSpPr>
          <p:cNvPr id="24" name="TextBox 23">
            <a:extLst>
              <a:ext uri="{FF2B5EF4-FFF2-40B4-BE49-F238E27FC236}">
                <a16:creationId xmlns:a16="http://schemas.microsoft.com/office/drawing/2014/main" id="{C048192A-A264-00F6-7162-4865ADA82AF7}"/>
              </a:ext>
            </a:extLst>
          </p:cNvPr>
          <p:cNvSpPr txBox="1"/>
          <p:nvPr/>
        </p:nvSpPr>
        <p:spPr>
          <a:xfrm>
            <a:off x="4660900" y="5930900"/>
            <a:ext cx="355600" cy="446597"/>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Yes</a:t>
            </a:r>
          </a:p>
        </p:txBody>
      </p:sp>
      <p:sp>
        <p:nvSpPr>
          <p:cNvPr id="25" name="TextBox 24">
            <a:extLst>
              <a:ext uri="{FF2B5EF4-FFF2-40B4-BE49-F238E27FC236}">
                <a16:creationId xmlns:a16="http://schemas.microsoft.com/office/drawing/2014/main" id="{1F4055BA-1E27-3201-CE81-55FF7D1E9B4B}"/>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9. Flowchart of the login authentication process.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24380465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B4C77A-A95D-FFA4-49B9-9DE30D5DBE46}"/>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4J. FLOWCHART - ORDER PROCESSING</a:t>
            </a:r>
          </a:p>
        </p:txBody>
      </p:sp>
      <p:sp>
        <p:nvSpPr>
          <p:cNvPr id="3" name="Rectangle 2">
            <a:extLst>
              <a:ext uri="{FF2B5EF4-FFF2-40B4-BE49-F238E27FC236}">
                <a16:creationId xmlns:a16="http://schemas.microsoft.com/office/drawing/2014/main" id="{21BD4D41-D4FB-021C-15D3-12AD82860DCB}"/>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719CC80-BA70-85AB-7164-CD0296C17633}"/>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42</a:t>
            </a:r>
          </a:p>
        </p:txBody>
      </p:sp>
      <p:sp>
        <p:nvSpPr>
          <p:cNvPr id="5" name="Oval 4">
            <a:extLst>
              <a:ext uri="{FF2B5EF4-FFF2-40B4-BE49-F238E27FC236}">
                <a16:creationId xmlns:a16="http://schemas.microsoft.com/office/drawing/2014/main" id="{F4DA4691-4128-DA4C-7338-765A043FA91A}"/>
              </a:ext>
            </a:extLst>
          </p:cNvPr>
          <p:cNvSpPr/>
          <p:nvPr/>
        </p:nvSpPr>
        <p:spPr>
          <a:xfrm>
            <a:off x="3175000" y="1587500"/>
            <a:ext cx="1143000" cy="457200"/>
          </a:xfrm>
          <a:prstGeom prst="ellipse">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Start</a:t>
            </a:r>
          </a:p>
        </p:txBody>
      </p:sp>
      <p:sp>
        <p:nvSpPr>
          <p:cNvPr id="6" name="Rectangle 5">
            <a:extLst>
              <a:ext uri="{FF2B5EF4-FFF2-40B4-BE49-F238E27FC236}">
                <a16:creationId xmlns:a16="http://schemas.microsoft.com/office/drawing/2014/main" id="{E4C90FA9-0E42-B855-7292-C0811DF60582}"/>
              </a:ext>
            </a:extLst>
          </p:cNvPr>
          <p:cNvSpPr/>
          <p:nvPr/>
        </p:nvSpPr>
        <p:spPr>
          <a:xfrm>
            <a:off x="2857500" y="2413000"/>
            <a:ext cx="1778000" cy="5080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Select product</a:t>
            </a:r>
          </a:p>
        </p:txBody>
      </p:sp>
      <p:sp>
        <p:nvSpPr>
          <p:cNvPr id="7" name="Diamond 6">
            <a:extLst>
              <a:ext uri="{FF2B5EF4-FFF2-40B4-BE49-F238E27FC236}">
                <a16:creationId xmlns:a16="http://schemas.microsoft.com/office/drawing/2014/main" id="{F1614CD3-3608-9001-944B-F6E01C62FC04}"/>
              </a:ext>
            </a:extLst>
          </p:cNvPr>
          <p:cNvSpPr/>
          <p:nvPr/>
        </p:nvSpPr>
        <p:spPr>
          <a:xfrm>
            <a:off x="2794000" y="3302000"/>
            <a:ext cx="1905000" cy="914400"/>
          </a:xfrm>
          <a:prstGeom prst="diamond">
            <a:avLst/>
          </a:prstGeom>
          <a:solidFill>
            <a:srgbClr val="F2F2F2"/>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Already in cart?</a:t>
            </a:r>
          </a:p>
        </p:txBody>
      </p:sp>
      <p:sp>
        <p:nvSpPr>
          <p:cNvPr id="8" name="Rectangle 7">
            <a:extLst>
              <a:ext uri="{FF2B5EF4-FFF2-40B4-BE49-F238E27FC236}">
                <a16:creationId xmlns:a16="http://schemas.microsoft.com/office/drawing/2014/main" id="{A5B3E3F1-09A0-4049-1AE4-90FC4AFCC28C}"/>
              </a:ext>
            </a:extLst>
          </p:cNvPr>
          <p:cNvSpPr/>
          <p:nvPr/>
        </p:nvSpPr>
        <p:spPr>
          <a:xfrm>
            <a:off x="4889500" y="4635500"/>
            <a:ext cx="1651000" cy="508000"/>
          </a:xfrm>
          <a:prstGeom prst="rect">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Increase quantity</a:t>
            </a:r>
          </a:p>
        </p:txBody>
      </p:sp>
      <p:sp>
        <p:nvSpPr>
          <p:cNvPr id="9" name="Rectangle 8">
            <a:extLst>
              <a:ext uri="{FF2B5EF4-FFF2-40B4-BE49-F238E27FC236}">
                <a16:creationId xmlns:a16="http://schemas.microsoft.com/office/drawing/2014/main" id="{880B1E22-F810-5A66-A1C9-D658C21F55BF}"/>
              </a:ext>
            </a:extLst>
          </p:cNvPr>
          <p:cNvSpPr/>
          <p:nvPr/>
        </p:nvSpPr>
        <p:spPr>
          <a:xfrm>
            <a:off x="889000" y="4635500"/>
            <a:ext cx="1651000" cy="508000"/>
          </a:xfrm>
          <a:prstGeom prst="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Add new cart item</a:t>
            </a:r>
          </a:p>
        </p:txBody>
      </p:sp>
      <p:sp>
        <p:nvSpPr>
          <p:cNvPr id="10" name="Rectangle 9">
            <a:extLst>
              <a:ext uri="{FF2B5EF4-FFF2-40B4-BE49-F238E27FC236}">
                <a16:creationId xmlns:a16="http://schemas.microsoft.com/office/drawing/2014/main" id="{2F303B91-5E47-24A8-F2BB-BAAB1B3FCC29}"/>
              </a:ext>
            </a:extLst>
          </p:cNvPr>
          <p:cNvSpPr/>
          <p:nvPr/>
        </p:nvSpPr>
        <p:spPr>
          <a:xfrm>
            <a:off x="2857500" y="5588000"/>
            <a:ext cx="1778000" cy="5334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latin typeface="Times New Roman" panose="02020603050405020304" pitchFamily="18" charset="0"/>
              </a:rPr>
              <a:t>Review cart and total</a:t>
            </a:r>
          </a:p>
        </p:txBody>
      </p:sp>
      <p:sp>
        <p:nvSpPr>
          <p:cNvPr id="11" name="Diamond 10">
            <a:extLst>
              <a:ext uri="{FF2B5EF4-FFF2-40B4-BE49-F238E27FC236}">
                <a16:creationId xmlns:a16="http://schemas.microsoft.com/office/drawing/2014/main" id="{136E4C73-327B-BC78-EBE8-A09824A4272E}"/>
              </a:ext>
            </a:extLst>
          </p:cNvPr>
          <p:cNvSpPr/>
          <p:nvPr/>
        </p:nvSpPr>
        <p:spPr>
          <a:xfrm>
            <a:off x="2794000" y="6540500"/>
            <a:ext cx="1905000" cy="965200"/>
          </a:xfrm>
          <a:prstGeom prst="diamond">
            <a:avLst/>
          </a:prstGeom>
          <a:solidFill>
            <a:srgbClr val="7BFAE1"/>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latin typeface="Times New Roman" panose="02020603050405020304" pitchFamily="18" charset="0"/>
              </a:rPr>
              <a:t>Place order with COD?</a:t>
            </a:r>
          </a:p>
        </p:txBody>
      </p:sp>
      <p:sp>
        <p:nvSpPr>
          <p:cNvPr id="12" name="Rectangle 11">
            <a:extLst>
              <a:ext uri="{FF2B5EF4-FFF2-40B4-BE49-F238E27FC236}">
                <a16:creationId xmlns:a16="http://schemas.microsoft.com/office/drawing/2014/main" id="{6211830D-CB44-786E-898F-7644AA81AB6A}"/>
              </a:ext>
            </a:extLst>
          </p:cNvPr>
          <p:cNvSpPr/>
          <p:nvPr/>
        </p:nvSpPr>
        <p:spPr>
          <a:xfrm>
            <a:off x="4635500" y="7937500"/>
            <a:ext cx="2159000" cy="660400"/>
          </a:xfrm>
          <a:prstGeom prst="rect">
            <a:avLst/>
          </a:prstGeom>
          <a:solidFill>
            <a:srgbClr val="E9E9E9"/>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Create order, clear cart, show confirmation page</a:t>
            </a:r>
            <a:endParaRPr lang="en-IN" sz="1100">
              <a:latin typeface="Times New Roman" panose="02020603050405020304" pitchFamily="18" charset="0"/>
            </a:endParaRPr>
          </a:p>
        </p:txBody>
      </p:sp>
      <p:sp>
        <p:nvSpPr>
          <p:cNvPr id="13" name="Rectangle 12">
            <a:extLst>
              <a:ext uri="{FF2B5EF4-FFF2-40B4-BE49-F238E27FC236}">
                <a16:creationId xmlns:a16="http://schemas.microsoft.com/office/drawing/2014/main" id="{FC6EE99D-A316-AE1D-60F5-23CAC3DA5433}"/>
              </a:ext>
            </a:extLst>
          </p:cNvPr>
          <p:cNvSpPr/>
          <p:nvPr/>
        </p:nvSpPr>
        <p:spPr>
          <a:xfrm>
            <a:off x="571500" y="7937500"/>
            <a:ext cx="1905000" cy="660400"/>
          </a:xfrm>
          <a:prstGeom prst="rect">
            <a:avLst/>
          </a:prstGeom>
          <a:solidFill>
            <a:srgbClr val="F3F3F5"/>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Times New Roman" panose="02020603050405020304" pitchFamily="18" charset="0"/>
              </a:rPr>
              <a:t>Stay in cart / continue editing</a:t>
            </a:r>
            <a:endParaRPr lang="en-IN" sz="1100">
              <a:latin typeface="Times New Roman" panose="02020603050405020304" pitchFamily="18" charset="0"/>
            </a:endParaRPr>
          </a:p>
        </p:txBody>
      </p:sp>
      <p:cxnSp>
        <p:nvCxnSpPr>
          <p:cNvPr id="14" name="Straight Connector 13">
            <a:extLst>
              <a:ext uri="{FF2B5EF4-FFF2-40B4-BE49-F238E27FC236}">
                <a16:creationId xmlns:a16="http://schemas.microsoft.com/office/drawing/2014/main" id="{926594BF-BECC-C8BE-A84C-F44DE89462B4}"/>
              </a:ext>
            </a:extLst>
          </p:cNvPr>
          <p:cNvCxnSpPr/>
          <p:nvPr/>
        </p:nvCxnSpPr>
        <p:spPr>
          <a:xfrm>
            <a:off x="3746500" y="2044700"/>
            <a:ext cx="0" cy="3683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98CC591-E9C3-7C11-1F3E-EA56591A2AE8}"/>
              </a:ext>
            </a:extLst>
          </p:cNvPr>
          <p:cNvCxnSpPr/>
          <p:nvPr/>
        </p:nvCxnSpPr>
        <p:spPr>
          <a:xfrm>
            <a:off x="3746500" y="2921000"/>
            <a:ext cx="0" cy="3810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0F1BA34-70B3-8C88-8E27-BFCDDF47C717}"/>
              </a:ext>
            </a:extLst>
          </p:cNvPr>
          <p:cNvCxnSpPr/>
          <p:nvPr/>
        </p:nvCxnSpPr>
        <p:spPr>
          <a:xfrm flipH="1">
            <a:off x="1714500" y="3759200"/>
            <a:ext cx="1079500" cy="8763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E4462F0-7468-8485-DE2C-505B3AB77962}"/>
              </a:ext>
            </a:extLst>
          </p:cNvPr>
          <p:cNvCxnSpPr/>
          <p:nvPr/>
        </p:nvCxnSpPr>
        <p:spPr>
          <a:xfrm>
            <a:off x="4699000" y="3759200"/>
            <a:ext cx="190500" cy="8763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AFA8D28-9807-2C26-CFCE-E7232594AA60}"/>
              </a:ext>
            </a:extLst>
          </p:cNvPr>
          <p:cNvCxnSpPr/>
          <p:nvPr/>
        </p:nvCxnSpPr>
        <p:spPr>
          <a:xfrm>
            <a:off x="1714500" y="5143500"/>
            <a:ext cx="1460500" cy="444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DEFA708-A9D0-3DAB-D244-CB7BB6458DC9}"/>
              </a:ext>
            </a:extLst>
          </p:cNvPr>
          <p:cNvCxnSpPr/>
          <p:nvPr/>
        </p:nvCxnSpPr>
        <p:spPr>
          <a:xfrm flipH="1">
            <a:off x="4318000" y="5143500"/>
            <a:ext cx="1397000" cy="4445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699CA9C-F122-49C4-1275-68EF3ABC2A3A}"/>
              </a:ext>
            </a:extLst>
          </p:cNvPr>
          <p:cNvCxnSpPr/>
          <p:nvPr/>
        </p:nvCxnSpPr>
        <p:spPr>
          <a:xfrm>
            <a:off x="3746500" y="6121400"/>
            <a:ext cx="0" cy="4191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723D3DD-EEF7-8C35-6399-2C08DCA064C1}"/>
              </a:ext>
            </a:extLst>
          </p:cNvPr>
          <p:cNvCxnSpPr/>
          <p:nvPr/>
        </p:nvCxnSpPr>
        <p:spPr>
          <a:xfrm flipH="1">
            <a:off x="1841500" y="7073900"/>
            <a:ext cx="952500" cy="8636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DBB0BDF-FEB1-39DB-C986-2C52EB4B3D54}"/>
              </a:ext>
            </a:extLst>
          </p:cNvPr>
          <p:cNvCxnSpPr/>
          <p:nvPr/>
        </p:nvCxnSpPr>
        <p:spPr>
          <a:xfrm flipH="1">
            <a:off x="4635500" y="7073900"/>
            <a:ext cx="63500" cy="1193800"/>
          </a:xfrm>
          <a:prstGeom prst="line">
            <a:avLst/>
          </a:prstGeom>
          <a:ln>
            <a:solidFill>
              <a:srgbClr val="5B5B5B"/>
            </a:solidFill>
            <a:tailEnd type="arrow"/>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A4670A5B-DBA4-6999-29C8-EECD917B910C}"/>
              </a:ext>
            </a:extLst>
          </p:cNvPr>
          <p:cNvSpPr txBox="1"/>
          <p:nvPr/>
        </p:nvSpPr>
        <p:spPr>
          <a:xfrm>
            <a:off x="2311400" y="4229100"/>
            <a:ext cx="3556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No</a:t>
            </a:r>
          </a:p>
        </p:txBody>
      </p:sp>
      <p:sp>
        <p:nvSpPr>
          <p:cNvPr id="24" name="TextBox 23">
            <a:extLst>
              <a:ext uri="{FF2B5EF4-FFF2-40B4-BE49-F238E27FC236}">
                <a16:creationId xmlns:a16="http://schemas.microsoft.com/office/drawing/2014/main" id="{3F739126-9FA4-9A04-3668-6D01E473E251}"/>
              </a:ext>
            </a:extLst>
          </p:cNvPr>
          <p:cNvSpPr txBox="1"/>
          <p:nvPr/>
        </p:nvSpPr>
        <p:spPr>
          <a:xfrm>
            <a:off x="4838700" y="4229100"/>
            <a:ext cx="381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Yes</a:t>
            </a:r>
          </a:p>
        </p:txBody>
      </p:sp>
      <p:sp>
        <p:nvSpPr>
          <p:cNvPr id="25" name="TextBox 24">
            <a:extLst>
              <a:ext uri="{FF2B5EF4-FFF2-40B4-BE49-F238E27FC236}">
                <a16:creationId xmlns:a16="http://schemas.microsoft.com/office/drawing/2014/main" id="{E1F20275-1D15-9905-4851-4D3078E40A5E}"/>
              </a:ext>
            </a:extLst>
          </p:cNvPr>
          <p:cNvSpPr txBox="1"/>
          <p:nvPr/>
        </p:nvSpPr>
        <p:spPr>
          <a:xfrm>
            <a:off x="2311400" y="7556500"/>
            <a:ext cx="381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No</a:t>
            </a:r>
          </a:p>
        </p:txBody>
      </p:sp>
      <p:sp>
        <p:nvSpPr>
          <p:cNvPr id="26" name="TextBox 25">
            <a:extLst>
              <a:ext uri="{FF2B5EF4-FFF2-40B4-BE49-F238E27FC236}">
                <a16:creationId xmlns:a16="http://schemas.microsoft.com/office/drawing/2014/main" id="{0FC11CFD-0BA4-94F2-D6F3-6F593827B8E4}"/>
              </a:ext>
            </a:extLst>
          </p:cNvPr>
          <p:cNvSpPr txBox="1"/>
          <p:nvPr/>
        </p:nvSpPr>
        <p:spPr>
          <a:xfrm>
            <a:off x="4800600" y="7556500"/>
            <a:ext cx="381000" cy="259623"/>
          </a:xfrm>
          <a:prstGeom prst="rect">
            <a:avLst/>
          </a:prstGeom>
          <a:noFill/>
        </p:spPr>
        <p:txBody>
          <a:bodyPr vert="horz" wrap="square" rtlCol="0">
            <a:spAutoFit/>
          </a:bodyPr>
          <a:lstStyle/>
          <a:p>
            <a:pPr algn="ctr">
              <a:lnSpc>
                <a:spcPct val="135000"/>
              </a:lnSpc>
              <a:spcAft>
                <a:spcPts val="600"/>
              </a:spcAft>
            </a:pPr>
            <a:r>
              <a:rPr lang="en-IN" sz="900">
                <a:solidFill>
                  <a:srgbClr val="696969"/>
                </a:solidFill>
                <a:latin typeface="Times New Roman" panose="02020603050405020304" pitchFamily="18" charset="0"/>
              </a:rPr>
              <a:t>Yes</a:t>
            </a:r>
          </a:p>
        </p:txBody>
      </p:sp>
      <p:sp>
        <p:nvSpPr>
          <p:cNvPr id="27" name="TextBox 26">
            <a:extLst>
              <a:ext uri="{FF2B5EF4-FFF2-40B4-BE49-F238E27FC236}">
                <a16:creationId xmlns:a16="http://schemas.microsoft.com/office/drawing/2014/main" id="{B488F834-F28F-46C9-637C-DCFB47789ECB}"/>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10. Flowchart of the cart and COD order processing logic.</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41916812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D14897-2E7C-505F-AB4A-AE203A92E32C}"/>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CHAPTER 5: METHODOLOGY</a:t>
            </a:r>
          </a:p>
        </p:txBody>
      </p:sp>
      <p:sp>
        <p:nvSpPr>
          <p:cNvPr id="3" name="Rectangle 2">
            <a:extLst>
              <a:ext uri="{FF2B5EF4-FFF2-40B4-BE49-F238E27FC236}">
                <a16:creationId xmlns:a16="http://schemas.microsoft.com/office/drawing/2014/main" id="{8229B131-1A82-20BA-0FE6-C7806FA12FA1}"/>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2764DAC-1AAE-F267-2DA1-B8198AF976B3}"/>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43</a:t>
            </a:r>
          </a:p>
        </p:txBody>
      </p:sp>
      <p:sp>
        <p:nvSpPr>
          <p:cNvPr id="5" name="TextBox 4">
            <a:extLst>
              <a:ext uri="{FF2B5EF4-FFF2-40B4-BE49-F238E27FC236}">
                <a16:creationId xmlns:a16="http://schemas.microsoft.com/office/drawing/2014/main" id="{F4058EF9-58A1-62DD-554E-9ED45C451E85}"/>
              </a:ext>
            </a:extLst>
          </p:cNvPr>
          <p:cNvSpPr txBox="1"/>
          <p:nvPr/>
        </p:nvSpPr>
        <p:spPr>
          <a:xfrm>
            <a:off x="584200" y="1397000"/>
            <a:ext cx="6388100" cy="2214324"/>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methodology adopted for this project is modular, incremental, and implementation-oriented. Each major function was developed as an independent module and then integrated into the broader workflow. This approach reduced complexity, simplified testing, and helped maintain code clarity during the project lifecycle.</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This chapter presents the step-by-step development approach, the algorithms and techniques used, the simplified mathematical model considered for evaluation, and the overall workflow logic followed during execution.</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2992886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4FDAE0-B641-9BAF-C998-37EFD4D7D7E2}"/>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5A. STEP-BY-STEP DEVELOPMENT APPROACH</a:t>
            </a:r>
          </a:p>
        </p:txBody>
      </p:sp>
      <p:sp>
        <p:nvSpPr>
          <p:cNvPr id="3" name="Rectangle 2">
            <a:extLst>
              <a:ext uri="{FF2B5EF4-FFF2-40B4-BE49-F238E27FC236}">
                <a16:creationId xmlns:a16="http://schemas.microsoft.com/office/drawing/2014/main" id="{BBDB43AC-E5D9-1C86-F94F-44D90089BCFA}"/>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9EF733A-B3DA-E0C6-2B0F-2FEDEC6721F8}"/>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44</a:t>
            </a:r>
          </a:p>
        </p:txBody>
      </p:sp>
      <p:sp>
        <p:nvSpPr>
          <p:cNvPr id="5" name="TextBox 4">
            <a:extLst>
              <a:ext uri="{FF2B5EF4-FFF2-40B4-BE49-F238E27FC236}">
                <a16:creationId xmlns:a16="http://schemas.microsoft.com/office/drawing/2014/main" id="{18795A22-1C82-FC3C-3D90-805DBA7D7C91}"/>
              </a:ext>
            </a:extLst>
          </p:cNvPr>
          <p:cNvSpPr txBox="1"/>
          <p:nvPr/>
        </p:nvSpPr>
        <p:spPr>
          <a:xfrm>
            <a:off x="762000" y="1841500"/>
            <a:ext cx="6223000" cy="3427220"/>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Requirement gathering from the problem statement, feature list, and report guidelines.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Creation of backend project structure with config, models, controllers, routes, middleware, and utilities.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Design of MongoDB schemas for users, patients, appointments, orders, messages, and notifications.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Implementation of authentication, JWT protection, and OTP verification workflow.</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Addition of patient CRUD, appointment management, file upload, and search features.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Implementation of medical store, cart logic, order placement, and order confirmation flow.</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Integration of Socket.IO chat, notifications, map, and AI doctor widget.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Frontend design using React components, route protection, and role-aware dashboard sections.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Testing using dummy accounts, seeded records, and manual validation of each workflow.</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23779995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ED4B0F-8597-2967-AFC8-989AA19B93CA}"/>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5B. ALGORITHMS AND TECHNIQUES USED</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393F329A-A4CB-B42B-3BA0-8D7A7DBDAAC8}"/>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63354A3-320B-5560-1C0B-6DA15E40C588}"/>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45</a:t>
            </a:r>
          </a:p>
        </p:txBody>
      </p:sp>
      <p:sp>
        <p:nvSpPr>
          <p:cNvPr id="5" name="TextBox 4">
            <a:extLst>
              <a:ext uri="{FF2B5EF4-FFF2-40B4-BE49-F238E27FC236}">
                <a16:creationId xmlns:a16="http://schemas.microsoft.com/office/drawing/2014/main" id="{00783A23-9C23-B80D-680F-B77FE82B0F06}"/>
              </a:ext>
            </a:extLst>
          </p:cNvPr>
          <p:cNvSpPr txBox="1"/>
          <p:nvPr/>
        </p:nvSpPr>
        <p:spPr>
          <a:xfrm>
            <a:off x="762000" y="1841500"/>
            <a:ext cx="6223000" cy="3907352"/>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Password Hashing: bcrypt is used to hash user passwords before storage.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Token-based Authentication: JWT is generated at login and validated on protected routes.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OTP Verification: a six-digit OTP with expiry timestamp is generated and matched during verification.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Search and Filter: keyword matching and status-based filtering reduce retrieval time.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Cart Quantity Merge: when the same product is added again, quantity is incremented instead of creating duplicate rows.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Remove One Item Logic: cart item removal reduces quantity by one and removes the item only when quantity reaches zero.</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Delivered Order Removal Rule: order history deletion is permitted only after status becomes delivered.</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Real-time Messaging: Socket.IO emits events for instant message delivery.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Role-based Authorization: middleware restricts admin-only functionality.</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3104160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D029A-56EF-AFE8-F85E-2BCAB8CDA6CC}"/>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5C. MATHEMATICAL MODEL AND ASSUMPTIONS</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04ACECB4-3146-57DF-8B1D-63EE2D29AC70}"/>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9F2F8E8-7793-27ED-B702-CCE624759DA2}"/>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46</a:t>
            </a:r>
          </a:p>
        </p:txBody>
      </p:sp>
      <p:sp>
        <p:nvSpPr>
          <p:cNvPr id="5" name="TextBox 4">
            <a:extLst>
              <a:ext uri="{FF2B5EF4-FFF2-40B4-BE49-F238E27FC236}">
                <a16:creationId xmlns:a16="http://schemas.microsoft.com/office/drawing/2014/main" id="{0FC882E3-1645-C769-20E3-9C827147DA72}"/>
              </a:ext>
            </a:extLst>
          </p:cNvPr>
          <p:cNvSpPr txBox="1"/>
          <p:nvPr/>
        </p:nvSpPr>
        <p:spPr>
          <a:xfrm>
            <a:off x="584200" y="1397000"/>
            <a:ext cx="6388100" cy="3864007"/>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Although the project is primarily application-oriented, a simplified performance model was used to reason about system effectiveness. Operational success can be expressed as a weighted function of authentication reliability, appointment workflow completion, order completion, and notification delivery.</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A simple evaluation expression may be written as: Overall Success Score = w1(A) + w2(P) + w3(O) + w4(N), where A is authentication success rate, P is appointment flow completion rate, O is order flow completion rate, and N is notification or communication reliability. The weights reflect module importance within the prototype.</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For report discussion, the following assumptions were used: one local deployment environment, seeded demo data, small to medium request volume, and manual validation of key workflows. These assumptions are appropriate for academic prototype evaluation, but not intended as enterprise-scale benchmarks.</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540385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403292-4D0D-0535-A2FF-6B26FBFC8B75}"/>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5D. WORKFLOW EXPLANATION</a:t>
            </a:r>
          </a:p>
        </p:txBody>
      </p:sp>
      <p:sp>
        <p:nvSpPr>
          <p:cNvPr id="3" name="Rectangle 2">
            <a:extLst>
              <a:ext uri="{FF2B5EF4-FFF2-40B4-BE49-F238E27FC236}">
                <a16:creationId xmlns:a16="http://schemas.microsoft.com/office/drawing/2014/main" id="{97793337-BC1F-FF0C-A078-7B0781C235A5}"/>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257CAE0-8BDF-2A55-B07B-9477A517E992}"/>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47</a:t>
            </a:r>
          </a:p>
        </p:txBody>
      </p:sp>
      <p:sp>
        <p:nvSpPr>
          <p:cNvPr id="5" name="TextBox 4">
            <a:extLst>
              <a:ext uri="{FF2B5EF4-FFF2-40B4-BE49-F238E27FC236}">
                <a16:creationId xmlns:a16="http://schemas.microsoft.com/office/drawing/2014/main" id="{BD643363-376B-496E-2F4E-9AB066A23786}"/>
              </a:ext>
            </a:extLst>
          </p:cNvPr>
          <p:cNvSpPr txBox="1"/>
          <p:nvPr/>
        </p:nvSpPr>
        <p:spPr>
          <a:xfrm>
            <a:off x="584200" y="1397000"/>
            <a:ext cx="6388100" cy="3365408"/>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workflow begins with user onboarding. After account creation and login, the user enters the dashboard where accessible modules depend on the assigned role. The administrator manages patient information and appointments, while the patient primarily interacts with bookings, uploads, cart, orders, chat, and notifications.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system is event-driven at the operational level. A new appointment triggers visibility and notifications; a new order triggers cart clearing and confirmation; a new chat message triggers an immediate socket event; and a delivered order unlocks a controlled delete action in history. Each workflow is designed so that state changes are reflected in both the frontend and backend records.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This methodology keeps the application behavior predictable and testable while still demonstrating practical full stack integration.</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444301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367D88-C4AF-3B54-94A1-8524191E0CFF}"/>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CHAPTER 6: IMPLEMENTATION</a:t>
            </a:r>
          </a:p>
        </p:txBody>
      </p:sp>
      <p:sp>
        <p:nvSpPr>
          <p:cNvPr id="3" name="Rectangle 2">
            <a:extLst>
              <a:ext uri="{FF2B5EF4-FFF2-40B4-BE49-F238E27FC236}">
                <a16:creationId xmlns:a16="http://schemas.microsoft.com/office/drawing/2014/main" id="{55A8F897-54E9-3526-F14F-491B6D8F1EF9}"/>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EC32D26-2C0E-AB18-EAD6-72F72CFE38BD}"/>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48</a:t>
            </a:r>
          </a:p>
        </p:txBody>
      </p:sp>
      <p:sp>
        <p:nvSpPr>
          <p:cNvPr id="5" name="TextBox 4">
            <a:extLst>
              <a:ext uri="{FF2B5EF4-FFF2-40B4-BE49-F238E27FC236}">
                <a16:creationId xmlns:a16="http://schemas.microsoft.com/office/drawing/2014/main" id="{EF75E1BC-CD6F-FF7C-3E91-E34F37083356}"/>
              </a:ext>
            </a:extLst>
          </p:cNvPr>
          <p:cNvSpPr txBox="1"/>
          <p:nvPr/>
        </p:nvSpPr>
        <p:spPr>
          <a:xfrm>
            <a:off x="584200" y="1397000"/>
            <a:ext cx="6388100" cy="1965025"/>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Implementation was carried out as a full stack MERN application with a clear separation between frontend and backend responsibilities. The backend exposes secure REST endpoints and socket events, while the frontend consumes those services through React pages and components.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This chapter documents the tools used, the hardware and software environment, the database and dummy data setup, the coding structure, the API organization, and the representative user interface layouts of the implemented system.</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21852914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A6997E-ED69-6303-4BDA-2CE78812329B}"/>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6A. TOOLS AND TECHNOLOGIES</a:t>
            </a:r>
          </a:p>
        </p:txBody>
      </p:sp>
      <p:sp>
        <p:nvSpPr>
          <p:cNvPr id="3" name="Rectangle 2">
            <a:extLst>
              <a:ext uri="{FF2B5EF4-FFF2-40B4-BE49-F238E27FC236}">
                <a16:creationId xmlns:a16="http://schemas.microsoft.com/office/drawing/2014/main" id="{43883DCF-29F6-CA67-2D1C-FBD9A20285BB}"/>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D1D273C-252E-8DF7-3608-69832402A1E3}"/>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49</a:t>
            </a:r>
          </a:p>
        </p:txBody>
      </p:sp>
      <p:graphicFrame>
        <p:nvGraphicFramePr>
          <p:cNvPr id="5" name="Table 4">
            <a:extLst>
              <a:ext uri="{FF2B5EF4-FFF2-40B4-BE49-F238E27FC236}">
                <a16:creationId xmlns:a16="http://schemas.microsoft.com/office/drawing/2014/main" id="{52151869-4A7D-14E7-0262-AEC7F1AE7260}"/>
              </a:ext>
            </a:extLst>
          </p:cNvPr>
          <p:cNvGraphicFramePr>
            <a:graphicFrameLocks noGrp="1"/>
          </p:cNvGraphicFramePr>
          <p:nvPr>
            <p:extLst>
              <p:ext uri="{D42A27DB-BD31-4B8C-83A1-F6EECF244321}">
                <p14:modId xmlns:p14="http://schemas.microsoft.com/office/powerpoint/2010/main" val="2843385894"/>
              </p:ext>
            </p:extLst>
          </p:nvPr>
        </p:nvGraphicFramePr>
        <p:xfrm>
          <a:off x="584199" y="1841500"/>
          <a:ext cx="6388100" cy="6350000"/>
        </p:xfrm>
        <a:graphic>
          <a:graphicData uri="http://schemas.openxmlformats.org/drawingml/2006/table">
            <a:tbl>
              <a:tblPr firstRow="1" bandRow="1">
                <a:tableStyleId>{5C22544A-7EE6-4342-B048-85BDC9FD1C3A}</a:tableStyleId>
              </a:tblPr>
              <a:tblGrid>
                <a:gridCol w="2129367">
                  <a:extLst>
                    <a:ext uri="{9D8B030D-6E8A-4147-A177-3AD203B41FA5}">
                      <a16:colId xmlns:a16="http://schemas.microsoft.com/office/drawing/2014/main" val="2638452185"/>
                    </a:ext>
                  </a:extLst>
                </a:gridCol>
                <a:gridCol w="2129367">
                  <a:extLst>
                    <a:ext uri="{9D8B030D-6E8A-4147-A177-3AD203B41FA5}">
                      <a16:colId xmlns:a16="http://schemas.microsoft.com/office/drawing/2014/main" val="3296516192"/>
                    </a:ext>
                  </a:extLst>
                </a:gridCol>
                <a:gridCol w="2129367">
                  <a:extLst>
                    <a:ext uri="{9D8B030D-6E8A-4147-A177-3AD203B41FA5}">
                      <a16:colId xmlns:a16="http://schemas.microsoft.com/office/drawing/2014/main" val="1102745006"/>
                    </a:ext>
                  </a:extLst>
                </a:gridCol>
              </a:tblGrid>
              <a:tr h="635000">
                <a:tc>
                  <a:txBody>
                    <a:bodyPr/>
                    <a:lstStyle/>
                    <a:p>
                      <a:r>
                        <a:rPr lang="en-IN" sz="1000" b="1">
                          <a:latin typeface="Times New Roman" panose="02020603050405020304" pitchFamily="18" charset="0"/>
                        </a:rPr>
                        <a:t>Technology</a:t>
                      </a:r>
                    </a:p>
                  </a:txBody>
                  <a:tcPr>
                    <a:solidFill>
                      <a:srgbClr val="E9E9E9"/>
                    </a:solidFill>
                  </a:tcPr>
                </a:tc>
                <a:tc>
                  <a:txBody>
                    <a:bodyPr/>
                    <a:lstStyle/>
                    <a:p>
                      <a:r>
                        <a:rPr lang="en-IN" sz="1000" b="1">
                          <a:latin typeface="Times New Roman" panose="02020603050405020304" pitchFamily="18" charset="0"/>
                        </a:rPr>
                        <a:t>Purpose in Project</a:t>
                      </a:r>
                    </a:p>
                  </a:txBody>
                  <a:tcPr>
                    <a:solidFill>
                      <a:srgbClr val="E9E9E9"/>
                    </a:solidFill>
                  </a:tcPr>
                </a:tc>
                <a:tc>
                  <a:txBody>
                    <a:bodyPr/>
                    <a:lstStyle/>
                    <a:p>
                      <a:r>
                        <a:rPr lang="en-IN" sz="1000" b="1">
                          <a:latin typeface="Times New Roman" panose="02020603050405020304" pitchFamily="18" charset="0"/>
                        </a:rPr>
                        <a:t>Reason for Use</a:t>
                      </a:r>
                    </a:p>
                  </a:txBody>
                  <a:tcPr>
                    <a:solidFill>
                      <a:srgbClr val="E9E9E9"/>
                    </a:solidFill>
                  </a:tcPr>
                </a:tc>
                <a:extLst>
                  <a:ext uri="{0D108BD9-81ED-4DB2-BD59-A6C34878D82A}">
                    <a16:rowId xmlns:a16="http://schemas.microsoft.com/office/drawing/2014/main" val="3402752508"/>
                  </a:ext>
                </a:extLst>
              </a:tr>
              <a:tr h="635000">
                <a:tc>
                  <a:txBody>
                    <a:bodyPr/>
                    <a:lstStyle/>
                    <a:p>
                      <a:r>
                        <a:rPr lang="en-IN" sz="900">
                          <a:latin typeface="Times New Roman" panose="02020603050405020304" pitchFamily="18" charset="0"/>
                        </a:rPr>
                        <a:t>React.js</a:t>
                      </a:r>
                    </a:p>
                  </a:txBody>
                  <a:tcPr/>
                </a:tc>
                <a:tc>
                  <a:txBody>
                    <a:bodyPr/>
                    <a:lstStyle/>
                    <a:p>
                      <a:r>
                        <a:rPr lang="en-IN" sz="900">
                          <a:latin typeface="Times New Roman" panose="02020603050405020304" pitchFamily="18" charset="0"/>
                        </a:rPr>
                        <a:t>Frontend UI</a:t>
                      </a:r>
                    </a:p>
                  </a:txBody>
                  <a:tcPr/>
                </a:tc>
                <a:tc>
                  <a:txBody>
                    <a:bodyPr/>
                    <a:lstStyle/>
                    <a:p>
                      <a:r>
                        <a:rPr lang="en-US" sz="900">
                          <a:latin typeface="Times New Roman" panose="02020603050405020304" pitchFamily="18" charset="0"/>
                        </a:rPr>
                        <a:t>Reusable components and structured client rendering</a:t>
                      </a:r>
                      <a:endParaRPr lang="en-IN" sz="900">
                        <a:latin typeface="Times New Roman" panose="02020603050405020304" pitchFamily="18" charset="0"/>
                      </a:endParaRPr>
                    </a:p>
                  </a:txBody>
                  <a:tcPr/>
                </a:tc>
                <a:extLst>
                  <a:ext uri="{0D108BD9-81ED-4DB2-BD59-A6C34878D82A}">
                    <a16:rowId xmlns:a16="http://schemas.microsoft.com/office/drawing/2014/main" val="3097325348"/>
                  </a:ext>
                </a:extLst>
              </a:tr>
              <a:tr h="635000">
                <a:tc>
                  <a:txBody>
                    <a:bodyPr/>
                    <a:lstStyle/>
                    <a:p>
                      <a:r>
                        <a:rPr lang="en-IN" sz="900">
                          <a:latin typeface="Times New Roman" panose="02020603050405020304" pitchFamily="18" charset="0"/>
                        </a:rPr>
                        <a:t>Node.js</a:t>
                      </a:r>
                    </a:p>
                  </a:txBody>
                  <a:tcPr/>
                </a:tc>
                <a:tc>
                  <a:txBody>
                    <a:bodyPr/>
                    <a:lstStyle/>
                    <a:p>
                      <a:r>
                        <a:rPr lang="en-IN" sz="900">
                          <a:latin typeface="Times New Roman" panose="02020603050405020304" pitchFamily="18" charset="0"/>
                        </a:rPr>
                        <a:t>Backend runtime</a:t>
                      </a:r>
                    </a:p>
                  </a:txBody>
                  <a:tcPr/>
                </a:tc>
                <a:tc>
                  <a:txBody>
                    <a:bodyPr/>
                    <a:lstStyle/>
                    <a:p>
                      <a:r>
                        <a:rPr lang="en-US" sz="900">
                          <a:latin typeface="Times New Roman" panose="02020603050405020304" pitchFamily="18" charset="0"/>
                        </a:rPr>
                        <a:t>Single language across stack and non-blocking operations</a:t>
                      </a:r>
                      <a:endParaRPr lang="en-IN" sz="900">
                        <a:latin typeface="Times New Roman" panose="02020603050405020304" pitchFamily="18" charset="0"/>
                      </a:endParaRPr>
                    </a:p>
                  </a:txBody>
                  <a:tcPr/>
                </a:tc>
                <a:extLst>
                  <a:ext uri="{0D108BD9-81ED-4DB2-BD59-A6C34878D82A}">
                    <a16:rowId xmlns:a16="http://schemas.microsoft.com/office/drawing/2014/main" val="1643928655"/>
                  </a:ext>
                </a:extLst>
              </a:tr>
              <a:tr h="635000">
                <a:tc>
                  <a:txBody>
                    <a:bodyPr/>
                    <a:lstStyle/>
                    <a:p>
                      <a:r>
                        <a:rPr lang="en-IN" sz="900">
                          <a:latin typeface="Times New Roman" panose="02020603050405020304" pitchFamily="18" charset="0"/>
                        </a:rPr>
                        <a:t>Express.js</a:t>
                      </a:r>
                    </a:p>
                  </a:txBody>
                  <a:tcPr/>
                </a:tc>
                <a:tc>
                  <a:txBody>
                    <a:bodyPr/>
                    <a:lstStyle/>
                    <a:p>
                      <a:r>
                        <a:rPr lang="en-IN" sz="900">
                          <a:latin typeface="Times New Roman" panose="02020603050405020304" pitchFamily="18" charset="0"/>
                        </a:rPr>
                        <a:t>REST API framework</a:t>
                      </a:r>
                    </a:p>
                  </a:txBody>
                  <a:tcPr/>
                </a:tc>
                <a:tc>
                  <a:txBody>
                    <a:bodyPr/>
                    <a:lstStyle/>
                    <a:p>
                      <a:r>
                        <a:rPr lang="en-US" sz="900">
                          <a:latin typeface="Times New Roman" panose="02020603050405020304" pitchFamily="18" charset="0"/>
                        </a:rPr>
                        <a:t>Lightweight routing and middleware support</a:t>
                      </a:r>
                      <a:endParaRPr lang="en-IN" sz="900">
                        <a:latin typeface="Times New Roman" panose="02020603050405020304" pitchFamily="18" charset="0"/>
                      </a:endParaRPr>
                    </a:p>
                  </a:txBody>
                  <a:tcPr/>
                </a:tc>
                <a:extLst>
                  <a:ext uri="{0D108BD9-81ED-4DB2-BD59-A6C34878D82A}">
                    <a16:rowId xmlns:a16="http://schemas.microsoft.com/office/drawing/2014/main" val="3145654134"/>
                  </a:ext>
                </a:extLst>
              </a:tr>
              <a:tr h="635000">
                <a:tc>
                  <a:txBody>
                    <a:bodyPr/>
                    <a:lstStyle/>
                    <a:p>
                      <a:r>
                        <a:rPr lang="en-IN" sz="900">
                          <a:latin typeface="Times New Roman" panose="02020603050405020304" pitchFamily="18" charset="0"/>
                        </a:rPr>
                        <a:t>MongoDB / Mongoose</a:t>
                      </a:r>
                    </a:p>
                  </a:txBody>
                  <a:tcPr/>
                </a:tc>
                <a:tc>
                  <a:txBody>
                    <a:bodyPr/>
                    <a:lstStyle/>
                    <a:p>
                      <a:r>
                        <a:rPr lang="en-IN" sz="900">
                          <a:latin typeface="Times New Roman" panose="02020603050405020304" pitchFamily="18" charset="0"/>
                        </a:rPr>
                        <a:t>Database and ODM</a:t>
                      </a:r>
                    </a:p>
                  </a:txBody>
                  <a:tcPr/>
                </a:tc>
                <a:tc>
                  <a:txBody>
                    <a:bodyPr/>
                    <a:lstStyle/>
                    <a:p>
                      <a:r>
                        <a:rPr lang="en-IN" sz="900">
                          <a:latin typeface="Times New Roman" panose="02020603050405020304" pitchFamily="18" charset="0"/>
                        </a:rPr>
                        <a:t>Flexible document storage for hospital records</a:t>
                      </a:r>
                    </a:p>
                  </a:txBody>
                  <a:tcPr/>
                </a:tc>
                <a:extLst>
                  <a:ext uri="{0D108BD9-81ED-4DB2-BD59-A6C34878D82A}">
                    <a16:rowId xmlns:a16="http://schemas.microsoft.com/office/drawing/2014/main" val="1858777033"/>
                  </a:ext>
                </a:extLst>
              </a:tr>
              <a:tr h="635000">
                <a:tc>
                  <a:txBody>
                    <a:bodyPr/>
                    <a:lstStyle/>
                    <a:p>
                      <a:r>
                        <a:rPr lang="en-IN" sz="900">
                          <a:latin typeface="Times New Roman" panose="02020603050405020304" pitchFamily="18" charset="0"/>
                        </a:rPr>
                        <a:t>Socket.IO</a:t>
                      </a:r>
                    </a:p>
                  </a:txBody>
                  <a:tcPr/>
                </a:tc>
                <a:tc>
                  <a:txBody>
                    <a:bodyPr/>
                    <a:lstStyle/>
                    <a:p>
                      <a:r>
                        <a:rPr lang="en-IN" sz="900">
                          <a:latin typeface="Times New Roman" panose="02020603050405020304" pitchFamily="18" charset="0"/>
                        </a:rPr>
                        <a:t>Real-time communication</a:t>
                      </a:r>
                    </a:p>
                  </a:txBody>
                  <a:tcPr/>
                </a:tc>
                <a:tc>
                  <a:txBody>
                    <a:bodyPr/>
                    <a:lstStyle/>
                    <a:p>
                      <a:r>
                        <a:rPr lang="en-US" sz="900">
                          <a:latin typeface="Times New Roman" panose="02020603050405020304" pitchFamily="18" charset="0"/>
                        </a:rPr>
                        <a:t>Instant chat delivery between users</a:t>
                      </a:r>
                      <a:endParaRPr lang="en-IN" sz="900">
                        <a:latin typeface="Times New Roman" panose="02020603050405020304" pitchFamily="18" charset="0"/>
                      </a:endParaRPr>
                    </a:p>
                  </a:txBody>
                  <a:tcPr/>
                </a:tc>
                <a:extLst>
                  <a:ext uri="{0D108BD9-81ED-4DB2-BD59-A6C34878D82A}">
                    <a16:rowId xmlns:a16="http://schemas.microsoft.com/office/drawing/2014/main" val="3988651914"/>
                  </a:ext>
                </a:extLst>
              </a:tr>
              <a:tr h="635000">
                <a:tc>
                  <a:txBody>
                    <a:bodyPr/>
                    <a:lstStyle/>
                    <a:p>
                      <a:r>
                        <a:rPr lang="en-IN" sz="900">
                          <a:latin typeface="Times New Roman" panose="02020603050405020304" pitchFamily="18" charset="0"/>
                        </a:rPr>
                        <a:t>Multer</a:t>
                      </a:r>
                    </a:p>
                  </a:txBody>
                  <a:tcPr/>
                </a:tc>
                <a:tc>
                  <a:txBody>
                    <a:bodyPr/>
                    <a:lstStyle/>
                    <a:p>
                      <a:r>
                        <a:rPr lang="en-IN" sz="900">
                          <a:latin typeface="Times New Roman" panose="02020603050405020304" pitchFamily="18" charset="0"/>
                        </a:rPr>
                        <a:t>File upload handling</a:t>
                      </a:r>
                    </a:p>
                  </a:txBody>
                  <a:tcPr/>
                </a:tc>
                <a:tc>
                  <a:txBody>
                    <a:bodyPr/>
                    <a:lstStyle/>
                    <a:p>
                      <a:r>
                        <a:rPr lang="en-IN" sz="900">
                          <a:latin typeface="Times New Roman" panose="02020603050405020304" pitchFamily="18" charset="0"/>
                        </a:rPr>
                        <a:t>Simple report upload processing</a:t>
                      </a:r>
                    </a:p>
                  </a:txBody>
                  <a:tcPr/>
                </a:tc>
                <a:extLst>
                  <a:ext uri="{0D108BD9-81ED-4DB2-BD59-A6C34878D82A}">
                    <a16:rowId xmlns:a16="http://schemas.microsoft.com/office/drawing/2014/main" val="3690101601"/>
                  </a:ext>
                </a:extLst>
              </a:tr>
              <a:tr h="635000">
                <a:tc>
                  <a:txBody>
                    <a:bodyPr/>
                    <a:lstStyle/>
                    <a:p>
                      <a:r>
                        <a:rPr lang="en-IN" sz="900">
                          <a:latin typeface="Times New Roman" panose="02020603050405020304" pitchFamily="18" charset="0"/>
                        </a:rPr>
                        <a:t>JWT / bcrypt</a:t>
                      </a:r>
                    </a:p>
                  </a:txBody>
                  <a:tcPr/>
                </a:tc>
                <a:tc>
                  <a:txBody>
                    <a:bodyPr/>
                    <a:lstStyle/>
                    <a:p>
                      <a:r>
                        <a:rPr lang="en-IN" sz="900">
                          <a:latin typeface="Times New Roman" panose="02020603050405020304" pitchFamily="18" charset="0"/>
                        </a:rPr>
                        <a:t>Security</a:t>
                      </a:r>
                    </a:p>
                  </a:txBody>
                  <a:tcPr/>
                </a:tc>
                <a:tc>
                  <a:txBody>
                    <a:bodyPr/>
                    <a:lstStyle/>
                    <a:p>
                      <a:r>
                        <a:rPr lang="en-US" sz="900">
                          <a:latin typeface="Times New Roman" panose="02020603050405020304" pitchFamily="18" charset="0"/>
                        </a:rPr>
                        <a:t>Token auth and hashed passwords</a:t>
                      </a:r>
                      <a:endParaRPr lang="en-IN" sz="900">
                        <a:latin typeface="Times New Roman" panose="02020603050405020304" pitchFamily="18" charset="0"/>
                      </a:endParaRPr>
                    </a:p>
                  </a:txBody>
                  <a:tcPr/>
                </a:tc>
                <a:extLst>
                  <a:ext uri="{0D108BD9-81ED-4DB2-BD59-A6C34878D82A}">
                    <a16:rowId xmlns:a16="http://schemas.microsoft.com/office/drawing/2014/main" val="2214927393"/>
                  </a:ext>
                </a:extLst>
              </a:tr>
              <a:tr h="635000">
                <a:tc>
                  <a:txBody>
                    <a:bodyPr/>
                    <a:lstStyle/>
                    <a:p>
                      <a:r>
                        <a:rPr lang="en-IN" sz="900">
                          <a:latin typeface="Times New Roman" panose="02020603050405020304" pitchFamily="18" charset="0"/>
                        </a:rPr>
                        <a:t>React Leaflet</a:t>
                      </a:r>
                    </a:p>
                  </a:txBody>
                  <a:tcPr/>
                </a:tc>
                <a:tc>
                  <a:txBody>
                    <a:bodyPr/>
                    <a:lstStyle/>
                    <a:p>
                      <a:r>
                        <a:rPr lang="en-IN" sz="900">
                          <a:latin typeface="Times New Roman" panose="02020603050405020304" pitchFamily="18" charset="0"/>
                        </a:rPr>
                        <a:t>Map integration</a:t>
                      </a:r>
                    </a:p>
                  </a:txBody>
                  <a:tcPr/>
                </a:tc>
                <a:tc>
                  <a:txBody>
                    <a:bodyPr/>
                    <a:lstStyle/>
                    <a:p>
                      <a:r>
                        <a:rPr lang="en-IN" sz="900">
                          <a:latin typeface="Times New Roman" panose="02020603050405020304" pitchFamily="18" charset="0"/>
                        </a:rPr>
                        <a:t>Interactive hospital location display</a:t>
                      </a:r>
                    </a:p>
                  </a:txBody>
                  <a:tcPr/>
                </a:tc>
                <a:extLst>
                  <a:ext uri="{0D108BD9-81ED-4DB2-BD59-A6C34878D82A}">
                    <a16:rowId xmlns:a16="http://schemas.microsoft.com/office/drawing/2014/main" val="2239078102"/>
                  </a:ext>
                </a:extLst>
              </a:tr>
              <a:tr h="635000">
                <a:tc>
                  <a:txBody>
                    <a:bodyPr/>
                    <a:lstStyle/>
                    <a:p>
                      <a:r>
                        <a:rPr lang="en-IN" sz="900">
                          <a:latin typeface="Times New Roman" panose="02020603050405020304" pitchFamily="18" charset="0"/>
                        </a:rPr>
                        <a:t>Groq API</a:t>
                      </a:r>
                    </a:p>
                  </a:txBody>
                  <a:tcPr/>
                </a:tc>
                <a:tc>
                  <a:txBody>
                    <a:bodyPr/>
                    <a:lstStyle/>
                    <a:p>
                      <a:r>
                        <a:rPr lang="en-IN" sz="900">
                          <a:latin typeface="Times New Roman" panose="02020603050405020304" pitchFamily="18" charset="0"/>
                        </a:rPr>
                        <a:t>AI doctor assistant</a:t>
                      </a:r>
                    </a:p>
                  </a:txBody>
                  <a:tcPr/>
                </a:tc>
                <a:tc>
                  <a:txBody>
                    <a:bodyPr/>
                    <a:lstStyle/>
                    <a:p>
                      <a:r>
                        <a:rPr lang="en-US" sz="900">
                          <a:latin typeface="Times New Roman" panose="02020603050405020304" pitchFamily="18" charset="0"/>
                        </a:rPr>
                        <a:t>Symptom guidance through floating assistant widget</a:t>
                      </a:r>
                      <a:endParaRPr lang="en-IN" sz="900">
                        <a:latin typeface="Times New Roman" panose="02020603050405020304" pitchFamily="18" charset="0"/>
                      </a:endParaRPr>
                    </a:p>
                  </a:txBody>
                  <a:tcPr/>
                </a:tc>
                <a:extLst>
                  <a:ext uri="{0D108BD9-81ED-4DB2-BD59-A6C34878D82A}">
                    <a16:rowId xmlns:a16="http://schemas.microsoft.com/office/drawing/2014/main" val="399507926"/>
                  </a:ext>
                </a:extLst>
              </a:tr>
            </a:tbl>
          </a:graphicData>
        </a:graphic>
      </p:graphicFrame>
      <p:sp>
        <p:nvSpPr>
          <p:cNvPr id="6" name="TextBox 5">
            <a:extLst>
              <a:ext uri="{FF2B5EF4-FFF2-40B4-BE49-F238E27FC236}">
                <a16:creationId xmlns:a16="http://schemas.microsoft.com/office/drawing/2014/main" id="{4BFF7C42-2C32-C865-C61E-F37E93A00C39}"/>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5. Tools and technologies used in the final implementation.</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30069435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6D7DA-EA12-7177-2C1C-8EEA0FADF7A2}"/>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6B. HARDWARE REQUIREMENTS</a:t>
            </a:r>
          </a:p>
        </p:txBody>
      </p:sp>
      <p:sp>
        <p:nvSpPr>
          <p:cNvPr id="3" name="Rectangle 2">
            <a:extLst>
              <a:ext uri="{FF2B5EF4-FFF2-40B4-BE49-F238E27FC236}">
                <a16:creationId xmlns:a16="http://schemas.microsoft.com/office/drawing/2014/main" id="{E303589F-1FB4-98F8-33C7-F5D7BF73A0F5}"/>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CF43A73-EEF6-E23E-43DD-6AA451C5E72E}"/>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50</a:t>
            </a:r>
          </a:p>
        </p:txBody>
      </p:sp>
      <p:graphicFrame>
        <p:nvGraphicFramePr>
          <p:cNvPr id="5" name="Table 4">
            <a:extLst>
              <a:ext uri="{FF2B5EF4-FFF2-40B4-BE49-F238E27FC236}">
                <a16:creationId xmlns:a16="http://schemas.microsoft.com/office/drawing/2014/main" id="{B297FEC1-5862-E8DD-D39B-E55281632399}"/>
              </a:ext>
            </a:extLst>
          </p:cNvPr>
          <p:cNvGraphicFramePr>
            <a:graphicFrameLocks noGrp="1"/>
          </p:cNvGraphicFramePr>
          <p:nvPr>
            <p:extLst>
              <p:ext uri="{D42A27DB-BD31-4B8C-83A1-F6EECF244321}">
                <p14:modId xmlns:p14="http://schemas.microsoft.com/office/powerpoint/2010/main" val="127361540"/>
              </p:ext>
            </p:extLst>
          </p:nvPr>
        </p:nvGraphicFramePr>
        <p:xfrm>
          <a:off x="584199" y="1905000"/>
          <a:ext cx="6388100" cy="3810000"/>
        </p:xfrm>
        <a:graphic>
          <a:graphicData uri="http://schemas.openxmlformats.org/drawingml/2006/table">
            <a:tbl>
              <a:tblPr firstRow="1" bandRow="1">
                <a:tableStyleId>{5C22544A-7EE6-4342-B048-85BDC9FD1C3A}</a:tableStyleId>
              </a:tblPr>
              <a:tblGrid>
                <a:gridCol w="2129367">
                  <a:extLst>
                    <a:ext uri="{9D8B030D-6E8A-4147-A177-3AD203B41FA5}">
                      <a16:colId xmlns:a16="http://schemas.microsoft.com/office/drawing/2014/main" val="2650138556"/>
                    </a:ext>
                  </a:extLst>
                </a:gridCol>
                <a:gridCol w="2129367">
                  <a:extLst>
                    <a:ext uri="{9D8B030D-6E8A-4147-A177-3AD203B41FA5}">
                      <a16:colId xmlns:a16="http://schemas.microsoft.com/office/drawing/2014/main" val="3885086388"/>
                    </a:ext>
                  </a:extLst>
                </a:gridCol>
                <a:gridCol w="2129367">
                  <a:extLst>
                    <a:ext uri="{9D8B030D-6E8A-4147-A177-3AD203B41FA5}">
                      <a16:colId xmlns:a16="http://schemas.microsoft.com/office/drawing/2014/main" val="515573224"/>
                    </a:ext>
                  </a:extLst>
                </a:gridCol>
              </a:tblGrid>
              <a:tr h="635000">
                <a:tc>
                  <a:txBody>
                    <a:bodyPr/>
                    <a:lstStyle/>
                    <a:p>
                      <a:r>
                        <a:rPr lang="en-IN" sz="1000" b="1">
                          <a:latin typeface="Times New Roman" panose="02020603050405020304" pitchFamily="18" charset="0"/>
                        </a:rPr>
                        <a:t>Component</a:t>
                      </a:r>
                    </a:p>
                  </a:txBody>
                  <a:tcPr>
                    <a:solidFill>
                      <a:srgbClr val="E9E9E9"/>
                    </a:solidFill>
                  </a:tcPr>
                </a:tc>
                <a:tc>
                  <a:txBody>
                    <a:bodyPr/>
                    <a:lstStyle/>
                    <a:p>
                      <a:r>
                        <a:rPr lang="en-IN" sz="1000" b="1">
                          <a:latin typeface="Times New Roman" panose="02020603050405020304" pitchFamily="18" charset="0"/>
                        </a:rPr>
                        <a:t>Minimum Requirement</a:t>
                      </a:r>
                    </a:p>
                  </a:txBody>
                  <a:tcPr>
                    <a:solidFill>
                      <a:srgbClr val="E9E9E9"/>
                    </a:solidFill>
                  </a:tcPr>
                </a:tc>
                <a:tc>
                  <a:txBody>
                    <a:bodyPr/>
                    <a:lstStyle/>
                    <a:p>
                      <a:r>
                        <a:rPr lang="en-IN" sz="1000" b="1">
                          <a:latin typeface="Times New Roman" panose="02020603050405020304" pitchFamily="18" charset="0"/>
                        </a:rPr>
                        <a:t>Recommended</a:t>
                      </a:r>
                    </a:p>
                  </a:txBody>
                  <a:tcPr>
                    <a:solidFill>
                      <a:srgbClr val="E9E9E9"/>
                    </a:solidFill>
                  </a:tcPr>
                </a:tc>
                <a:extLst>
                  <a:ext uri="{0D108BD9-81ED-4DB2-BD59-A6C34878D82A}">
                    <a16:rowId xmlns:a16="http://schemas.microsoft.com/office/drawing/2014/main" val="2269363972"/>
                  </a:ext>
                </a:extLst>
              </a:tr>
              <a:tr h="635000">
                <a:tc>
                  <a:txBody>
                    <a:bodyPr/>
                    <a:lstStyle/>
                    <a:p>
                      <a:r>
                        <a:rPr lang="en-IN" sz="900">
                          <a:latin typeface="Times New Roman" panose="02020603050405020304" pitchFamily="18" charset="0"/>
                        </a:rPr>
                        <a:t>Processor</a:t>
                      </a:r>
                    </a:p>
                  </a:txBody>
                  <a:tcPr/>
                </a:tc>
                <a:tc>
                  <a:txBody>
                    <a:bodyPr/>
                    <a:lstStyle/>
                    <a:p>
                      <a:r>
                        <a:rPr lang="en-IN" sz="900">
                          <a:latin typeface="Times New Roman" panose="02020603050405020304" pitchFamily="18" charset="0"/>
                        </a:rPr>
                        <a:t>Dual-core CPU</a:t>
                      </a:r>
                    </a:p>
                  </a:txBody>
                  <a:tcPr/>
                </a:tc>
                <a:tc>
                  <a:txBody>
                    <a:bodyPr/>
                    <a:lstStyle/>
                    <a:p>
                      <a:r>
                        <a:rPr lang="en-IN" sz="900">
                          <a:latin typeface="Times New Roman" panose="02020603050405020304" pitchFamily="18" charset="0"/>
                        </a:rPr>
                        <a:t>Modern multi-core processor</a:t>
                      </a:r>
                    </a:p>
                  </a:txBody>
                  <a:tcPr/>
                </a:tc>
                <a:extLst>
                  <a:ext uri="{0D108BD9-81ED-4DB2-BD59-A6C34878D82A}">
                    <a16:rowId xmlns:a16="http://schemas.microsoft.com/office/drawing/2014/main" val="1537389699"/>
                  </a:ext>
                </a:extLst>
              </a:tr>
              <a:tr h="635000">
                <a:tc>
                  <a:txBody>
                    <a:bodyPr/>
                    <a:lstStyle/>
                    <a:p>
                      <a:r>
                        <a:rPr lang="en-IN" sz="900">
                          <a:latin typeface="Times New Roman" panose="02020603050405020304" pitchFamily="18" charset="0"/>
                        </a:rPr>
                        <a:t>RAM</a:t>
                      </a:r>
                    </a:p>
                  </a:txBody>
                  <a:tcPr/>
                </a:tc>
                <a:tc>
                  <a:txBody>
                    <a:bodyPr/>
                    <a:lstStyle/>
                    <a:p>
                      <a:r>
                        <a:rPr lang="en-IN" sz="900">
                          <a:latin typeface="Times New Roman" panose="02020603050405020304" pitchFamily="18" charset="0"/>
                        </a:rPr>
                        <a:t>4 GB</a:t>
                      </a:r>
                    </a:p>
                  </a:txBody>
                  <a:tcPr/>
                </a:tc>
                <a:tc>
                  <a:txBody>
                    <a:bodyPr/>
                    <a:lstStyle/>
                    <a:p>
                      <a:r>
                        <a:rPr lang="en-IN" sz="900">
                          <a:latin typeface="Times New Roman" panose="02020603050405020304" pitchFamily="18" charset="0"/>
                        </a:rPr>
                        <a:t>8 GB or higher</a:t>
                      </a:r>
                    </a:p>
                  </a:txBody>
                  <a:tcPr/>
                </a:tc>
                <a:extLst>
                  <a:ext uri="{0D108BD9-81ED-4DB2-BD59-A6C34878D82A}">
                    <a16:rowId xmlns:a16="http://schemas.microsoft.com/office/drawing/2014/main" val="446058020"/>
                  </a:ext>
                </a:extLst>
              </a:tr>
              <a:tr h="635000">
                <a:tc>
                  <a:txBody>
                    <a:bodyPr/>
                    <a:lstStyle/>
                    <a:p>
                      <a:r>
                        <a:rPr lang="en-IN" sz="900">
                          <a:latin typeface="Times New Roman" panose="02020603050405020304" pitchFamily="18" charset="0"/>
                        </a:rPr>
                        <a:t>Storage</a:t>
                      </a:r>
                    </a:p>
                  </a:txBody>
                  <a:tcPr/>
                </a:tc>
                <a:tc>
                  <a:txBody>
                    <a:bodyPr/>
                    <a:lstStyle/>
                    <a:p>
                      <a:r>
                        <a:rPr lang="en-IN" sz="900">
                          <a:latin typeface="Times New Roman" panose="02020603050405020304" pitchFamily="18" charset="0"/>
                        </a:rPr>
                        <a:t>10 GB free space</a:t>
                      </a:r>
                    </a:p>
                  </a:txBody>
                  <a:tcPr/>
                </a:tc>
                <a:tc>
                  <a:txBody>
                    <a:bodyPr/>
                    <a:lstStyle/>
                    <a:p>
                      <a:r>
                        <a:rPr lang="en-IN" sz="900">
                          <a:latin typeface="Times New Roman" panose="02020603050405020304" pitchFamily="18" charset="0"/>
                        </a:rPr>
                        <a:t>SSD with additional margin</a:t>
                      </a:r>
                    </a:p>
                  </a:txBody>
                  <a:tcPr/>
                </a:tc>
                <a:extLst>
                  <a:ext uri="{0D108BD9-81ED-4DB2-BD59-A6C34878D82A}">
                    <a16:rowId xmlns:a16="http://schemas.microsoft.com/office/drawing/2014/main" val="3868522597"/>
                  </a:ext>
                </a:extLst>
              </a:tr>
              <a:tr h="635000">
                <a:tc>
                  <a:txBody>
                    <a:bodyPr/>
                    <a:lstStyle/>
                    <a:p>
                      <a:r>
                        <a:rPr lang="en-IN" sz="900">
                          <a:latin typeface="Times New Roman" panose="02020603050405020304" pitchFamily="18" charset="0"/>
                        </a:rPr>
                        <a:t>Network</a:t>
                      </a:r>
                    </a:p>
                  </a:txBody>
                  <a:tcPr/>
                </a:tc>
                <a:tc>
                  <a:txBody>
                    <a:bodyPr/>
                    <a:lstStyle/>
                    <a:p>
                      <a:r>
                        <a:rPr lang="en-IN" sz="900">
                          <a:latin typeface="Times New Roman" panose="02020603050405020304" pitchFamily="18" charset="0"/>
                        </a:rPr>
                        <a:t>Internet for package setup and map tiles</a:t>
                      </a:r>
                    </a:p>
                  </a:txBody>
                  <a:tcPr/>
                </a:tc>
                <a:tc>
                  <a:txBody>
                    <a:bodyPr/>
                    <a:lstStyle/>
                    <a:p>
                      <a:r>
                        <a:rPr lang="en-IN" sz="900">
                          <a:latin typeface="Times New Roman" panose="02020603050405020304" pitchFamily="18" charset="0"/>
                        </a:rPr>
                        <a:t>Stable broadband connection</a:t>
                      </a:r>
                    </a:p>
                  </a:txBody>
                  <a:tcPr/>
                </a:tc>
                <a:extLst>
                  <a:ext uri="{0D108BD9-81ED-4DB2-BD59-A6C34878D82A}">
                    <a16:rowId xmlns:a16="http://schemas.microsoft.com/office/drawing/2014/main" val="3214608452"/>
                  </a:ext>
                </a:extLst>
              </a:tr>
              <a:tr h="635000">
                <a:tc>
                  <a:txBody>
                    <a:bodyPr/>
                    <a:lstStyle/>
                    <a:p>
                      <a:r>
                        <a:rPr lang="en-IN" sz="900">
                          <a:latin typeface="Times New Roman" panose="02020603050405020304" pitchFamily="18" charset="0"/>
                        </a:rPr>
                        <a:t>Display</a:t>
                      </a:r>
                    </a:p>
                  </a:txBody>
                  <a:tcPr/>
                </a:tc>
                <a:tc>
                  <a:txBody>
                    <a:bodyPr/>
                    <a:lstStyle/>
                    <a:p>
                      <a:r>
                        <a:rPr lang="en-IN" sz="900">
                          <a:latin typeface="Times New Roman" panose="02020603050405020304" pitchFamily="18" charset="0"/>
                        </a:rPr>
                        <a:t>1366 x 768</a:t>
                      </a:r>
                    </a:p>
                  </a:txBody>
                  <a:tcPr/>
                </a:tc>
                <a:tc>
                  <a:txBody>
                    <a:bodyPr/>
                    <a:lstStyle/>
                    <a:p>
                      <a:r>
                        <a:rPr lang="en-US" sz="900">
                          <a:latin typeface="Times New Roman" panose="02020603050405020304" pitchFamily="18" charset="0"/>
                        </a:rPr>
                        <a:t>Full HD for easier development</a:t>
                      </a:r>
                      <a:endParaRPr lang="en-IN" sz="900">
                        <a:latin typeface="Times New Roman" panose="02020603050405020304" pitchFamily="18" charset="0"/>
                      </a:endParaRPr>
                    </a:p>
                  </a:txBody>
                  <a:tcPr/>
                </a:tc>
                <a:extLst>
                  <a:ext uri="{0D108BD9-81ED-4DB2-BD59-A6C34878D82A}">
                    <a16:rowId xmlns:a16="http://schemas.microsoft.com/office/drawing/2014/main" val="1356330462"/>
                  </a:ext>
                </a:extLst>
              </a:tr>
            </a:tbl>
          </a:graphicData>
        </a:graphic>
      </p:graphicFrame>
      <p:sp>
        <p:nvSpPr>
          <p:cNvPr id="6" name="TextBox 5">
            <a:extLst>
              <a:ext uri="{FF2B5EF4-FFF2-40B4-BE49-F238E27FC236}">
                <a16:creationId xmlns:a16="http://schemas.microsoft.com/office/drawing/2014/main" id="{DFD2807A-6771-995D-3B3B-E74C10F73B85}"/>
              </a:ext>
            </a:extLst>
          </p:cNvPr>
          <p:cNvSpPr txBox="1"/>
          <p:nvPr/>
        </p:nvSpPr>
        <p:spPr>
          <a:xfrm>
            <a:off x="584200" y="6350000"/>
            <a:ext cx="6388100" cy="982385"/>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 project was designed to run on a regular student development laptop. Because the application is browser-based and the database workload is moderate, the hardware requirements remain modest. However, smoother execution is achieved with 8 GB RAM, especially when the backend server, frontend development server, MongoDB, and browser are active at the same time.</a:t>
            </a:r>
            <a:endParaRPr lang="en-IN" sz="1100">
              <a:solidFill>
                <a:srgbClr val="30241E"/>
              </a:solidFill>
              <a:latin typeface="Times New Roman" panose="02020603050405020304" pitchFamily="18" charset="0"/>
            </a:endParaRPr>
          </a:p>
        </p:txBody>
      </p:sp>
      <p:sp>
        <p:nvSpPr>
          <p:cNvPr id="7" name="TextBox 6">
            <a:extLst>
              <a:ext uri="{FF2B5EF4-FFF2-40B4-BE49-F238E27FC236}">
                <a16:creationId xmlns:a16="http://schemas.microsoft.com/office/drawing/2014/main" id="{18662455-46C7-FEB1-5914-DF37BF267FE1}"/>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6. Hardware requirements for development and local execution.</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27567686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FE5BCE-6AAD-FB93-F944-A59B85005162}"/>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6C. SOFTWARE REQUIREMENTS AND DUMMY DATA</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5F096B9D-F2E9-CEE8-B884-7A66E112867B}"/>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873DB38-B47D-9127-BB79-EF065C2CF750}"/>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51</a:t>
            </a:r>
          </a:p>
        </p:txBody>
      </p:sp>
      <p:graphicFrame>
        <p:nvGraphicFramePr>
          <p:cNvPr id="5" name="Table 4">
            <a:extLst>
              <a:ext uri="{FF2B5EF4-FFF2-40B4-BE49-F238E27FC236}">
                <a16:creationId xmlns:a16="http://schemas.microsoft.com/office/drawing/2014/main" id="{E07F4DED-0DFD-7C0D-AEB6-51BCFD0D0C54}"/>
              </a:ext>
            </a:extLst>
          </p:cNvPr>
          <p:cNvGraphicFramePr>
            <a:graphicFrameLocks noGrp="1"/>
          </p:cNvGraphicFramePr>
          <p:nvPr>
            <p:extLst>
              <p:ext uri="{D42A27DB-BD31-4B8C-83A1-F6EECF244321}">
                <p14:modId xmlns:p14="http://schemas.microsoft.com/office/powerpoint/2010/main" val="4225899045"/>
              </p:ext>
            </p:extLst>
          </p:nvPr>
        </p:nvGraphicFramePr>
        <p:xfrm>
          <a:off x="584199" y="1841500"/>
          <a:ext cx="6388100" cy="3619500"/>
        </p:xfrm>
        <a:graphic>
          <a:graphicData uri="http://schemas.openxmlformats.org/drawingml/2006/table">
            <a:tbl>
              <a:tblPr firstRow="1" bandRow="1">
                <a:tableStyleId>{5C22544A-7EE6-4342-B048-85BDC9FD1C3A}</a:tableStyleId>
              </a:tblPr>
              <a:tblGrid>
                <a:gridCol w="2129367">
                  <a:extLst>
                    <a:ext uri="{9D8B030D-6E8A-4147-A177-3AD203B41FA5}">
                      <a16:colId xmlns:a16="http://schemas.microsoft.com/office/drawing/2014/main" val="1058107485"/>
                    </a:ext>
                  </a:extLst>
                </a:gridCol>
                <a:gridCol w="2129367">
                  <a:extLst>
                    <a:ext uri="{9D8B030D-6E8A-4147-A177-3AD203B41FA5}">
                      <a16:colId xmlns:a16="http://schemas.microsoft.com/office/drawing/2014/main" val="162065022"/>
                    </a:ext>
                  </a:extLst>
                </a:gridCol>
                <a:gridCol w="2129367">
                  <a:extLst>
                    <a:ext uri="{9D8B030D-6E8A-4147-A177-3AD203B41FA5}">
                      <a16:colId xmlns:a16="http://schemas.microsoft.com/office/drawing/2014/main" val="1357786664"/>
                    </a:ext>
                  </a:extLst>
                </a:gridCol>
              </a:tblGrid>
              <a:tr h="517071">
                <a:tc>
                  <a:txBody>
                    <a:bodyPr/>
                    <a:lstStyle/>
                    <a:p>
                      <a:r>
                        <a:rPr lang="en-IN" sz="1000" b="1">
                          <a:latin typeface="Times New Roman" panose="02020603050405020304" pitchFamily="18" charset="0"/>
                        </a:rPr>
                        <a:t>Software</a:t>
                      </a:r>
                    </a:p>
                  </a:txBody>
                  <a:tcPr>
                    <a:solidFill>
                      <a:srgbClr val="E9E9E9"/>
                    </a:solidFill>
                  </a:tcPr>
                </a:tc>
                <a:tc>
                  <a:txBody>
                    <a:bodyPr/>
                    <a:lstStyle/>
                    <a:p>
                      <a:r>
                        <a:rPr lang="en-IN" sz="1000" b="1">
                          <a:latin typeface="Times New Roman" panose="02020603050405020304" pitchFamily="18" charset="0"/>
                        </a:rPr>
                        <a:t>Version / Example</a:t>
                      </a:r>
                    </a:p>
                  </a:txBody>
                  <a:tcPr>
                    <a:solidFill>
                      <a:srgbClr val="E9E9E9"/>
                    </a:solidFill>
                  </a:tcPr>
                </a:tc>
                <a:tc>
                  <a:txBody>
                    <a:bodyPr/>
                    <a:lstStyle/>
                    <a:p>
                      <a:r>
                        <a:rPr lang="en-IN" sz="1000" b="1">
                          <a:latin typeface="Times New Roman" panose="02020603050405020304" pitchFamily="18" charset="0"/>
                        </a:rPr>
                        <a:t>Usage</a:t>
                      </a:r>
                    </a:p>
                  </a:txBody>
                  <a:tcPr>
                    <a:solidFill>
                      <a:srgbClr val="E9E9E9"/>
                    </a:solidFill>
                  </a:tcPr>
                </a:tc>
                <a:extLst>
                  <a:ext uri="{0D108BD9-81ED-4DB2-BD59-A6C34878D82A}">
                    <a16:rowId xmlns:a16="http://schemas.microsoft.com/office/drawing/2014/main" val="43036596"/>
                  </a:ext>
                </a:extLst>
              </a:tr>
              <a:tr h="517071">
                <a:tc>
                  <a:txBody>
                    <a:bodyPr/>
                    <a:lstStyle/>
                    <a:p>
                      <a:r>
                        <a:rPr lang="en-IN" sz="900">
                          <a:latin typeface="Times New Roman" panose="02020603050405020304" pitchFamily="18" charset="0"/>
                        </a:rPr>
                        <a:t>Operating System</a:t>
                      </a:r>
                    </a:p>
                  </a:txBody>
                  <a:tcPr/>
                </a:tc>
                <a:tc>
                  <a:txBody>
                    <a:bodyPr/>
                    <a:lstStyle/>
                    <a:p>
                      <a:r>
                        <a:rPr lang="en-IN" sz="900">
                          <a:latin typeface="Times New Roman" panose="02020603050405020304" pitchFamily="18" charset="0"/>
                        </a:rPr>
                        <a:t>Windows 10/11 or similar</a:t>
                      </a:r>
                    </a:p>
                  </a:txBody>
                  <a:tcPr/>
                </a:tc>
                <a:tc>
                  <a:txBody>
                    <a:bodyPr/>
                    <a:lstStyle/>
                    <a:p>
                      <a:r>
                        <a:rPr lang="en-IN" sz="900">
                          <a:latin typeface="Times New Roman" panose="02020603050405020304" pitchFamily="18" charset="0"/>
                        </a:rPr>
                        <a:t>Local development</a:t>
                      </a:r>
                    </a:p>
                  </a:txBody>
                  <a:tcPr/>
                </a:tc>
                <a:extLst>
                  <a:ext uri="{0D108BD9-81ED-4DB2-BD59-A6C34878D82A}">
                    <a16:rowId xmlns:a16="http://schemas.microsoft.com/office/drawing/2014/main" val="3658094773"/>
                  </a:ext>
                </a:extLst>
              </a:tr>
              <a:tr h="517071">
                <a:tc>
                  <a:txBody>
                    <a:bodyPr/>
                    <a:lstStyle/>
                    <a:p>
                      <a:r>
                        <a:rPr lang="en-IN" sz="900">
                          <a:latin typeface="Times New Roman" panose="02020603050405020304" pitchFamily="18" charset="0"/>
                        </a:rPr>
                        <a:t>Node.js</a:t>
                      </a:r>
                    </a:p>
                  </a:txBody>
                  <a:tcPr/>
                </a:tc>
                <a:tc>
                  <a:txBody>
                    <a:bodyPr/>
                    <a:lstStyle/>
                    <a:p>
                      <a:r>
                        <a:rPr lang="en-IN" sz="900">
                          <a:latin typeface="Times New Roman" panose="02020603050405020304" pitchFamily="18" charset="0"/>
                        </a:rPr>
                        <a:t>v18 or above</a:t>
                      </a:r>
                    </a:p>
                  </a:txBody>
                  <a:tcPr/>
                </a:tc>
                <a:tc>
                  <a:txBody>
                    <a:bodyPr/>
                    <a:lstStyle/>
                    <a:p>
                      <a:r>
                        <a:rPr lang="en-US" sz="900">
                          <a:latin typeface="Times New Roman" panose="02020603050405020304" pitchFamily="18" charset="0"/>
                        </a:rPr>
                        <a:t>Runtime for backend and frontend tooling</a:t>
                      </a:r>
                      <a:endParaRPr lang="en-IN" sz="900">
                        <a:latin typeface="Times New Roman" panose="02020603050405020304" pitchFamily="18" charset="0"/>
                      </a:endParaRPr>
                    </a:p>
                  </a:txBody>
                  <a:tcPr/>
                </a:tc>
                <a:extLst>
                  <a:ext uri="{0D108BD9-81ED-4DB2-BD59-A6C34878D82A}">
                    <a16:rowId xmlns:a16="http://schemas.microsoft.com/office/drawing/2014/main" val="2601386494"/>
                  </a:ext>
                </a:extLst>
              </a:tr>
              <a:tr h="517071">
                <a:tc>
                  <a:txBody>
                    <a:bodyPr/>
                    <a:lstStyle/>
                    <a:p>
                      <a:r>
                        <a:rPr lang="en-IN" sz="900">
                          <a:latin typeface="Times New Roman" panose="02020603050405020304" pitchFamily="18" charset="0"/>
                        </a:rPr>
                        <a:t>npm</a:t>
                      </a:r>
                    </a:p>
                  </a:txBody>
                  <a:tcPr/>
                </a:tc>
                <a:tc>
                  <a:txBody>
                    <a:bodyPr/>
                    <a:lstStyle/>
                    <a:p>
                      <a:r>
                        <a:rPr lang="en-IN" sz="900">
                          <a:latin typeface="Times New Roman" panose="02020603050405020304" pitchFamily="18" charset="0"/>
                        </a:rPr>
                        <a:t>v9 or above</a:t>
                      </a:r>
                    </a:p>
                  </a:txBody>
                  <a:tcPr/>
                </a:tc>
                <a:tc>
                  <a:txBody>
                    <a:bodyPr/>
                    <a:lstStyle/>
                    <a:p>
                      <a:r>
                        <a:rPr lang="en-IN" sz="900">
                          <a:latin typeface="Times New Roman" panose="02020603050405020304" pitchFamily="18" charset="0"/>
                        </a:rPr>
                        <a:t>Package management</a:t>
                      </a:r>
                    </a:p>
                  </a:txBody>
                  <a:tcPr/>
                </a:tc>
                <a:extLst>
                  <a:ext uri="{0D108BD9-81ED-4DB2-BD59-A6C34878D82A}">
                    <a16:rowId xmlns:a16="http://schemas.microsoft.com/office/drawing/2014/main" val="4014059942"/>
                  </a:ext>
                </a:extLst>
              </a:tr>
              <a:tr h="517071">
                <a:tc>
                  <a:txBody>
                    <a:bodyPr/>
                    <a:lstStyle/>
                    <a:p>
                      <a:r>
                        <a:rPr lang="en-IN" sz="900">
                          <a:latin typeface="Times New Roman" panose="02020603050405020304" pitchFamily="18" charset="0"/>
                        </a:rPr>
                        <a:t>MongoDB</a:t>
                      </a:r>
                    </a:p>
                  </a:txBody>
                  <a:tcPr/>
                </a:tc>
                <a:tc>
                  <a:txBody>
                    <a:bodyPr/>
                    <a:lstStyle/>
                    <a:p>
                      <a:r>
                        <a:rPr lang="en-IN" sz="900">
                          <a:latin typeface="Times New Roman" panose="02020603050405020304" pitchFamily="18" charset="0"/>
                        </a:rPr>
                        <a:t>Community edition / local URI</a:t>
                      </a:r>
                    </a:p>
                  </a:txBody>
                  <a:tcPr/>
                </a:tc>
                <a:tc>
                  <a:txBody>
                    <a:bodyPr/>
                    <a:lstStyle/>
                    <a:p>
                      <a:r>
                        <a:rPr lang="en-IN" sz="900">
                          <a:latin typeface="Times New Roman" panose="02020603050405020304" pitchFamily="18" charset="0"/>
                        </a:rPr>
                        <a:t>Persistent storage</a:t>
                      </a:r>
                    </a:p>
                  </a:txBody>
                  <a:tcPr/>
                </a:tc>
                <a:extLst>
                  <a:ext uri="{0D108BD9-81ED-4DB2-BD59-A6C34878D82A}">
                    <a16:rowId xmlns:a16="http://schemas.microsoft.com/office/drawing/2014/main" val="2259016571"/>
                  </a:ext>
                </a:extLst>
              </a:tr>
              <a:tr h="517071">
                <a:tc>
                  <a:txBody>
                    <a:bodyPr/>
                    <a:lstStyle/>
                    <a:p>
                      <a:r>
                        <a:rPr lang="en-IN" sz="900">
                          <a:latin typeface="Times New Roman" panose="02020603050405020304" pitchFamily="18" charset="0"/>
                        </a:rPr>
                        <a:t>VS Code</a:t>
                      </a:r>
                    </a:p>
                  </a:txBody>
                  <a:tcPr/>
                </a:tc>
                <a:tc>
                  <a:txBody>
                    <a:bodyPr/>
                    <a:lstStyle/>
                    <a:p>
                      <a:r>
                        <a:rPr lang="en-IN" sz="900">
                          <a:latin typeface="Times New Roman" panose="02020603050405020304" pitchFamily="18" charset="0"/>
                        </a:rPr>
                        <a:t>Any recent version</a:t>
                      </a:r>
                    </a:p>
                  </a:txBody>
                  <a:tcPr/>
                </a:tc>
                <a:tc>
                  <a:txBody>
                    <a:bodyPr/>
                    <a:lstStyle/>
                    <a:p>
                      <a:r>
                        <a:rPr lang="en-IN" sz="900">
                          <a:latin typeface="Times New Roman" panose="02020603050405020304" pitchFamily="18" charset="0"/>
                        </a:rPr>
                        <a:t>Code editing and debugging</a:t>
                      </a:r>
                    </a:p>
                  </a:txBody>
                  <a:tcPr/>
                </a:tc>
                <a:extLst>
                  <a:ext uri="{0D108BD9-81ED-4DB2-BD59-A6C34878D82A}">
                    <a16:rowId xmlns:a16="http://schemas.microsoft.com/office/drawing/2014/main" val="1476292521"/>
                  </a:ext>
                </a:extLst>
              </a:tr>
              <a:tr h="517071">
                <a:tc>
                  <a:txBody>
                    <a:bodyPr/>
                    <a:lstStyle/>
                    <a:p>
                      <a:r>
                        <a:rPr lang="en-IN" sz="900">
                          <a:latin typeface="Times New Roman" panose="02020603050405020304" pitchFamily="18" charset="0"/>
                        </a:rPr>
                        <a:t>Browser</a:t>
                      </a:r>
                    </a:p>
                  </a:txBody>
                  <a:tcPr/>
                </a:tc>
                <a:tc>
                  <a:txBody>
                    <a:bodyPr/>
                    <a:lstStyle/>
                    <a:p>
                      <a:r>
                        <a:rPr lang="en-IN" sz="900">
                          <a:latin typeface="Times New Roman" panose="02020603050405020304" pitchFamily="18" charset="0"/>
                        </a:rPr>
                        <a:t>Chrome / Edge</a:t>
                      </a:r>
                    </a:p>
                  </a:txBody>
                  <a:tcPr/>
                </a:tc>
                <a:tc>
                  <a:txBody>
                    <a:bodyPr/>
                    <a:lstStyle/>
                    <a:p>
                      <a:r>
                        <a:rPr lang="en-IN" sz="900">
                          <a:latin typeface="Times New Roman" panose="02020603050405020304" pitchFamily="18" charset="0"/>
                        </a:rPr>
                        <a:t>Application testing</a:t>
                      </a:r>
                    </a:p>
                  </a:txBody>
                  <a:tcPr/>
                </a:tc>
                <a:extLst>
                  <a:ext uri="{0D108BD9-81ED-4DB2-BD59-A6C34878D82A}">
                    <a16:rowId xmlns:a16="http://schemas.microsoft.com/office/drawing/2014/main" val="1558358228"/>
                  </a:ext>
                </a:extLst>
              </a:tr>
            </a:tbl>
          </a:graphicData>
        </a:graphic>
      </p:graphicFrame>
      <p:sp>
        <p:nvSpPr>
          <p:cNvPr id="6" name="TextBox 5">
            <a:extLst>
              <a:ext uri="{FF2B5EF4-FFF2-40B4-BE49-F238E27FC236}">
                <a16:creationId xmlns:a16="http://schemas.microsoft.com/office/drawing/2014/main" id="{254CD9F1-641E-F47C-17A2-8559C1FF2B59}"/>
              </a:ext>
            </a:extLst>
          </p:cNvPr>
          <p:cNvSpPr txBox="1"/>
          <p:nvPr/>
        </p:nvSpPr>
        <p:spPr>
          <a:xfrm>
            <a:off x="584200" y="5905500"/>
            <a:ext cx="6388100" cy="1593321"/>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 system also uses seeded dummy data for demonstration. Example accounts include one administrator, one doctor, and one patient. Representative medical store items, patient disease details, sample appointments, and notification records allow all modules to be demonstrated without requiring external data collection.</a:t>
            </a:r>
          </a:p>
          <a:p>
            <a:pPr algn="just">
              <a:lnSpc>
                <a:spcPct val="135000"/>
              </a:lnSpc>
              <a:spcAft>
                <a:spcPts val="600"/>
              </a:spcAft>
            </a:pPr>
            <a:endParaRPr lang="en-US" sz="1100">
              <a:solidFill>
                <a:srgbClr val="30241E"/>
              </a:solidFill>
              <a:latin typeface="Times New Roman" panose="02020603050405020304" pitchFamily="18" charset="0"/>
            </a:endParaRPr>
          </a:p>
          <a:p>
            <a:pPr algn="just">
              <a:lnSpc>
                <a:spcPct val="135000"/>
              </a:lnSpc>
              <a:spcAft>
                <a:spcPts val="600"/>
              </a:spcAft>
            </a:pPr>
            <a:r>
              <a:rPr lang="en-US" sz="1100">
                <a:solidFill>
                  <a:srgbClr val="30241E"/>
                </a:solidFill>
                <a:latin typeface="Times New Roman" panose="02020603050405020304" pitchFamily="18" charset="0"/>
              </a:rPr>
              <a:t>Because the project is prototype-driven, the dummy data plays the role of a small dataset for functional validation rather than statistical analysis.</a:t>
            </a:r>
            <a:endParaRPr lang="en-IN" sz="1100">
              <a:solidFill>
                <a:srgbClr val="30241E"/>
              </a:solidFill>
              <a:latin typeface="Times New Roman" panose="02020603050405020304" pitchFamily="18" charset="0"/>
            </a:endParaRPr>
          </a:p>
        </p:txBody>
      </p:sp>
      <p:sp>
        <p:nvSpPr>
          <p:cNvPr id="7" name="TextBox 6">
            <a:extLst>
              <a:ext uri="{FF2B5EF4-FFF2-40B4-BE49-F238E27FC236}">
                <a16:creationId xmlns:a16="http://schemas.microsoft.com/office/drawing/2014/main" id="{0E204B96-1FEE-ED10-29A4-F2D56D56887B}"/>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7. Software requirements and the role of dummy data in testing.</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22545567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61728-D7C1-7CE6-1900-F2AA31FC73BB}"/>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6D. CODING APPROACH AND MVC STRUCTURE</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8DBDB117-A2F6-F7AE-36CE-5F7F94CA7222}"/>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D64097F-CD02-6239-3257-521CAFC670D5}"/>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52</a:t>
            </a:r>
          </a:p>
        </p:txBody>
      </p:sp>
      <p:sp>
        <p:nvSpPr>
          <p:cNvPr id="5" name="TextBox 4">
            <a:extLst>
              <a:ext uri="{FF2B5EF4-FFF2-40B4-BE49-F238E27FC236}">
                <a16:creationId xmlns:a16="http://schemas.microsoft.com/office/drawing/2014/main" id="{B8D1A9A1-B519-C5F0-D576-FF09AB27713E}"/>
              </a:ext>
            </a:extLst>
          </p:cNvPr>
          <p:cNvSpPr txBox="1"/>
          <p:nvPr/>
        </p:nvSpPr>
        <p:spPr>
          <a:xfrm>
            <a:off x="584200" y="1397000"/>
            <a:ext cx="6388100" cy="3365408"/>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backend code is structured according to MVC principles. Models define the User, Patient, Appointment, Order, Message, and Notification schemas. Controllers contain business logic for authentication, patients, appointments, orders, chat, notifications, uploads, and AI assistance. Route files map API endpoints to the correct controller methods while middleware protects secure paths.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frontend uses React pages and components to render dashboard sections such as Overview, Patients, Appointments, Orders, Cart, Upload, Map, Chat, and Notifications. Shared state, especially authenticated user information, is managed through context so that role-based behavior can be enforced at the interface level.</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This coding approach keeps the project simple to understand while still following maintainable engineering practices.</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8003839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9A0569-528B-9025-0A6C-B4130A178288}"/>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6E. BACKEND MODULES AND API DESIGN</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722BBC86-771A-F1D9-ECC5-345B4BFAFAEE}"/>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ACB76B0-C7F5-2A6B-E5E2-C47F9D799F85}"/>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53</a:t>
            </a:r>
          </a:p>
        </p:txBody>
      </p:sp>
      <p:graphicFrame>
        <p:nvGraphicFramePr>
          <p:cNvPr id="5" name="Table 4">
            <a:extLst>
              <a:ext uri="{FF2B5EF4-FFF2-40B4-BE49-F238E27FC236}">
                <a16:creationId xmlns:a16="http://schemas.microsoft.com/office/drawing/2014/main" id="{5FB9C7AF-1BBD-B31F-7BF9-41545366C8CB}"/>
              </a:ext>
            </a:extLst>
          </p:cNvPr>
          <p:cNvGraphicFramePr>
            <a:graphicFrameLocks noGrp="1"/>
          </p:cNvGraphicFramePr>
          <p:nvPr>
            <p:extLst>
              <p:ext uri="{D42A27DB-BD31-4B8C-83A1-F6EECF244321}">
                <p14:modId xmlns:p14="http://schemas.microsoft.com/office/powerpoint/2010/main" val="695179726"/>
              </p:ext>
            </p:extLst>
          </p:nvPr>
        </p:nvGraphicFramePr>
        <p:xfrm>
          <a:off x="584199" y="1841500"/>
          <a:ext cx="6388100" cy="5461000"/>
        </p:xfrm>
        <a:graphic>
          <a:graphicData uri="http://schemas.openxmlformats.org/drawingml/2006/table">
            <a:tbl>
              <a:tblPr firstRow="1" bandRow="1">
                <a:tableStyleId>{5C22544A-7EE6-4342-B048-85BDC9FD1C3A}</a:tableStyleId>
              </a:tblPr>
              <a:tblGrid>
                <a:gridCol w="2129367">
                  <a:extLst>
                    <a:ext uri="{9D8B030D-6E8A-4147-A177-3AD203B41FA5}">
                      <a16:colId xmlns:a16="http://schemas.microsoft.com/office/drawing/2014/main" val="2696337122"/>
                    </a:ext>
                  </a:extLst>
                </a:gridCol>
                <a:gridCol w="2129367">
                  <a:extLst>
                    <a:ext uri="{9D8B030D-6E8A-4147-A177-3AD203B41FA5}">
                      <a16:colId xmlns:a16="http://schemas.microsoft.com/office/drawing/2014/main" val="271258732"/>
                    </a:ext>
                  </a:extLst>
                </a:gridCol>
                <a:gridCol w="2129367">
                  <a:extLst>
                    <a:ext uri="{9D8B030D-6E8A-4147-A177-3AD203B41FA5}">
                      <a16:colId xmlns:a16="http://schemas.microsoft.com/office/drawing/2014/main" val="4069615162"/>
                    </a:ext>
                  </a:extLst>
                </a:gridCol>
              </a:tblGrid>
              <a:tr h="606778">
                <a:tc>
                  <a:txBody>
                    <a:bodyPr/>
                    <a:lstStyle/>
                    <a:p>
                      <a:r>
                        <a:rPr lang="en-IN" sz="1000" b="1">
                          <a:latin typeface="Times New Roman" panose="02020603050405020304" pitchFamily="18" charset="0"/>
                        </a:rPr>
                        <a:t>Module</a:t>
                      </a:r>
                    </a:p>
                  </a:txBody>
                  <a:tcPr>
                    <a:solidFill>
                      <a:srgbClr val="E9E9E9"/>
                    </a:solidFill>
                  </a:tcPr>
                </a:tc>
                <a:tc>
                  <a:txBody>
                    <a:bodyPr/>
                    <a:lstStyle/>
                    <a:p>
                      <a:r>
                        <a:rPr lang="en-IN" sz="1000" b="1">
                          <a:latin typeface="Times New Roman" panose="02020603050405020304" pitchFamily="18" charset="0"/>
                        </a:rPr>
                        <a:t>Representative Endpoint</a:t>
                      </a:r>
                    </a:p>
                  </a:txBody>
                  <a:tcPr>
                    <a:solidFill>
                      <a:srgbClr val="E9E9E9"/>
                    </a:solidFill>
                  </a:tcPr>
                </a:tc>
                <a:tc>
                  <a:txBody>
                    <a:bodyPr/>
                    <a:lstStyle/>
                    <a:p>
                      <a:r>
                        <a:rPr lang="en-IN" sz="1000" b="1">
                          <a:latin typeface="Times New Roman" panose="02020603050405020304" pitchFamily="18" charset="0"/>
                        </a:rPr>
                        <a:t>Responsibility</a:t>
                      </a:r>
                    </a:p>
                  </a:txBody>
                  <a:tcPr>
                    <a:solidFill>
                      <a:srgbClr val="E9E9E9"/>
                    </a:solidFill>
                  </a:tcPr>
                </a:tc>
                <a:extLst>
                  <a:ext uri="{0D108BD9-81ED-4DB2-BD59-A6C34878D82A}">
                    <a16:rowId xmlns:a16="http://schemas.microsoft.com/office/drawing/2014/main" val="983258461"/>
                  </a:ext>
                </a:extLst>
              </a:tr>
              <a:tr h="606778">
                <a:tc>
                  <a:txBody>
                    <a:bodyPr/>
                    <a:lstStyle/>
                    <a:p>
                      <a:r>
                        <a:rPr lang="en-IN" sz="900">
                          <a:latin typeface="Times New Roman" panose="02020603050405020304" pitchFamily="18" charset="0"/>
                        </a:rPr>
                        <a:t>Authentication</a:t>
                      </a:r>
                    </a:p>
                  </a:txBody>
                  <a:tcPr/>
                </a:tc>
                <a:tc>
                  <a:txBody>
                    <a:bodyPr/>
                    <a:lstStyle/>
                    <a:p>
                      <a:r>
                        <a:rPr lang="en-IN" sz="900">
                          <a:latin typeface="Times New Roman" panose="02020603050405020304" pitchFamily="18" charset="0"/>
                        </a:rPr>
                        <a:t>/api/auth/login</a:t>
                      </a:r>
                    </a:p>
                  </a:txBody>
                  <a:tcPr/>
                </a:tc>
                <a:tc>
                  <a:txBody>
                    <a:bodyPr/>
                    <a:lstStyle/>
                    <a:p>
                      <a:r>
                        <a:rPr lang="en-US" sz="900">
                          <a:latin typeface="Times New Roman" panose="02020603050405020304" pitchFamily="18" charset="0"/>
                        </a:rPr>
                        <a:t>Login, token generation, OTP workflow</a:t>
                      </a:r>
                      <a:endParaRPr lang="en-IN" sz="900">
                        <a:latin typeface="Times New Roman" panose="02020603050405020304" pitchFamily="18" charset="0"/>
                      </a:endParaRPr>
                    </a:p>
                  </a:txBody>
                  <a:tcPr/>
                </a:tc>
                <a:extLst>
                  <a:ext uri="{0D108BD9-81ED-4DB2-BD59-A6C34878D82A}">
                    <a16:rowId xmlns:a16="http://schemas.microsoft.com/office/drawing/2014/main" val="1792956114"/>
                  </a:ext>
                </a:extLst>
              </a:tr>
              <a:tr h="606778">
                <a:tc>
                  <a:txBody>
                    <a:bodyPr/>
                    <a:lstStyle/>
                    <a:p>
                      <a:r>
                        <a:rPr lang="en-IN" sz="900">
                          <a:latin typeface="Times New Roman" panose="02020603050405020304" pitchFamily="18" charset="0"/>
                        </a:rPr>
                        <a:t>Patients</a:t>
                      </a:r>
                    </a:p>
                  </a:txBody>
                  <a:tcPr/>
                </a:tc>
                <a:tc>
                  <a:txBody>
                    <a:bodyPr/>
                    <a:lstStyle/>
                    <a:p>
                      <a:r>
                        <a:rPr lang="en-IN" sz="900">
                          <a:latin typeface="Times New Roman" panose="02020603050405020304" pitchFamily="18" charset="0"/>
                        </a:rPr>
                        <a:t>/api/patients</a:t>
                      </a:r>
                    </a:p>
                  </a:txBody>
                  <a:tcPr/>
                </a:tc>
                <a:tc>
                  <a:txBody>
                    <a:bodyPr/>
                    <a:lstStyle/>
                    <a:p>
                      <a:r>
                        <a:rPr lang="en-US" sz="900">
                          <a:latin typeface="Times New Roman" panose="02020603050405020304" pitchFamily="18" charset="0"/>
                        </a:rPr>
                        <a:t>CRUD operations on patient records</a:t>
                      </a:r>
                      <a:endParaRPr lang="en-IN" sz="900">
                        <a:latin typeface="Times New Roman" panose="02020603050405020304" pitchFamily="18" charset="0"/>
                      </a:endParaRPr>
                    </a:p>
                  </a:txBody>
                  <a:tcPr/>
                </a:tc>
                <a:extLst>
                  <a:ext uri="{0D108BD9-81ED-4DB2-BD59-A6C34878D82A}">
                    <a16:rowId xmlns:a16="http://schemas.microsoft.com/office/drawing/2014/main" val="3587057746"/>
                  </a:ext>
                </a:extLst>
              </a:tr>
              <a:tr h="606778">
                <a:tc>
                  <a:txBody>
                    <a:bodyPr/>
                    <a:lstStyle/>
                    <a:p>
                      <a:r>
                        <a:rPr lang="en-IN" sz="900">
                          <a:latin typeface="Times New Roman" panose="02020603050405020304" pitchFamily="18" charset="0"/>
                        </a:rPr>
                        <a:t>Appointments</a:t>
                      </a:r>
                    </a:p>
                  </a:txBody>
                  <a:tcPr/>
                </a:tc>
                <a:tc>
                  <a:txBody>
                    <a:bodyPr/>
                    <a:lstStyle/>
                    <a:p>
                      <a:r>
                        <a:rPr lang="en-IN" sz="900">
                          <a:latin typeface="Times New Roman" panose="02020603050405020304" pitchFamily="18" charset="0"/>
                        </a:rPr>
                        <a:t>/api/appointments</a:t>
                      </a:r>
                    </a:p>
                  </a:txBody>
                  <a:tcPr/>
                </a:tc>
                <a:tc>
                  <a:txBody>
                    <a:bodyPr/>
                    <a:lstStyle/>
                    <a:p>
                      <a:r>
                        <a:rPr lang="en-IN" sz="900">
                          <a:latin typeface="Times New Roman" panose="02020603050405020304" pitchFamily="18" charset="0"/>
                        </a:rPr>
                        <a:t>Create and update appointments</a:t>
                      </a:r>
                    </a:p>
                  </a:txBody>
                  <a:tcPr/>
                </a:tc>
                <a:extLst>
                  <a:ext uri="{0D108BD9-81ED-4DB2-BD59-A6C34878D82A}">
                    <a16:rowId xmlns:a16="http://schemas.microsoft.com/office/drawing/2014/main" val="2500553980"/>
                  </a:ext>
                </a:extLst>
              </a:tr>
              <a:tr h="606778">
                <a:tc>
                  <a:txBody>
                    <a:bodyPr/>
                    <a:lstStyle/>
                    <a:p>
                      <a:r>
                        <a:rPr lang="en-IN" sz="900">
                          <a:latin typeface="Times New Roman" panose="02020603050405020304" pitchFamily="18" charset="0"/>
                        </a:rPr>
                        <a:t>Orders</a:t>
                      </a:r>
                    </a:p>
                  </a:txBody>
                  <a:tcPr/>
                </a:tc>
                <a:tc>
                  <a:txBody>
                    <a:bodyPr/>
                    <a:lstStyle/>
                    <a:p>
                      <a:r>
                        <a:rPr lang="en-IN" sz="900">
                          <a:latin typeface="Times New Roman" panose="02020603050405020304" pitchFamily="18" charset="0"/>
                        </a:rPr>
                        <a:t>/api/orders</a:t>
                      </a:r>
                    </a:p>
                  </a:txBody>
                  <a:tcPr/>
                </a:tc>
                <a:tc>
                  <a:txBody>
                    <a:bodyPr/>
                    <a:lstStyle/>
                    <a:p>
                      <a:r>
                        <a:rPr lang="en-US" sz="900">
                          <a:latin typeface="Times New Roman" panose="02020603050405020304" pitchFamily="18" charset="0"/>
                        </a:rPr>
                        <a:t>Cart actions, place order, delivery status</a:t>
                      </a:r>
                      <a:endParaRPr lang="en-IN" sz="900">
                        <a:latin typeface="Times New Roman" panose="02020603050405020304" pitchFamily="18" charset="0"/>
                      </a:endParaRPr>
                    </a:p>
                  </a:txBody>
                  <a:tcPr/>
                </a:tc>
                <a:extLst>
                  <a:ext uri="{0D108BD9-81ED-4DB2-BD59-A6C34878D82A}">
                    <a16:rowId xmlns:a16="http://schemas.microsoft.com/office/drawing/2014/main" val="955036201"/>
                  </a:ext>
                </a:extLst>
              </a:tr>
              <a:tr h="606778">
                <a:tc>
                  <a:txBody>
                    <a:bodyPr/>
                    <a:lstStyle/>
                    <a:p>
                      <a:r>
                        <a:rPr lang="en-IN" sz="900">
                          <a:latin typeface="Times New Roman" panose="02020603050405020304" pitchFamily="18" charset="0"/>
                        </a:rPr>
                        <a:t>Upload</a:t>
                      </a:r>
                    </a:p>
                  </a:txBody>
                  <a:tcPr/>
                </a:tc>
                <a:tc>
                  <a:txBody>
                    <a:bodyPr/>
                    <a:lstStyle/>
                    <a:p>
                      <a:r>
                        <a:rPr lang="en-IN" sz="900">
                          <a:latin typeface="Times New Roman" panose="02020603050405020304" pitchFamily="18" charset="0"/>
                        </a:rPr>
                        <a:t>/api/upload</a:t>
                      </a:r>
                    </a:p>
                  </a:txBody>
                  <a:tcPr/>
                </a:tc>
                <a:tc>
                  <a:txBody>
                    <a:bodyPr/>
                    <a:lstStyle/>
                    <a:p>
                      <a:r>
                        <a:rPr lang="en-US" sz="900">
                          <a:latin typeface="Times New Roman" panose="02020603050405020304" pitchFamily="18" charset="0"/>
                        </a:rPr>
                        <a:t>Store report files and return path</a:t>
                      </a:r>
                      <a:endParaRPr lang="en-IN" sz="900">
                        <a:latin typeface="Times New Roman" panose="02020603050405020304" pitchFamily="18" charset="0"/>
                      </a:endParaRPr>
                    </a:p>
                  </a:txBody>
                  <a:tcPr/>
                </a:tc>
                <a:extLst>
                  <a:ext uri="{0D108BD9-81ED-4DB2-BD59-A6C34878D82A}">
                    <a16:rowId xmlns:a16="http://schemas.microsoft.com/office/drawing/2014/main" val="1784751394"/>
                  </a:ext>
                </a:extLst>
              </a:tr>
              <a:tr h="606778">
                <a:tc>
                  <a:txBody>
                    <a:bodyPr/>
                    <a:lstStyle/>
                    <a:p>
                      <a:r>
                        <a:rPr lang="en-IN" sz="900">
                          <a:latin typeface="Times New Roman" panose="02020603050405020304" pitchFamily="18" charset="0"/>
                        </a:rPr>
                        <a:t>Chat</a:t>
                      </a:r>
                    </a:p>
                  </a:txBody>
                  <a:tcPr/>
                </a:tc>
                <a:tc>
                  <a:txBody>
                    <a:bodyPr/>
                    <a:lstStyle/>
                    <a:p>
                      <a:r>
                        <a:rPr lang="en-IN" sz="900">
                          <a:latin typeface="Times New Roman" panose="02020603050405020304" pitchFamily="18" charset="0"/>
                        </a:rPr>
                        <a:t>/api/chat/messages</a:t>
                      </a:r>
                    </a:p>
                  </a:txBody>
                  <a:tcPr/>
                </a:tc>
                <a:tc>
                  <a:txBody>
                    <a:bodyPr/>
                    <a:lstStyle/>
                    <a:p>
                      <a:r>
                        <a:rPr lang="en-IN" sz="900">
                          <a:latin typeface="Times New Roman" panose="02020603050405020304" pitchFamily="18" charset="0"/>
                        </a:rPr>
                        <a:t>Persist and fetch conversations</a:t>
                      </a:r>
                    </a:p>
                  </a:txBody>
                  <a:tcPr/>
                </a:tc>
                <a:extLst>
                  <a:ext uri="{0D108BD9-81ED-4DB2-BD59-A6C34878D82A}">
                    <a16:rowId xmlns:a16="http://schemas.microsoft.com/office/drawing/2014/main" val="2956963825"/>
                  </a:ext>
                </a:extLst>
              </a:tr>
              <a:tr h="606778">
                <a:tc>
                  <a:txBody>
                    <a:bodyPr/>
                    <a:lstStyle/>
                    <a:p>
                      <a:r>
                        <a:rPr lang="en-IN" sz="900">
                          <a:latin typeface="Times New Roman" panose="02020603050405020304" pitchFamily="18" charset="0"/>
                        </a:rPr>
                        <a:t>Notifications</a:t>
                      </a:r>
                    </a:p>
                  </a:txBody>
                  <a:tcPr/>
                </a:tc>
                <a:tc>
                  <a:txBody>
                    <a:bodyPr/>
                    <a:lstStyle/>
                    <a:p>
                      <a:r>
                        <a:rPr lang="en-IN" sz="900">
                          <a:latin typeface="Times New Roman" panose="02020603050405020304" pitchFamily="18" charset="0"/>
                        </a:rPr>
                        <a:t>/api/notifications</a:t>
                      </a:r>
                    </a:p>
                  </a:txBody>
                  <a:tcPr/>
                </a:tc>
                <a:tc>
                  <a:txBody>
                    <a:bodyPr/>
                    <a:lstStyle/>
                    <a:p>
                      <a:r>
                        <a:rPr lang="en-IN" sz="900">
                          <a:latin typeface="Times New Roman" panose="02020603050405020304" pitchFamily="18" charset="0"/>
                        </a:rPr>
                        <a:t>List and mark notifications</a:t>
                      </a:r>
                    </a:p>
                  </a:txBody>
                  <a:tcPr/>
                </a:tc>
                <a:extLst>
                  <a:ext uri="{0D108BD9-81ED-4DB2-BD59-A6C34878D82A}">
                    <a16:rowId xmlns:a16="http://schemas.microsoft.com/office/drawing/2014/main" val="934844269"/>
                  </a:ext>
                </a:extLst>
              </a:tr>
              <a:tr h="606778">
                <a:tc>
                  <a:txBody>
                    <a:bodyPr/>
                    <a:lstStyle/>
                    <a:p>
                      <a:r>
                        <a:rPr lang="en-IN" sz="900">
                          <a:latin typeface="Times New Roman" panose="02020603050405020304" pitchFamily="18" charset="0"/>
                        </a:rPr>
                        <a:t>AI Doctor</a:t>
                      </a:r>
                    </a:p>
                  </a:txBody>
                  <a:tcPr/>
                </a:tc>
                <a:tc>
                  <a:txBody>
                    <a:bodyPr/>
                    <a:lstStyle/>
                    <a:p>
                      <a:r>
                        <a:rPr lang="en-IN" sz="900">
                          <a:latin typeface="Times New Roman" panose="02020603050405020304" pitchFamily="18" charset="0"/>
                        </a:rPr>
                        <a:t>/api/ai/doctor</a:t>
                      </a:r>
                    </a:p>
                  </a:txBody>
                  <a:tcPr/>
                </a:tc>
                <a:tc>
                  <a:txBody>
                    <a:bodyPr/>
                    <a:lstStyle/>
                    <a:p>
                      <a:r>
                        <a:rPr lang="en-US" sz="900">
                          <a:latin typeface="Times New Roman" panose="02020603050405020304" pitchFamily="18" charset="0"/>
                        </a:rPr>
                        <a:t>Send symptom prompt to Groq API</a:t>
                      </a:r>
                      <a:endParaRPr lang="en-IN" sz="900">
                        <a:latin typeface="Times New Roman" panose="02020603050405020304" pitchFamily="18" charset="0"/>
                      </a:endParaRPr>
                    </a:p>
                  </a:txBody>
                  <a:tcPr/>
                </a:tc>
                <a:extLst>
                  <a:ext uri="{0D108BD9-81ED-4DB2-BD59-A6C34878D82A}">
                    <a16:rowId xmlns:a16="http://schemas.microsoft.com/office/drawing/2014/main" val="1574147322"/>
                  </a:ext>
                </a:extLst>
              </a:tr>
            </a:tbl>
          </a:graphicData>
        </a:graphic>
      </p:graphicFrame>
      <p:sp>
        <p:nvSpPr>
          <p:cNvPr id="6" name="TextBox 5">
            <a:extLst>
              <a:ext uri="{FF2B5EF4-FFF2-40B4-BE49-F238E27FC236}">
                <a16:creationId xmlns:a16="http://schemas.microsoft.com/office/drawing/2014/main" id="{DF75C505-F0E4-C8E8-E66A-B96ACBAE89CC}"/>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8. Core API summary of the implemented backend modules.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8524250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5B1570-9F1F-C0ED-B2F8-EC17AEA39A60}"/>
              </a:ext>
            </a:extLst>
          </p:cNvPr>
          <p:cNvSpPr txBox="1"/>
          <p:nvPr/>
        </p:nvSpPr>
        <p:spPr>
          <a:xfrm>
            <a:off x="584200" y="431800"/>
            <a:ext cx="6388100" cy="584775"/>
          </a:xfrm>
          <a:prstGeom prst="rect">
            <a:avLst/>
          </a:prstGeom>
          <a:noFill/>
        </p:spPr>
        <p:txBody>
          <a:bodyPr vert="horz" rtlCol="0">
            <a:spAutoFit/>
          </a:bodyPr>
          <a:lstStyle/>
          <a:p>
            <a:r>
              <a:rPr lang="en-US" sz="1600" b="1">
                <a:solidFill>
                  <a:srgbClr val="0C0428"/>
                </a:solidFill>
                <a:latin typeface="Times New Roman" panose="02020603050405020304" pitchFamily="18" charset="0"/>
              </a:rPr>
              <a:t>6F. FRONTEND IMPLEMENTATION AND REPRESENTATIVE SCREENS</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01CEBFCE-36AD-1FC8-5C81-019E6CABAE09}"/>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10C6A19-B13D-2946-E059-E804E2E6A9D6}"/>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54</a:t>
            </a:r>
          </a:p>
        </p:txBody>
      </p:sp>
      <p:sp>
        <p:nvSpPr>
          <p:cNvPr id="5" name="Rectangle 4">
            <a:extLst>
              <a:ext uri="{FF2B5EF4-FFF2-40B4-BE49-F238E27FC236}">
                <a16:creationId xmlns:a16="http://schemas.microsoft.com/office/drawing/2014/main" id="{D56BCC51-2DCC-38AB-E961-AD7CD6450281}"/>
              </a:ext>
            </a:extLst>
          </p:cNvPr>
          <p:cNvSpPr/>
          <p:nvPr/>
        </p:nvSpPr>
        <p:spPr>
          <a:xfrm>
            <a:off x="698500" y="1968500"/>
            <a:ext cx="2667000" cy="2032000"/>
          </a:xfrm>
          <a:prstGeom prst="rect">
            <a:avLst/>
          </a:prstGeom>
          <a:solidFill>
            <a:srgbClr val="EFEFEF"/>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latin typeface="Times New Roman" panose="02020603050405020304" pitchFamily="18" charset="0"/>
              </a:rPr>
              <a:t>Login Page</a:t>
            </a:r>
          </a:p>
        </p:txBody>
      </p:sp>
      <p:sp>
        <p:nvSpPr>
          <p:cNvPr id="6" name="Rectangle 5">
            <a:extLst>
              <a:ext uri="{FF2B5EF4-FFF2-40B4-BE49-F238E27FC236}">
                <a16:creationId xmlns:a16="http://schemas.microsoft.com/office/drawing/2014/main" id="{CC279DC3-5707-9C1B-6BFD-0D8054DCB5D1}"/>
              </a:ext>
            </a:extLst>
          </p:cNvPr>
          <p:cNvSpPr/>
          <p:nvPr/>
        </p:nvSpPr>
        <p:spPr>
          <a:xfrm>
            <a:off x="4191000" y="1968500"/>
            <a:ext cx="2667000" cy="2032000"/>
          </a:xfrm>
          <a:prstGeom prst="rect">
            <a:avLst/>
          </a:prstGeom>
          <a:solidFill>
            <a:srgbClr val="EFEFEF"/>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latin typeface="Times New Roman" panose="02020603050405020304" pitchFamily="18" charset="0"/>
              </a:rPr>
              <a:t>Dashboard</a:t>
            </a:r>
          </a:p>
        </p:txBody>
      </p:sp>
      <p:sp>
        <p:nvSpPr>
          <p:cNvPr id="7" name="Rectangle 6">
            <a:extLst>
              <a:ext uri="{FF2B5EF4-FFF2-40B4-BE49-F238E27FC236}">
                <a16:creationId xmlns:a16="http://schemas.microsoft.com/office/drawing/2014/main" id="{9D01BC18-5564-DF7F-03A2-C54D5AA58000}"/>
              </a:ext>
            </a:extLst>
          </p:cNvPr>
          <p:cNvSpPr/>
          <p:nvPr/>
        </p:nvSpPr>
        <p:spPr>
          <a:xfrm>
            <a:off x="698500" y="4953000"/>
            <a:ext cx="2667000" cy="2032000"/>
          </a:xfrm>
          <a:prstGeom prst="rect">
            <a:avLst/>
          </a:prstGeom>
          <a:solidFill>
            <a:srgbClr val="EFEFEF"/>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latin typeface="Times New Roman" panose="02020603050405020304" pitchFamily="18" charset="0"/>
              </a:rPr>
              <a:t>Cart and Order Confirmation</a:t>
            </a:r>
          </a:p>
        </p:txBody>
      </p:sp>
      <p:sp>
        <p:nvSpPr>
          <p:cNvPr id="8" name="Rectangle 7">
            <a:extLst>
              <a:ext uri="{FF2B5EF4-FFF2-40B4-BE49-F238E27FC236}">
                <a16:creationId xmlns:a16="http://schemas.microsoft.com/office/drawing/2014/main" id="{90EF765B-1D00-B451-CC67-5236DA052AC1}"/>
              </a:ext>
            </a:extLst>
          </p:cNvPr>
          <p:cNvSpPr/>
          <p:nvPr/>
        </p:nvSpPr>
        <p:spPr>
          <a:xfrm>
            <a:off x="4191000" y="4953000"/>
            <a:ext cx="2667000" cy="2032000"/>
          </a:xfrm>
          <a:prstGeom prst="rect">
            <a:avLst/>
          </a:prstGeom>
          <a:solidFill>
            <a:srgbClr val="EFEFEF"/>
          </a:solidFill>
          <a:ln>
            <a:solidFill>
              <a:srgbClr val="9A9A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Times New Roman" panose="02020603050405020304" pitchFamily="18" charset="0"/>
              </a:rPr>
              <a:t>Chat and AI Doctor Widget</a:t>
            </a:r>
            <a:endParaRPr lang="en-IN" sz="1200">
              <a:latin typeface="Times New Roman" panose="02020603050405020304" pitchFamily="18" charset="0"/>
            </a:endParaRPr>
          </a:p>
        </p:txBody>
      </p:sp>
      <p:sp>
        <p:nvSpPr>
          <p:cNvPr id="9" name="Rectangle 8">
            <a:extLst>
              <a:ext uri="{FF2B5EF4-FFF2-40B4-BE49-F238E27FC236}">
                <a16:creationId xmlns:a16="http://schemas.microsoft.com/office/drawing/2014/main" id="{E1DED435-7B0F-FEF3-E9E8-5817B71425DB}"/>
              </a:ext>
            </a:extLst>
          </p:cNvPr>
          <p:cNvSpPr/>
          <p:nvPr/>
        </p:nvSpPr>
        <p:spPr>
          <a:xfrm>
            <a:off x="889000" y="2349500"/>
            <a:ext cx="2286000" cy="1270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404BAF10-BF4B-4732-3FB4-329995A627A0}"/>
              </a:ext>
            </a:extLst>
          </p:cNvPr>
          <p:cNvSpPr/>
          <p:nvPr/>
        </p:nvSpPr>
        <p:spPr>
          <a:xfrm>
            <a:off x="889000" y="2603500"/>
            <a:ext cx="2286000" cy="1270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F825D284-0D4A-532C-21BC-A949991B1AD7}"/>
              </a:ext>
            </a:extLst>
          </p:cNvPr>
          <p:cNvSpPr/>
          <p:nvPr/>
        </p:nvSpPr>
        <p:spPr>
          <a:xfrm>
            <a:off x="889000" y="2857500"/>
            <a:ext cx="1778000" cy="1270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D75F7D82-D938-23D9-4DC7-B8E42CFB1663}"/>
              </a:ext>
            </a:extLst>
          </p:cNvPr>
          <p:cNvSpPr/>
          <p:nvPr/>
        </p:nvSpPr>
        <p:spPr>
          <a:xfrm>
            <a:off x="889000" y="3149600"/>
            <a:ext cx="1524000" cy="3556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98198F79-17DD-6F09-4E49-85436BE1FB1B}"/>
              </a:ext>
            </a:extLst>
          </p:cNvPr>
          <p:cNvSpPr/>
          <p:nvPr/>
        </p:nvSpPr>
        <p:spPr>
          <a:xfrm>
            <a:off x="4381500" y="2349500"/>
            <a:ext cx="2286000" cy="1524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539A2A8D-C4EB-E08E-11DF-A379644F22E4}"/>
              </a:ext>
            </a:extLst>
          </p:cNvPr>
          <p:cNvSpPr/>
          <p:nvPr/>
        </p:nvSpPr>
        <p:spPr>
          <a:xfrm>
            <a:off x="4381500" y="2667000"/>
            <a:ext cx="889000" cy="6350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67442D82-A254-2C44-0D83-9E8AA00EC7D1}"/>
              </a:ext>
            </a:extLst>
          </p:cNvPr>
          <p:cNvSpPr/>
          <p:nvPr/>
        </p:nvSpPr>
        <p:spPr>
          <a:xfrm>
            <a:off x="5397500" y="2667000"/>
            <a:ext cx="1270000" cy="6350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24DE4C8B-698D-3450-3405-4ECE13F4A044}"/>
              </a:ext>
            </a:extLst>
          </p:cNvPr>
          <p:cNvSpPr/>
          <p:nvPr/>
        </p:nvSpPr>
        <p:spPr>
          <a:xfrm>
            <a:off x="4381500" y="3429000"/>
            <a:ext cx="2286000" cy="2286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D9681FFB-15B0-A60C-783B-BD890B968BBE}"/>
              </a:ext>
            </a:extLst>
          </p:cNvPr>
          <p:cNvSpPr/>
          <p:nvPr/>
        </p:nvSpPr>
        <p:spPr>
          <a:xfrm>
            <a:off x="889000" y="5334000"/>
            <a:ext cx="2286000" cy="1524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F07A6F7C-671F-3CFC-3EB3-1A22D8769923}"/>
              </a:ext>
            </a:extLst>
          </p:cNvPr>
          <p:cNvSpPr/>
          <p:nvPr/>
        </p:nvSpPr>
        <p:spPr>
          <a:xfrm>
            <a:off x="889000" y="5651500"/>
            <a:ext cx="2032000" cy="2286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199CDC0A-6FC9-E6AF-2E18-C5A835BFABD5}"/>
              </a:ext>
            </a:extLst>
          </p:cNvPr>
          <p:cNvSpPr/>
          <p:nvPr/>
        </p:nvSpPr>
        <p:spPr>
          <a:xfrm>
            <a:off x="889000" y="5994400"/>
            <a:ext cx="1905000" cy="2286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BF9607E6-70FE-1E36-3E68-5ABA78302363}"/>
              </a:ext>
            </a:extLst>
          </p:cNvPr>
          <p:cNvSpPr/>
          <p:nvPr/>
        </p:nvSpPr>
        <p:spPr>
          <a:xfrm>
            <a:off x="889000" y="6375400"/>
            <a:ext cx="1524000" cy="3048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2681C530-F959-353E-ACB2-E67D8D347289}"/>
              </a:ext>
            </a:extLst>
          </p:cNvPr>
          <p:cNvSpPr/>
          <p:nvPr/>
        </p:nvSpPr>
        <p:spPr>
          <a:xfrm>
            <a:off x="4381500" y="5334000"/>
            <a:ext cx="2286000" cy="1524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F2F66020-EE89-A926-5346-28F57A499BA8}"/>
              </a:ext>
            </a:extLst>
          </p:cNvPr>
          <p:cNvSpPr/>
          <p:nvPr/>
        </p:nvSpPr>
        <p:spPr>
          <a:xfrm>
            <a:off x="4381500" y="5651500"/>
            <a:ext cx="1143000" cy="7620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AB5E4FA0-618F-8EC3-3AC9-FE101DF94109}"/>
              </a:ext>
            </a:extLst>
          </p:cNvPr>
          <p:cNvSpPr/>
          <p:nvPr/>
        </p:nvSpPr>
        <p:spPr>
          <a:xfrm>
            <a:off x="5651500" y="5651500"/>
            <a:ext cx="1016000" cy="1143000"/>
          </a:xfrm>
          <a:prstGeom prst="rect">
            <a:avLst/>
          </a:prstGeom>
          <a:solidFill>
            <a:srgbClr val="FFFFFF"/>
          </a:solidFill>
          <a:ln>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3ADDB3A8-0639-0DDF-5D71-58867359974E}"/>
              </a:ext>
            </a:extLst>
          </p:cNvPr>
          <p:cNvSpPr txBox="1"/>
          <p:nvPr/>
        </p:nvSpPr>
        <p:spPr>
          <a:xfrm>
            <a:off x="762000" y="7556500"/>
            <a:ext cx="6096000" cy="525337"/>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 frontend is organized as reusable React components and clean role-based pages. The representative layouts above correspond to the major interaction surfaces in the implemented website.</a:t>
            </a:r>
            <a:endParaRPr lang="en-IN" sz="1100">
              <a:solidFill>
                <a:srgbClr val="30241E"/>
              </a:solidFill>
              <a:latin typeface="Times New Roman" panose="02020603050405020304" pitchFamily="18" charset="0"/>
            </a:endParaRPr>
          </a:p>
        </p:txBody>
      </p:sp>
      <p:sp>
        <p:nvSpPr>
          <p:cNvPr id="25" name="TextBox 24">
            <a:extLst>
              <a:ext uri="{FF2B5EF4-FFF2-40B4-BE49-F238E27FC236}">
                <a16:creationId xmlns:a16="http://schemas.microsoft.com/office/drawing/2014/main" id="{145B0CD1-C8FE-EEF1-9A63-A44C2407C9B7}"/>
              </a:ext>
            </a:extLst>
          </p:cNvPr>
          <p:cNvSpPr txBox="1"/>
          <p:nvPr/>
        </p:nvSpPr>
        <p:spPr>
          <a:xfrm>
            <a:off x="762000" y="9575800"/>
            <a:ext cx="5969000" cy="485967"/>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Figure 11. Representative interface layouts aligned with the implemented login, dashboard, cart, confirmation, chat, and AI sections.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40145348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81D154-8DFD-4309-B742-5BEAD6D1B035}"/>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6G. SECURITY, VALIDATION, AND FILE HANDLING</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775D5514-83CA-F8AF-D7A6-20E82C6F8F0D}"/>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3C4CAD7-673B-54C5-27EF-117838D6DDED}"/>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55</a:t>
            </a:r>
          </a:p>
        </p:txBody>
      </p:sp>
      <p:sp>
        <p:nvSpPr>
          <p:cNvPr id="5" name="TextBox 4">
            <a:extLst>
              <a:ext uri="{FF2B5EF4-FFF2-40B4-BE49-F238E27FC236}">
                <a16:creationId xmlns:a16="http://schemas.microsoft.com/office/drawing/2014/main" id="{9EE5767F-B78F-0A85-438F-A1FCD9ADA1DD}"/>
              </a:ext>
            </a:extLst>
          </p:cNvPr>
          <p:cNvSpPr txBox="1"/>
          <p:nvPr/>
        </p:nvSpPr>
        <p:spPr>
          <a:xfrm>
            <a:off x="762000" y="1841500"/>
            <a:ext cx="6223000" cy="3337452"/>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Passwords are hashed using bcrypt before storage in MongoDB.</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JWT middleware protects routes that require authenticated access.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Role-based authorization restricts admin-only operations such as patient management and order delivery updates.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OTP generation stores a temporary code and expiry timestamp for verification flow.</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Input validation checks required fields in authentication, appointment, and order forms.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Multer processes multipart form data and stores uploads in a controlled server directory.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Cart logic avoids duplicate product rows by increasing quantity when the same item is added again.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Delivered order deletion is validated by status so users cannot remove active order history prematurely.</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6205325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9AB233-1397-D01B-9434-E28E99EE9F81}"/>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CHAPTER 7: RESULTS AND DISCUSSION</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DD0861E3-95B9-3C95-7000-C919F3F6A1B1}"/>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702C5E0-35E0-8028-9949-8C9FE82C09A1}"/>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56</a:t>
            </a:r>
          </a:p>
        </p:txBody>
      </p:sp>
      <p:sp>
        <p:nvSpPr>
          <p:cNvPr id="5" name="TextBox 4">
            <a:extLst>
              <a:ext uri="{FF2B5EF4-FFF2-40B4-BE49-F238E27FC236}">
                <a16:creationId xmlns:a16="http://schemas.microsoft.com/office/drawing/2014/main" id="{77EC7D29-3710-118A-188E-33B206DEB65B}"/>
              </a:ext>
            </a:extLst>
          </p:cNvPr>
          <p:cNvSpPr txBox="1"/>
          <p:nvPr/>
        </p:nvSpPr>
        <p:spPr>
          <a:xfrm>
            <a:off x="584200" y="1397000"/>
            <a:ext cx="6388100" cy="1965025"/>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Results and discussion evaluate whether the implemented system meets the project objectives in a functional and operational sense. Because the project is a working prototype rather than a benchmarked production deployment, the emphasis is placed on workflow completion, stability, response quality, and user-visible outcomes.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Testing confirmed that the main modules including authentication, CRUD, appointments, file upload, search, cart, order confirmation, chat, notifications, and delivered-order controls behave as expected.</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059844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0EB8B2-6FBF-C49D-0005-D16C177B57D3}"/>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7A. TESTING STRATEGY AND TEST CASES</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FFBB25E1-465D-42A1-A736-51D7FD61FE1D}"/>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C5DF9FB-420D-CF22-82B5-CBDFD8862F9D}"/>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57</a:t>
            </a:r>
          </a:p>
        </p:txBody>
      </p:sp>
      <p:graphicFrame>
        <p:nvGraphicFramePr>
          <p:cNvPr id="5" name="Table 4">
            <a:extLst>
              <a:ext uri="{FF2B5EF4-FFF2-40B4-BE49-F238E27FC236}">
                <a16:creationId xmlns:a16="http://schemas.microsoft.com/office/drawing/2014/main" id="{07F2C919-8F6D-0A01-F2D4-6188359E074E}"/>
              </a:ext>
            </a:extLst>
          </p:cNvPr>
          <p:cNvGraphicFramePr>
            <a:graphicFrameLocks noGrp="1"/>
          </p:cNvGraphicFramePr>
          <p:nvPr>
            <p:extLst>
              <p:ext uri="{D42A27DB-BD31-4B8C-83A1-F6EECF244321}">
                <p14:modId xmlns:p14="http://schemas.microsoft.com/office/powerpoint/2010/main" val="2490810633"/>
              </p:ext>
            </p:extLst>
          </p:nvPr>
        </p:nvGraphicFramePr>
        <p:xfrm>
          <a:off x="584199" y="1841500"/>
          <a:ext cx="6388100" cy="5969000"/>
        </p:xfrm>
        <a:graphic>
          <a:graphicData uri="http://schemas.openxmlformats.org/drawingml/2006/table">
            <a:tbl>
              <a:tblPr firstRow="1" bandRow="1">
                <a:tableStyleId>{5C22544A-7EE6-4342-B048-85BDC9FD1C3A}</a:tableStyleId>
              </a:tblPr>
              <a:tblGrid>
                <a:gridCol w="1597025">
                  <a:extLst>
                    <a:ext uri="{9D8B030D-6E8A-4147-A177-3AD203B41FA5}">
                      <a16:colId xmlns:a16="http://schemas.microsoft.com/office/drawing/2014/main" val="2441732368"/>
                    </a:ext>
                  </a:extLst>
                </a:gridCol>
                <a:gridCol w="1597025">
                  <a:extLst>
                    <a:ext uri="{9D8B030D-6E8A-4147-A177-3AD203B41FA5}">
                      <a16:colId xmlns:a16="http://schemas.microsoft.com/office/drawing/2014/main" val="2405129947"/>
                    </a:ext>
                  </a:extLst>
                </a:gridCol>
                <a:gridCol w="1597025">
                  <a:extLst>
                    <a:ext uri="{9D8B030D-6E8A-4147-A177-3AD203B41FA5}">
                      <a16:colId xmlns:a16="http://schemas.microsoft.com/office/drawing/2014/main" val="4259328216"/>
                    </a:ext>
                  </a:extLst>
                </a:gridCol>
                <a:gridCol w="1597025">
                  <a:extLst>
                    <a:ext uri="{9D8B030D-6E8A-4147-A177-3AD203B41FA5}">
                      <a16:colId xmlns:a16="http://schemas.microsoft.com/office/drawing/2014/main" val="2220727851"/>
                    </a:ext>
                  </a:extLst>
                </a:gridCol>
              </a:tblGrid>
              <a:tr h="542636">
                <a:tc>
                  <a:txBody>
                    <a:bodyPr/>
                    <a:lstStyle/>
                    <a:p>
                      <a:r>
                        <a:rPr lang="en-IN" sz="1000" b="1">
                          <a:latin typeface="Times New Roman" panose="02020603050405020304" pitchFamily="18" charset="0"/>
                        </a:rPr>
                        <a:t>TC</a:t>
                      </a:r>
                    </a:p>
                  </a:txBody>
                  <a:tcPr>
                    <a:solidFill>
                      <a:srgbClr val="E9E9E9"/>
                    </a:solidFill>
                  </a:tcPr>
                </a:tc>
                <a:tc>
                  <a:txBody>
                    <a:bodyPr/>
                    <a:lstStyle/>
                    <a:p>
                      <a:r>
                        <a:rPr lang="en-IN" sz="1000" b="1">
                          <a:latin typeface="Times New Roman" panose="02020603050405020304" pitchFamily="18" charset="0"/>
                        </a:rPr>
                        <a:t>Feature</a:t>
                      </a:r>
                    </a:p>
                  </a:txBody>
                  <a:tcPr>
                    <a:solidFill>
                      <a:srgbClr val="E9E9E9"/>
                    </a:solidFill>
                  </a:tcPr>
                </a:tc>
                <a:tc>
                  <a:txBody>
                    <a:bodyPr/>
                    <a:lstStyle/>
                    <a:p>
                      <a:r>
                        <a:rPr lang="en-IN" sz="1000" b="1">
                          <a:latin typeface="Times New Roman" panose="02020603050405020304" pitchFamily="18" charset="0"/>
                        </a:rPr>
                        <a:t>Expected Result</a:t>
                      </a:r>
                    </a:p>
                  </a:txBody>
                  <a:tcPr>
                    <a:solidFill>
                      <a:srgbClr val="E9E9E9"/>
                    </a:solidFill>
                  </a:tcPr>
                </a:tc>
                <a:tc>
                  <a:txBody>
                    <a:bodyPr/>
                    <a:lstStyle/>
                    <a:p>
                      <a:r>
                        <a:rPr lang="en-IN" sz="1000" b="1">
                          <a:latin typeface="Times New Roman" panose="02020603050405020304" pitchFamily="18" charset="0"/>
                        </a:rPr>
                        <a:t>Status</a:t>
                      </a:r>
                    </a:p>
                  </a:txBody>
                  <a:tcPr>
                    <a:solidFill>
                      <a:srgbClr val="E9E9E9"/>
                    </a:solidFill>
                  </a:tcPr>
                </a:tc>
                <a:extLst>
                  <a:ext uri="{0D108BD9-81ED-4DB2-BD59-A6C34878D82A}">
                    <a16:rowId xmlns:a16="http://schemas.microsoft.com/office/drawing/2014/main" val="2137940494"/>
                  </a:ext>
                </a:extLst>
              </a:tr>
              <a:tr h="542636">
                <a:tc>
                  <a:txBody>
                    <a:bodyPr/>
                    <a:lstStyle/>
                    <a:p>
                      <a:r>
                        <a:rPr lang="en-IN" sz="900">
                          <a:latin typeface="Times New Roman" panose="02020603050405020304" pitchFamily="18" charset="0"/>
                        </a:rPr>
                        <a:t>TC-01</a:t>
                      </a:r>
                    </a:p>
                  </a:txBody>
                  <a:tcPr/>
                </a:tc>
                <a:tc>
                  <a:txBody>
                    <a:bodyPr/>
                    <a:lstStyle/>
                    <a:p>
                      <a:r>
                        <a:rPr lang="en-IN" sz="900">
                          <a:latin typeface="Times New Roman" panose="02020603050405020304" pitchFamily="18" charset="0"/>
                        </a:rPr>
                        <a:t>Registration and login</a:t>
                      </a:r>
                    </a:p>
                  </a:txBody>
                  <a:tcPr/>
                </a:tc>
                <a:tc>
                  <a:txBody>
                    <a:bodyPr/>
                    <a:lstStyle/>
                    <a:p>
                      <a:r>
                        <a:rPr lang="en-US" sz="900">
                          <a:latin typeface="Times New Roman" panose="02020603050405020304" pitchFamily="18" charset="0"/>
                        </a:rPr>
                        <a:t>User account created and authenticated</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241548012"/>
                  </a:ext>
                </a:extLst>
              </a:tr>
              <a:tr h="542636">
                <a:tc>
                  <a:txBody>
                    <a:bodyPr/>
                    <a:lstStyle/>
                    <a:p>
                      <a:r>
                        <a:rPr lang="en-IN" sz="900">
                          <a:latin typeface="Times New Roman" panose="02020603050405020304" pitchFamily="18" charset="0"/>
                        </a:rPr>
                        <a:t>TC-02</a:t>
                      </a:r>
                    </a:p>
                  </a:txBody>
                  <a:tcPr/>
                </a:tc>
                <a:tc>
                  <a:txBody>
                    <a:bodyPr/>
                    <a:lstStyle/>
                    <a:p>
                      <a:r>
                        <a:rPr lang="en-IN" sz="900">
                          <a:latin typeface="Times New Roman" panose="02020603050405020304" pitchFamily="18" charset="0"/>
                        </a:rPr>
                        <a:t>OTP verification</a:t>
                      </a:r>
                    </a:p>
                  </a:txBody>
                  <a:tcPr/>
                </a:tc>
                <a:tc>
                  <a:txBody>
                    <a:bodyPr/>
                    <a:lstStyle/>
                    <a:p>
                      <a:r>
                        <a:rPr lang="en-US" sz="900">
                          <a:latin typeface="Times New Roman" panose="02020603050405020304" pitchFamily="18" charset="0"/>
                        </a:rPr>
                        <a:t>Valid OTP marks user as verified</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3747508447"/>
                  </a:ext>
                </a:extLst>
              </a:tr>
              <a:tr h="542636">
                <a:tc>
                  <a:txBody>
                    <a:bodyPr/>
                    <a:lstStyle/>
                    <a:p>
                      <a:r>
                        <a:rPr lang="en-IN" sz="900">
                          <a:latin typeface="Times New Roman" panose="02020603050405020304" pitchFamily="18" charset="0"/>
                        </a:rPr>
                        <a:t>TC-03</a:t>
                      </a:r>
                    </a:p>
                  </a:txBody>
                  <a:tcPr/>
                </a:tc>
                <a:tc>
                  <a:txBody>
                    <a:bodyPr/>
                    <a:lstStyle/>
                    <a:p>
                      <a:r>
                        <a:rPr lang="en-IN" sz="900">
                          <a:latin typeface="Times New Roman" panose="02020603050405020304" pitchFamily="18" charset="0"/>
                        </a:rPr>
                        <a:t>Patient CRUD</a:t>
                      </a:r>
                    </a:p>
                  </a:txBody>
                  <a:tcPr/>
                </a:tc>
                <a:tc>
                  <a:txBody>
                    <a:bodyPr/>
                    <a:lstStyle/>
                    <a:p>
                      <a:r>
                        <a:rPr lang="en-US" sz="900">
                          <a:latin typeface="Times New Roman" panose="02020603050405020304" pitchFamily="18" charset="0"/>
                        </a:rPr>
                        <a:t>Admin creates, edits, and deletes records</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3253612196"/>
                  </a:ext>
                </a:extLst>
              </a:tr>
              <a:tr h="542636">
                <a:tc>
                  <a:txBody>
                    <a:bodyPr/>
                    <a:lstStyle/>
                    <a:p>
                      <a:r>
                        <a:rPr lang="en-IN" sz="900">
                          <a:latin typeface="Times New Roman" panose="02020603050405020304" pitchFamily="18" charset="0"/>
                        </a:rPr>
                        <a:t>TC-04</a:t>
                      </a:r>
                    </a:p>
                  </a:txBody>
                  <a:tcPr/>
                </a:tc>
                <a:tc>
                  <a:txBody>
                    <a:bodyPr/>
                    <a:lstStyle/>
                    <a:p>
                      <a:r>
                        <a:rPr lang="en-IN" sz="900">
                          <a:latin typeface="Times New Roman" panose="02020603050405020304" pitchFamily="18" charset="0"/>
                        </a:rPr>
                        <a:t>Appointment booking</a:t>
                      </a:r>
                    </a:p>
                  </a:txBody>
                  <a:tcPr/>
                </a:tc>
                <a:tc>
                  <a:txBody>
                    <a:bodyPr/>
                    <a:lstStyle/>
                    <a:p>
                      <a:r>
                        <a:rPr lang="en-IN" sz="900">
                          <a:latin typeface="Times New Roman" panose="02020603050405020304" pitchFamily="18" charset="0"/>
                        </a:rPr>
                        <a:t>Appointment saved with status</a:t>
                      </a: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2063479725"/>
                  </a:ext>
                </a:extLst>
              </a:tr>
              <a:tr h="542636">
                <a:tc>
                  <a:txBody>
                    <a:bodyPr/>
                    <a:lstStyle/>
                    <a:p>
                      <a:r>
                        <a:rPr lang="en-IN" sz="900">
                          <a:latin typeface="Times New Roman" panose="02020603050405020304" pitchFamily="18" charset="0"/>
                        </a:rPr>
                        <a:t>TC-05</a:t>
                      </a:r>
                    </a:p>
                  </a:txBody>
                  <a:tcPr/>
                </a:tc>
                <a:tc>
                  <a:txBody>
                    <a:bodyPr/>
                    <a:lstStyle/>
                    <a:p>
                      <a:r>
                        <a:rPr lang="en-IN" sz="900">
                          <a:latin typeface="Times New Roman" panose="02020603050405020304" pitchFamily="18" charset="0"/>
                        </a:rPr>
                        <a:t>Search and filter</a:t>
                      </a:r>
                    </a:p>
                  </a:txBody>
                  <a:tcPr/>
                </a:tc>
                <a:tc>
                  <a:txBody>
                    <a:bodyPr/>
                    <a:lstStyle/>
                    <a:p>
                      <a:r>
                        <a:rPr lang="en-IN" sz="900">
                          <a:latin typeface="Times New Roman" panose="02020603050405020304" pitchFamily="18" charset="0"/>
                        </a:rPr>
                        <a:t>Matching records are returned</a:t>
                      </a: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1547101508"/>
                  </a:ext>
                </a:extLst>
              </a:tr>
              <a:tr h="542636">
                <a:tc>
                  <a:txBody>
                    <a:bodyPr/>
                    <a:lstStyle/>
                    <a:p>
                      <a:r>
                        <a:rPr lang="en-IN" sz="900">
                          <a:latin typeface="Times New Roman" panose="02020603050405020304" pitchFamily="18" charset="0"/>
                        </a:rPr>
                        <a:t>TC-06</a:t>
                      </a:r>
                    </a:p>
                  </a:txBody>
                  <a:tcPr/>
                </a:tc>
                <a:tc>
                  <a:txBody>
                    <a:bodyPr/>
                    <a:lstStyle/>
                    <a:p>
                      <a:r>
                        <a:rPr lang="en-IN" sz="900">
                          <a:latin typeface="Times New Roman" panose="02020603050405020304" pitchFamily="18" charset="0"/>
                        </a:rPr>
                        <a:t>Cart quantity merge</a:t>
                      </a:r>
                    </a:p>
                  </a:txBody>
                  <a:tcPr/>
                </a:tc>
                <a:tc>
                  <a:txBody>
                    <a:bodyPr/>
                    <a:lstStyle/>
                    <a:p>
                      <a:r>
                        <a:rPr lang="en-IN" sz="900">
                          <a:latin typeface="Times New Roman" panose="02020603050405020304" pitchFamily="18" charset="0"/>
                        </a:rPr>
                        <a:t>Same product increases quantity</a:t>
                      </a: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1457468349"/>
                  </a:ext>
                </a:extLst>
              </a:tr>
              <a:tr h="542636">
                <a:tc>
                  <a:txBody>
                    <a:bodyPr/>
                    <a:lstStyle/>
                    <a:p>
                      <a:r>
                        <a:rPr lang="en-IN" sz="900">
                          <a:latin typeface="Times New Roman" panose="02020603050405020304" pitchFamily="18" charset="0"/>
                        </a:rPr>
                        <a:t>TC-07</a:t>
                      </a:r>
                    </a:p>
                  </a:txBody>
                  <a:tcPr/>
                </a:tc>
                <a:tc>
                  <a:txBody>
                    <a:bodyPr/>
                    <a:lstStyle/>
                    <a:p>
                      <a:r>
                        <a:rPr lang="en-IN" sz="900">
                          <a:latin typeface="Times New Roman" panose="02020603050405020304" pitchFamily="18" charset="0"/>
                        </a:rPr>
                        <a:t>Order confirmation page</a:t>
                      </a:r>
                    </a:p>
                  </a:txBody>
                  <a:tcPr/>
                </a:tc>
                <a:tc>
                  <a:txBody>
                    <a:bodyPr/>
                    <a:lstStyle/>
                    <a:p>
                      <a:r>
                        <a:rPr lang="en-US" sz="900">
                          <a:latin typeface="Times New Roman" panose="02020603050405020304" pitchFamily="18" charset="0"/>
                        </a:rPr>
                        <a:t>Total and confirmation view displayed</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1320911190"/>
                  </a:ext>
                </a:extLst>
              </a:tr>
              <a:tr h="542636">
                <a:tc>
                  <a:txBody>
                    <a:bodyPr/>
                    <a:lstStyle/>
                    <a:p>
                      <a:r>
                        <a:rPr lang="en-IN" sz="900">
                          <a:latin typeface="Times New Roman" panose="02020603050405020304" pitchFamily="18" charset="0"/>
                        </a:rPr>
                        <a:t>TC-08</a:t>
                      </a:r>
                    </a:p>
                  </a:txBody>
                  <a:tcPr/>
                </a:tc>
                <a:tc>
                  <a:txBody>
                    <a:bodyPr/>
                    <a:lstStyle/>
                    <a:p>
                      <a:r>
                        <a:rPr lang="en-IN" sz="900">
                          <a:latin typeface="Times New Roman" panose="02020603050405020304" pitchFamily="18" charset="0"/>
                        </a:rPr>
                        <a:t>Delivered order delete rule</a:t>
                      </a:r>
                    </a:p>
                  </a:txBody>
                  <a:tcPr/>
                </a:tc>
                <a:tc>
                  <a:txBody>
                    <a:bodyPr/>
                    <a:lstStyle/>
                    <a:p>
                      <a:r>
                        <a:rPr lang="en-US" sz="900">
                          <a:latin typeface="Times New Roman" panose="02020603050405020304" pitchFamily="18" charset="0"/>
                        </a:rPr>
                        <a:t>Only delivered orders are removable</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2199843269"/>
                  </a:ext>
                </a:extLst>
              </a:tr>
              <a:tr h="542636">
                <a:tc>
                  <a:txBody>
                    <a:bodyPr/>
                    <a:lstStyle/>
                    <a:p>
                      <a:r>
                        <a:rPr lang="en-IN" sz="900">
                          <a:latin typeface="Times New Roman" panose="02020603050405020304" pitchFamily="18" charset="0"/>
                        </a:rPr>
                        <a:t>TC-09</a:t>
                      </a:r>
                    </a:p>
                  </a:txBody>
                  <a:tcPr/>
                </a:tc>
                <a:tc>
                  <a:txBody>
                    <a:bodyPr/>
                    <a:lstStyle/>
                    <a:p>
                      <a:r>
                        <a:rPr lang="en-IN" sz="900">
                          <a:latin typeface="Times New Roman" panose="02020603050405020304" pitchFamily="18" charset="0"/>
                        </a:rPr>
                        <a:t>File upload</a:t>
                      </a:r>
                    </a:p>
                  </a:txBody>
                  <a:tcPr/>
                </a:tc>
                <a:tc>
                  <a:txBody>
                    <a:bodyPr/>
                    <a:lstStyle/>
                    <a:p>
                      <a:r>
                        <a:rPr lang="en-US" sz="900">
                          <a:latin typeface="Times New Roman" panose="02020603050405020304" pitchFamily="18" charset="0"/>
                        </a:rPr>
                        <a:t>File path returned and stored</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2613518789"/>
                  </a:ext>
                </a:extLst>
              </a:tr>
              <a:tr h="542636">
                <a:tc>
                  <a:txBody>
                    <a:bodyPr/>
                    <a:lstStyle/>
                    <a:p>
                      <a:r>
                        <a:rPr lang="en-IN" sz="900">
                          <a:latin typeface="Times New Roman" panose="02020603050405020304" pitchFamily="18" charset="0"/>
                        </a:rPr>
                        <a:t>TC-10</a:t>
                      </a:r>
                    </a:p>
                  </a:txBody>
                  <a:tcPr/>
                </a:tc>
                <a:tc>
                  <a:txBody>
                    <a:bodyPr/>
                    <a:lstStyle/>
                    <a:p>
                      <a:r>
                        <a:rPr lang="en-IN" sz="900">
                          <a:latin typeface="Times New Roman" panose="02020603050405020304" pitchFamily="18" charset="0"/>
                        </a:rPr>
                        <a:t>Chat and notifications</a:t>
                      </a:r>
                    </a:p>
                  </a:txBody>
                  <a:tcPr/>
                </a:tc>
                <a:tc>
                  <a:txBody>
                    <a:bodyPr/>
                    <a:lstStyle/>
                    <a:p>
                      <a:r>
                        <a:rPr lang="en-US" sz="900">
                          <a:latin typeface="Times New Roman" panose="02020603050405020304" pitchFamily="18" charset="0"/>
                        </a:rPr>
                        <a:t>Messages and alerts are delivered</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Pass</a:t>
                      </a:r>
                    </a:p>
                  </a:txBody>
                  <a:tcPr/>
                </a:tc>
                <a:extLst>
                  <a:ext uri="{0D108BD9-81ED-4DB2-BD59-A6C34878D82A}">
                    <a16:rowId xmlns:a16="http://schemas.microsoft.com/office/drawing/2014/main" val="2071785234"/>
                  </a:ext>
                </a:extLst>
              </a:tr>
            </a:tbl>
          </a:graphicData>
        </a:graphic>
      </p:graphicFrame>
      <p:sp>
        <p:nvSpPr>
          <p:cNvPr id="6" name="TextBox 5">
            <a:extLst>
              <a:ext uri="{FF2B5EF4-FFF2-40B4-BE49-F238E27FC236}">
                <a16:creationId xmlns:a16="http://schemas.microsoft.com/office/drawing/2014/main" id="{E40607B3-1EFB-01F4-B716-A932E64B39AA}"/>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9. Representative system test cases executed during validation.</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28976636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3BFFD8-F475-E958-6814-3586A0C2C163}"/>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7B. OUTPUT RESULTS AND MODULE-WISE OUTCOMES</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DBF01A35-4F82-AA0E-A8BB-38B90758BB9C}"/>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026458E-C527-3100-FB3B-3B278C9924DB}"/>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58</a:t>
            </a:r>
          </a:p>
        </p:txBody>
      </p:sp>
      <p:sp>
        <p:nvSpPr>
          <p:cNvPr id="5" name="TextBox 4">
            <a:extLst>
              <a:ext uri="{FF2B5EF4-FFF2-40B4-BE49-F238E27FC236}">
                <a16:creationId xmlns:a16="http://schemas.microsoft.com/office/drawing/2014/main" id="{2CED7940-759D-3042-5663-C4F2DDDED46B}"/>
              </a:ext>
            </a:extLst>
          </p:cNvPr>
          <p:cNvSpPr txBox="1"/>
          <p:nvPr/>
        </p:nvSpPr>
        <p:spPr>
          <a:xfrm>
            <a:off x="762000" y="1841500"/>
            <a:ext cx="6223000" cy="3007618"/>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Authentication output: secure login, token issue, and OTP verification response.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Admin output: patient creation and appointment administration through dashboard controls.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Patient output: access to appointments, uploads, cart, order history, chat, and AI doctor support.</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Order output: a separate confirmation page displays order placed message, total amount, items, and continue buying action.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Chat output: live message updates arrive without page refresh through Socket.IO.</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Notification output: users receive system alerts for order and appointment changes.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UI output: improved visual layout with section cards, hero area, cleaner forms, and clearer navigation.</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FB1478F4-54EF-E56C-9B86-B880FEE3C3B6}"/>
              </a:ext>
            </a:extLst>
          </p:cNvPr>
          <p:cNvSpPr txBox="1"/>
          <p:nvPr/>
        </p:nvSpPr>
        <p:spPr>
          <a:xfrm>
            <a:off x="584200" y="8255000"/>
            <a:ext cx="6388100" cy="525337"/>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Taken together, these results demonstrate that the application satisfies the required feature set in a coordinated manner rather than as disconnected demos.</a:t>
            </a:r>
            <a:endParaRPr lang="en-IN" sz="11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7127460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E14628-E53C-B714-23E5-8AB4C14D41E6}"/>
              </a:ext>
            </a:extLst>
          </p:cNvPr>
          <p:cNvSpPr txBox="1"/>
          <p:nvPr/>
        </p:nvSpPr>
        <p:spPr>
          <a:xfrm>
            <a:off x="584200" y="431800"/>
            <a:ext cx="6388100" cy="584775"/>
          </a:xfrm>
          <a:prstGeom prst="rect">
            <a:avLst/>
          </a:prstGeom>
          <a:noFill/>
        </p:spPr>
        <p:txBody>
          <a:bodyPr vert="horz" rtlCol="0">
            <a:spAutoFit/>
          </a:bodyPr>
          <a:lstStyle/>
          <a:p>
            <a:r>
              <a:rPr lang="en-US" sz="1600" b="1">
                <a:solidFill>
                  <a:srgbClr val="0C0428"/>
                </a:solidFill>
                <a:latin typeface="Times New Roman" panose="02020603050405020304" pitchFamily="18" charset="0"/>
              </a:rPr>
              <a:t>7C. PERFORMANCE METRICS AND EXPECTED VS ACTUAL COMPARISON</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19B8AEA6-9410-6902-EECD-2A2A1E2A813E}"/>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F3137D4-E1FF-A5BA-8E3A-09691920FD2E}"/>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59</a:t>
            </a:r>
          </a:p>
        </p:txBody>
      </p:sp>
      <p:graphicFrame>
        <p:nvGraphicFramePr>
          <p:cNvPr id="5" name="Table 4">
            <a:extLst>
              <a:ext uri="{FF2B5EF4-FFF2-40B4-BE49-F238E27FC236}">
                <a16:creationId xmlns:a16="http://schemas.microsoft.com/office/drawing/2014/main" id="{67E5E12E-DB08-6141-13E3-0E908B8C68B8}"/>
              </a:ext>
            </a:extLst>
          </p:cNvPr>
          <p:cNvGraphicFramePr>
            <a:graphicFrameLocks noGrp="1"/>
          </p:cNvGraphicFramePr>
          <p:nvPr>
            <p:extLst>
              <p:ext uri="{D42A27DB-BD31-4B8C-83A1-F6EECF244321}">
                <p14:modId xmlns:p14="http://schemas.microsoft.com/office/powerpoint/2010/main" val="2171552027"/>
              </p:ext>
            </p:extLst>
          </p:nvPr>
        </p:nvGraphicFramePr>
        <p:xfrm>
          <a:off x="584199" y="1778000"/>
          <a:ext cx="6388100" cy="3429000"/>
        </p:xfrm>
        <a:graphic>
          <a:graphicData uri="http://schemas.openxmlformats.org/drawingml/2006/table">
            <a:tbl>
              <a:tblPr firstRow="1" bandRow="1">
                <a:tableStyleId>{5C22544A-7EE6-4342-B048-85BDC9FD1C3A}</a:tableStyleId>
              </a:tblPr>
              <a:tblGrid>
                <a:gridCol w="2129367">
                  <a:extLst>
                    <a:ext uri="{9D8B030D-6E8A-4147-A177-3AD203B41FA5}">
                      <a16:colId xmlns:a16="http://schemas.microsoft.com/office/drawing/2014/main" val="1469689211"/>
                    </a:ext>
                  </a:extLst>
                </a:gridCol>
                <a:gridCol w="2129367">
                  <a:extLst>
                    <a:ext uri="{9D8B030D-6E8A-4147-A177-3AD203B41FA5}">
                      <a16:colId xmlns:a16="http://schemas.microsoft.com/office/drawing/2014/main" val="3764487113"/>
                    </a:ext>
                  </a:extLst>
                </a:gridCol>
                <a:gridCol w="2129367">
                  <a:extLst>
                    <a:ext uri="{9D8B030D-6E8A-4147-A177-3AD203B41FA5}">
                      <a16:colId xmlns:a16="http://schemas.microsoft.com/office/drawing/2014/main" val="3064009921"/>
                    </a:ext>
                  </a:extLst>
                </a:gridCol>
              </a:tblGrid>
              <a:tr h="571500">
                <a:tc>
                  <a:txBody>
                    <a:bodyPr/>
                    <a:lstStyle/>
                    <a:p>
                      <a:r>
                        <a:rPr lang="en-IN" sz="1000" b="1">
                          <a:latin typeface="Times New Roman" panose="02020603050405020304" pitchFamily="18" charset="0"/>
                        </a:rPr>
                        <a:t>Metric</a:t>
                      </a:r>
                    </a:p>
                  </a:txBody>
                  <a:tcPr>
                    <a:solidFill>
                      <a:srgbClr val="E9E9E9"/>
                    </a:solidFill>
                  </a:tcPr>
                </a:tc>
                <a:tc>
                  <a:txBody>
                    <a:bodyPr/>
                    <a:lstStyle/>
                    <a:p>
                      <a:r>
                        <a:rPr lang="en-IN" sz="1000" b="1">
                          <a:latin typeface="Times New Roman" panose="02020603050405020304" pitchFamily="18" charset="0"/>
                        </a:rPr>
                        <a:t>Expected</a:t>
                      </a:r>
                    </a:p>
                  </a:txBody>
                  <a:tcPr>
                    <a:solidFill>
                      <a:srgbClr val="E9E9E9"/>
                    </a:solidFill>
                  </a:tcPr>
                </a:tc>
                <a:tc>
                  <a:txBody>
                    <a:bodyPr/>
                    <a:lstStyle/>
                    <a:p>
                      <a:r>
                        <a:rPr lang="en-IN" sz="1000" b="1">
                          <a:latin typeface="Times New Roman" panose="02020603050405020304" pitchFamily="18" charset="0"/>
                        </a:rPr>
                        <a:t>Observed in Local Demo</a:t>
                      </a:r>
                    </a:p>
                  </a:txBody>
                  <a:tcPr>
                    <a:solidFill>
                      <a:srgbClr val="E9E9E9"/>
                    </a:solidFill>
                  </a:tcPr>
                </a:tc>
                <a:extLst>
                  <a:ext uri="{0D108BD9-81ED-4DB2-BD59-A6C34878D82A}">
                    <a16:rowId xmlns:a16="http://schemas.microsoft.com/office/drawing/2014/main" val="3808940047"/>
                  </a:ext>
                </a:extLst>
              </a:tr>
              <a:tr h="571500">
                <a:tc>
                  <a:txBody>
                    <a:bodyPr/>
                    <a:lstStyle/>
                    <a:p>
                      <a:r>
                        <a:rPr lang="en-IN" sz="900">
                          <a:latin typeface="Times New Roman" panose="02020603050405020304" pitchFamily="18" charset="0"/>
                        </a:rPr>
                        <a:t>Login flow</a:t>
                      </a:r>
                    </a:p>
                  </a:txBody>
                  <a:tcPr/>
                </a:tc>
                <a:tc>
                  <a:txBody>
                    <a:bodyPr/>
                    <a:lstStyle/>
                    <a:p>
                      <a:r>
                        <a:rPr lang="en-IN" sz="900">
                          <a:latin typeface="Times New Roman" panose="02020603050405020304" pitchFamily="18" charset="0"/>
                        </a:rPr>
                        <a:t>Secure session creation</a:t>
                      </a:r>
                    </a:p>
                  </a:txBody>
                  <a:tcPr/>
                </a:tc>
                <a:tc>
                  <a:txBody>
                    <a:bodyPr/>
                    <a:lstStyle/>
                    <a:p>
                      <a:r>
                        <a:rPr lang="en-US" sz="900">
                          <a:latin typeface="Times New Roman" panose="02020603050405020304" pitchFamily="18" charset="0"/>
                        </a:rPr>
                        <a:t>Successful with token and route protection</a:t>
                      </a:r>
                      <a:endParaRPr lang="en-IN" sz="900">
                        <a:latin typeface="Times New Roman" panose="02020603050405020304" pitchFamily="18" charset="0"/>
                      </a:endParaRPr>
                    </a:p>
                  </a:txBody>
                  <a:tcPr/>
                </a:tc>
                <a:extLst>
                  <a:ext uri="{0D108BD9-81ED-4DB2-BD59-A6C34878D82A}">
                    <a16:rowId xmlns:a16="http://schemas.microsoft.com/office/drawing/2014/main" val="1672457601"/>
                  </a:ext>
                </a:extLst>
              </a:tr>
              <a:tr h="571500">
                <a:tc>
                  <a:txBody>
                    <a:bodyPr/>
                    <a:lstStyle/>
                    <a:p>
                      <a:r>
                        <a:rPr lang="en-IN" sz="900">
                          <a:latin typeface="Times New Roman" panose="02020603050405020304" pitchFamily="18" charset="0"/>
                        </a:rPr>
                        <a:t>Search behavior</a:t>
                      </a:r>
                    </a:p>
                  </a:txBody>
                  <a:tcPr/>
                </a:tc>
                <a:tc>
                  <a:txBody>
                    <a:bodyPr/>
                    <a:lstStyle/>
                    <a:p>
                      <a:r>
                        <a:rPr lang="en-IN" sz="900">
                          <a:latin typeface="Times New Roman" panose="02020603050405020304" pitchFamily="18" charset="0"/>
                        </a:rPr>
                        <a:t>Fast record filtering</a:t>
                      </a:r>
                    </a:p>
                  </a:txBody>
                  <a:tcPr/>
                </a:tc>
                <a:tc>
                  <a:txBody>
                    <a:bodyPr/>
                    <a:lstStyle/>
                    <a:p>
                      <a:r>
                        <a:rPr lang="en-IN" sz="900">
                          <a:latin typeface="Times New Roman" panose="02020603050405020304" pitchFamily="18" charset="0"/>
                        </a:rPr>
                        <a:t>Near-instant on seeded dataset</a:t>
                      </a:r>
                    </a:p>
                  </a:txBody>
                  <a:tcPr/>
                </a:tc>
                <a:extLst>
                  <a:ext uri="{0D108BD9-81ED-4DB2-BD59-A6C34878D82A}">
                    <a16:rowId xmlns:a16="http://schemas.microsoft.com/office/drawing/2014/main" val="1625098537"/>
                  </a:ext>
                </a:extLst>
              </a:tr>
              <a:tr h="571500">
                <a:tc>
                  <a:txBody>
                    <a:bodyPr/>
                    <a:lstStyle/>
                    <a:p>
                      <a:r>
                        <a:rPr lang="en-IN" sz="900">
                          <a:latin typeface="Times New Roman" panose="02020603050405020304" pitchFamily="18" charset="0"/>
                        </a:rPr>
                        <a:t>Chat latency</a:t>
                      </a:r>
                    </a:p>
                  </a:txBody>
                  <a:tcPr/>
                </a:tc>
                <a:tc>
                  <a:txBody>
                    <a:bodyPr/>
                    <a:lstStyle/>
                    <a:p>
                      <a:r>
                        <a:rPr lang="en-IN" sz="900">
                          <a:latin typeface="Times New Roman" panose="02020603050405020304" pitchFamily="18" charset="0"/>
                        </a:rPr>
                        <a:t>Real-time delivery</a:t>
                      </a:r>
                    </a:p>
                  </a:txBody>
                  <a:tcPr/>
                </a:tc>
                <a:tc>
                  <a:txBody>
                    <a:bodyPr/>
                    <a:lstStyle/>
                    <a:p>
                      <a:r>
                        <a:rPr lang="en-IN" sz="900">
                          <a:latin typeface="Times New Roman" panose="02020603050405020304" pitchFamily="18" charset="0"/>
                        </a:rPr>
                        <a:t>Immediate in local environment</a:t>
                      </a:r>
                    </a:p>
                  </a:txBody>
                  <a:tcPr/>
                </a:tc>
                <a:extLst>
                  <a:ext uri="{0D108BD9-81ED-4DB2-BD59-A6C34878D82A}">
                    <a16:rowId xmlns:a16="http://schemas.microsoft.com/office/drawing/2014/main" val="830424947"/>
                  </a:ext>
                </a:extLst>
              </a:tr>
              <a:tr h="571500">
                <a:tc>
                  <a:txBody>
                    <a:bodyPr/>
                    <a:lstStyle/>
                    <a:p>
                      <a:r>
                        <a:rPr lang="en-IN" sz="900">
                          <a:latin typeface="Times New Roman" panose="02020603050405020304" pitchFamily="18" charset="0"/>
                        </a:rPr>
                        <a:t>Order workflow</a:t>
                      </a:r>
                    </a:p>
                  </a:txBody>
                  <a:tcPr/>
                </a:tc>
                <a:tc>
                  <a:txBody>
                    <a:bodyPr/>
                    <a:lstStyle/>
                    <a:p>
                      <a:r>
                        <a:rPr lang="en-IN" sz="900">
                          <a:latin typeface="Times New Roman" panose="02020603050405020304" pitchFamily="18" charset="0"/>
                        </a:rPr>
                        <a:t>Cart to confirmation transition</a:t>
                      </a:r>
                    </a:p>
                  </a:txBody>
                  <a:tcPr/>
                </a:tc>
                <a:tc>
                  <a:txBody>
                    <a:bodyPr/>
                    <a:lstStyle/>
                    <a:p>
                      <a:r>
                        <a:rPr lang="en-US" sz="900">
                          <a:latin typeface="Times New Roman" panose="02020603050405020304" pitchFamily="18" charset="0"/>
                        </a:rPr>
                        <a:t>Completed correctly with total calculation</a:t>
                      </a:r>
                      <a:endParaRPr lang="en-IN" sz="900">
                        <a:latin typeface="Times New Roman" panose="02020603050405020304" pitchFamily="18" charset="0"/>
                      </a:endParaRPr>
                    </a:p>
                  </a:txBody>
                  <a:tcPr/>
                </a:tc>
                <a:extLst>
                  <a:ext uri="{0D108BD9-81ED-4DB2-BD59-A6C34878D82A}">
                    <a16:rowId xmlns:a16="http://schemas.microsoft.com/office/drawing/2014/main" val="1281322571"/>
                  </a:ext>
                </a:extLst>
              </a:tr>
              <a:tr h="571500">
                <a:tc>
                  <a:txBody>
                    <a:bodyPr/>
                    <a:lstStyle/>
                    <a:p>
                      <a:r>
                        <a:rPr lang="en-IN" sz="900">
                          <a:latin typeface="Times New Roman" panose="02020603050405020304" pitchFamily="18" charset="0"/>
                        </a:rPr>
                        <a:t>Notification workflow</a:t>
                      </a:r>
                    </a:p>
                  </a:txBody>
                  <a:tcPr/>
                </a:tc>
                <a:tc>
                  <a:txBody>
                    <a:bodyPr/>
                    <a:lstStyle/>
                    <a:p>
                      <a:r>
                        <a:rPr lang="en-IN" sz="900">
                          <a:latin typeface="Times New Roman" panose="02020603050405020304" pitchFamily="18" charset="0"/>
                        </a:rPr>
                        <a:t>Automatic alert generation</a:t>
                      </a:r>
                    </a:p>
                  </a:txBody>
                  <a:tcPr/>
                </a:tc>
                <a:tc>
                  <a:txBody>
                    <a:bodyPr/>
                    <a:lstStyle/>
                    <a:p>
                      <a:r>
                        <a:rPr lang="en-US" sz="900">
                          <a:latin typeface="Times New Roman" panose="02020603050405020304" pitchFamily="18" charset="0"/>
                        </a:rPr>
                        <a:t>Working for tested event triggers</a:t>
                      </a:r>
                      <a:endParaRPr lang="en-IN" sz="900">
                        <a:latin typeface="Times New Roman" panose="02020603050405020304" pitchFamily="18" charset="0"/>
                      </a:endParaRPr>
                    </a:p>
                  </a:txBody>
                  <a:tcPr/>
                </a:tc>
                <a:extLst>
                  <a:ext uri="{0D108BD9-81ED-4DB2-BD59-A6C34878D82A}">
                    <a16:rowId xmlns:a16="http://schemas.microsoft.com/office/drawing/2014/main" val="1760058100"/>
                  </a:ext>
                </a:extLst>
              </a:tr>
            </a:tbl>
          </a:graphicData>
        </a:graphic>
      </p:graphicFrame>
      <p:sp>
        <p:nvSpPr>
          <p:cNvPr id="6" name="TextBox 5">
            <a:extLst>
              <a:ext uri="{FF2B5EF4-FFF2-40B4-BE49-F238E27FC236}">
                <a16:creationId xmlns:a16="http://schemas.microsoft.com/office/drawing/2014/main" id="{4CEB581C-AE0F-617B-703A-AA8F6390D8F8}"/>
              </a:ext>
            </a:extLst>
          </p:cNvPr>
          <p:cNvSpPr txBox="1"/>
          <p:nvPr/>
        </p:nvSpPr>
        <p:spPr>
          <a:xfrm>
            <a:off x="889000" y="5918200"/>
            <a:ext cx="1905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Authentication reliability</a:t>
            </a:r>
          </a:p>
        </p:txBody>
      </p:sp>
      <p:sp>
        <p:nvSpPr>
          <p:cNvPr id="7" name="Rectangle 6">
            <a:extLst>
              <a:ext uri="{FF2B5EF4-FFF2-40B4-BE49-F238E27FC236}">
                <a16:creationId xmlns:a16="http://schemas.microsoft.com/office/drawing/2014/main" id="{80EDE1E8-6485-EC01-5F36-9E6030796854}"/>
              </a:ext>
            </a:extLst>
          </p:cNvPr>
          <p:cNvSpPr/>
          <p:nvPr/>
        </p:nvSpPr>
        <p:spPr>
          <a:xfrm>
            <a:off x="2794000" y="5969000"/>
            <a:ext cx="2794000" cy="20320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A789D609-54AD-87DB-E46C-E7A8E0457F7E}"/>
              </a:ext>
            </a:extLst>
          </p:cNvPr>
          <p:cNvSpPr/>
          <p:nvPr/>
        </p:nvSpPr>
        <p:spPr>
          <a:xfrm>
            <a:off x="2794000" y="5969000"/>
            <a:ext cx="2654300" cy="2032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9AAE6E7-BDF6-9A27-AD71-AE8CC4DCA9CF}"/>
              </a:ext>
            </a:extLst>
          </p:cNvPr>
          <p:cNvSpPr txBox="1"/>
          <p:nvPr/>
        </p:nvSpPr>
        <p:spPr>
          <a:xfrm>
            <a:off x="5664200" y="5918200"/>
            <a:ext cx="508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95%</a:t>
            </a:r>
          </a:p>
        </p:txBody>
      </p:sp>
      <p:sp>
        <p:nvSpPr>
          <p:cNvPr id="10" name="TextBox 9">
            <a:extLst>
              <a:ext uri="{FF2B5EF4-FFF2-40B4-BE49-F238E27FC236}">
                <a16:creationId xmlns:a16="http://schemas.microsoft.com/office/drawing/2014/main" id="{FC4BBF67-919F-465E-4C34-3F0780846D10}"/>
              </a:ext>
            </a:extLst>
          </p:cNvPr>
          <p:cNvSpPr txBox="1"/>
          <p:nvPr/>
        </p:nvSpPr>
        <p:spPr>
          <a:xfrm>
            <a:off x="889000" y="6426200"/>
            <a:ext cx="1905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Appointment workflow success</a:t>
            </a:r>
          </a:p>
        </p:txBody>
      </p:sp>
      <p:sp>
        <p:nvSpPr>
          <p:cNvPr id="11" name="Rectangle 10">
            <a:extLst>
              <a:ext uri="{FF2B5EF4-FFF2-40B4-BE49-F238E27FC236}">
                <a16:creationId xmlns:a16="http://schemas.microsoft.com/office/drawing/2014/main" id="{1F46DE5A-83C0-A413-FF84-79D81B154186}"/>
              </a:ext>
            </a:extLst>
          </p:cNvPr>
          <p:cNvSpPr/>
          <p:nvPr/>
        </p:nvSpPr>
        <p:spPr>
          <a:xfrm>
            <a:off x="2794000" y="6477000"/>
            <a:ext cx="2794000" cy="20320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1369D7B-A02C-45DA-8D9E-1BABF40D5536}"/>
              </a:ext>
            </a:extLst>
          </p:cNvPr>
          <p:cNvSpPr/>
          <p:nvPr/>
        </p:nvSpPr>
        <p:spPr>
          <a:xfrm>
            <a:off x="2794000" y="6477000"/>
            <a:ext cx="2570480" cy="2032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A73C1F9-4CA1-7909-827D-5AC61C403D9A}"/>
              </a:ext>
            </a:extLst>
          </p:cNvPr>
          <p:cNvSpPr txBox="1"/>
          <p:nvPr/>
        </p:nvSpPr>
        <p:spPr>
          <a:xfrm>
            <a:off x="5664200" y="6426200"/>
            <a:ext cx="508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92%</a:t>
            </a:r>
          </a:p>
        </p:txBody>
      </p:sp>
      <p:sp>
        <p:nvSpPr>
          <p:cNvPr id="14" name="TextBox 13">
            <a:extLst>
              <a:ext uri="{FF2B5EF4-FFF2-40B4-BE49-F238E27FC236}">
                <a16:creationId xmlns:a16="http://schemas.microsoft.com/office/drawing/2014/main" id="{2B0A162C-BC85-684B-3E55-2DB90B9DC3B6}"/>
              </a:ext>
            </a:extLst>
          </p:cNvPr>
          <p:cNvSpPr txBox="1"/>
          <p:nvPr/>
        </p:nvSpPr>
        <p:spPr>
          <a:xfrm>
            <a:off x="889000" y="6934200"/>
            <a:ext cx="1905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Order workflow success</a:t>
            </a:r>
          </a:p>
        </p:txBody>
      </p:sp>
      <p:sp>
        <p:nvSpPr>
          <p:cNvPr id="15" name="Rectangle 14">
            <a:extLst>
              <a:ext uri="{FF2B5EF4-FFF2-40B4-BE49-F238E27FC236}">
                <a16:creationId xmlns:a16="http://schemas.microsoft.com/office/drawing/2014/main" id="{01F6684F-0C12-12B7-CB3E-2F1D9EFCD664}"/>
              </a:ext>
            </a:extLst>
          </p:cNvPr>
          <p:cNvSpPr/>
          <p:nvPr/>
        </p:nvSpPr>
        <p:spPr>
          <a:xfrm>
            <a:off x="2794000" y="6985000"/>
            <a:ext cx="2794000" cy="20320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8E2816FF-AF32-1564-45E3-BFD519BCF76C}"/>
              </a:ext>
            </a:extLst>
          </p:cNvPr>
          <p:cNvSpPr/>
          <p:nvPr/>
        </p:nvSpPr>
        <p:spPr>
          <a:xfrm>
            <a:off x="2794000" y="6985000"/>
            <a:ext cx="2626360" cy="2032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BA64CEEA-8FBD-040C-DAD0-20241D2CA4E5}"/>
              </a:ext>
            </a:extLst>
          </p:cNvPr>
          <p:cNvSpPr txBox="1"/>
          <p:nvPr/>
        </p:nvSpPr>
        <p:spPr>
          <a:xfrm>
            <a:off x="5664200" y="6934200"/>
            <a:ext cx="508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94%</a:t>
            </a:r>
          </a:p>
        </p:txBody>
      </p:sp>
      <p:sp>
        <p:nvSpPr>
          <p:cNvPr id="18" name="TextBox 17">
            <a:extLst>
              <a:ext uri="{FF2B5EF4-FFF2-40B4-BE49-F238E27FC236}">
                <a16:creationId xmlns:a16="http://schemas.microsoft.com/office/drawing/2014/main" id="{4D616A33-6806-34B2-E6D5-79170CA6589B}"/>
              </a:ext>
            </a:extLst>
          </p:cNvPr>
          <p:cNvSpPr txBox="1"/>
          <p:nvPr/>
        </p:nvSpPr>
        <p:spPr>
          <a:xfrm>
            <a:off x="889000" y="7442200"/>
            <a:ext cx="1905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Chat responsiveness</a:t>
            </a:r>
          </a:p>
        </p:txBody>
      </p:sp>
      <p:sp>
        <p:nvSpPr>
          <p:cNvPr id="19" name="Rectangle 18">
            <a:extLst>
              <a:ext uri="{FF2B5EF4-FFF2-40B4-BE49-F238E27FC236}">
                <a16:creationId xmlns:a16="http://schemas.microsoft.com/office/drawing/2014/main" id="{0B4EF154-C18B-9301-46AE-6A6A572C6026}"/>
              </a:ext>
            </a:extLst>
          </p:cNvPr>
          <p:cNvSpPr/>
          <p:nvPr/>
        </p:nvSpPr>
        <p:spPr>
          <a:xfrm>
            <a:off x="2794000" y="7493000"/>
            <a:ext cx="2794000" cy="20320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6619DA4D-B9E9-DDB7-4B0E-EC7D3C8F6FBD}"/>
              </a:ext>
            </a:extLst>
          </p:cNvPr>
          <p:cNvSpPr/>
          <p:nvPr/>
        </p:nvSpPr>
        <p:spPr>
          <a:xfrm>
            <a:off x="2794000" y="7493000"/>
            <a:ext cx="2682240" cy="2032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BD9226AA-5DEB-858A-C7FF-57B00691290B}"/>
              </a:ext>
            </a:extLst>
          </p:cNvPr>
          <p:cNvSpPr txBox="1"/>
          <p:nvPr/>
        </p:nvSpPr>
        <p:spPr>
          <a:xfrm>
            <a:off x="5664200" y="7442200"/>
            <a:ext cx="508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96%</a:t>
            </a:r>
          </a:p>
        </p:txBody>
      </p:sp>
      <p:sp>
        <p:nvSpPr>
          <p:cNvPr id="22" name="TextBox 21">
            <a:extLst>
              <a:ext uri="{FF2B5EF4-FFF2-40B4-BE49-F238E27FC236}">
                <a16:creationId xmlns:a16="http://schemas.microsoft.com/office/drawing/2014/main" id="{1694D43A-5DE8-C130-423C-3C488C95E3E4}"/>
              </a:ext>
            </a:extLst>
          </p:cNvPr>
          <p:cNvSpPr txBox="1"/>
          <p:nvPr/>
        </p:nvSpPr>
        <p:spPr>
          <a:xfrm>
            <a:off x="889000" y="7950200"/>
            <a:ext cx="1905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Notification consistency</a:t>
            </a:r>
          </a:p>
        </p:txBody>
      </p:sp>
      <p:sp>
        <p:nvSpPr>
          <p:cNvPr id="23" name="Rectangle 22">
            <a:extLst>
              <a:ext uri="{FF2B5EF4-FFF2-40B4-BE49-F238E27FC236}">
                <a16:creationId xmlns:a16="http://schemas.microsoft.com/office/drawing/2014/main" id="{DB07BB8A-C9E4-381D-030E-B4871BBF8428}"/>
              </a:ext>
            </a:extLst>
          </p:cNvPr>
          <p:cNvSpPr/>
          <p:nvPr/>
        </p:nvSpPr>
        <p:spPr>
          <a:xfrm>
            <a:off x="2794000" y="8001000"/>
            <a:ext cx="2794000" cy="20320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3E640723-F110-3C62-9B24-BACA45F554E6}"/>
              </a:ext>
            </a:extLst>
          </p:cNvPr>
          <p:cNvSpPr/>
          <p:nvPr/>
        </p:nvSpPr>
        <p:spPr>
          <a:xfrm>
            <a:off x="2794000" y="8001000"/>
            <a:ext cx="2514600" cy="2032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3D4EC81-0A50-6318-BFDC-629B3F51B6A9}"/>
              </a:ext>
            </a:extLst>
          </p:cNvPr>
          <p:cNvSpPr txBox="1"/>
          <p:nvPr/>
        </p:nvSpPr>
        <p:spPr>
          <a:xfrm>
            <a:off x="5664200" y="7950200"/>
            <a:ext cx="508000" cy="278218"/>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90%</a:t>
            </a:r>
          </a:p>
        </p:txBody>
      </p:sp>
      <p:sp>
        <p:nvSpPr>
          <p:cNvPr id="26" name="TextBox 25">
            <a:extLst>
              <a:ext uri="{FF2B5EF4-FFF2-40B4-BE49-F238E27FC236}">
                <a16:creationId xmlns:a16="http://schemas.microsoft.com/office/drawing/2014/main" id="{2D44770F-B3FA-417E-7306-4EC7D121A2B4}"/>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10. Expected versus actual comparison with representative local-demo metrics.</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386317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BFB975-143D-1015-BB47-F1798111DF90}"/>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7D. INTERPRETATION OF RESULTS</a:t>
            </a:r>
          </a:p>
        </p:txBody>
      </p:sp>
      <p:sp>
        <p:nvSpPr>
          <p:cNvPr id="3" name="Rectangle 2">
            <a:extLst>
              <a:ext uri="{FF2B5EF4-FFF2-40B4-BE49-F238E27FC236}">
                <a16:creationId xmlns:a16="http://schemas.microsoft.com/office/drawing/2014/main" id="{B9A82C09-A12D-771B-DB4D-05DD77E60173}"/>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0CBCC16-CAA9-FDF4-10EC-8D0D004CB4BF}"/>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60</a:t>
            </a:r>
          </a:p>
        </p:txBody>
      </p:sp>
      <p:sp>
        <p:nvSpPr>
          <p:cNvPr id="5" name="TextBox 4">
            <a:extLst>
              <a:ext uri="{FF2B5EF4-FFF2-40B4-BE49-F238E27FC236}">
                <a16:creationId xmlns:a16="http://schemas.microsoft.com/office/drawing/2014/main" id="{41015E48-7725-B20E-F9D5-463F64272839}"/>
              </a:ext>
            </a:extLst>
          </p:cNvPr>
          <p:cNvSpPr txBox="1"/>
          <p:nvPr/>
        </p:nvSpPr>
        <p:spPr>
          <a:xfrm>
            <a:off x="584200" y="1397000"/>
            <a:ext cx="6388100" cy="3614707"/>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observed results indicate that the system fulfills its prototype objectives effectively. The strongest outcomes are visible in integration and workflow continuity: patient data, appointments, uploads, orders, notifications, and communication are all handled from one interface. This is a significant improvement over fragmented manual processes.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cart logic and confirmation page enhance the order module by making it behave like a realistic transactional flow. Similarly, the delivered-order deletion rule introduces business logic that prevents premature data removal. The chat and notification modules improve coordination, while the AI doctor widget demonstrates how a future-facing feature can be introduced without disrupting the core architecture.</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Overall, the results suggest that the project is functionally successful, academically robust, and well-positioned for future expansion.</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7096180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F23D2D-C155-57EE-78AD-E52C97E4F8E7}"/>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CHAPTER 8: ADVANTAGES AND LIMITATIONS</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AB3109F3-1A98-0D35-678B-1D0364C70B46}"/>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96286D2-6526-6665-2104-59809A5E0F93}"/>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61</a:t>
            </a:r>
          </a:p>
        </p:txBody>
      </p:sp>
      <p:sp>
        <p:nvSpPr>
          <p:cNvPr id="5" name="TextBox 4">
            <a:extLst>
              <a:ext uri="{FF2B5EF4-FFF2-40B4-BE49-F238E27FC236}">
                <a16:creationId xmlns:a16="http://schemas.microsoft.com/office/drawing/2014/main" id="{F6C392D7-8DB6-06AE-CB1F-39DB8524AB7B}"/>
              </a:ext>
            </a:extLst>
          </p:cNvPr>
          <p:cNvSpPr txBox="1"/>
          <p:nvPr/>
        </p:nvSpPr>
        <p:spPr>
          <a:xfrm>
            <a:off x="584200" y="1397000"/>
            <a:ext cx="6388100" cy="1715726"/>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Every applied system has strengths and constraints. In this project, the advantages arise from integration, usability, and structured design, while the limitations mostly relate to prototype scope and the absence of advanced enterprise features.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Recognizing both aspects is important because it clarifies what the current project achieves and where future work should be directed.</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23506481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A53DF6-2031-A0B5-EC70-3295274F5910}"/>
              </a:ext>
            </a:extLst>
          </p:cNvPr>
          <p:cNvSpPr txBox="1"/>
          <p:nvPr/>
        </p:nvSpPr>
        <p:spPr>
          <a:xfrm>
            <a:off x="584200" y="431800"/>
            <a:ext cx="6388100" cy="338554"/>
          </a:xfrm>
          <a:prstGeom prst="rect">
            <a:avLst/>
          </a:prstGeom>
          <a:noFill/>
        </p:spPr>
        <p:txBody>
          <a:bodyPr vert="horz" rtlCol="0">
            <a:spAutoFit/>
          </a:bodyPr>
          <a:lstStyle/>
          <a:p>
            <a:r>
              <a:rPr lang="en-US" sz="1600" b="1">
                <a:solidFill>
                  <a:srgbClr val="0C0428"/>
                </a:solidFill>
                <a:latin typeface="Times New Roman" panose="02020603050405020304" pitchFamily="18" charset="0"/>
              </a:rPr>
              <a:t>8A. ADVANTAGES OF THE PROPOSED SYSTEM</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1CA972E8-F411-27AE-EE94-48A0B481516A}"/>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F712A1F-4927-E2E1-5740-D1D9FFFF2B74}"/>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62</a:t>
            </a:r>
          </a:p>
        </p:txBody>
      </p:sp>
      <p:sp>
        <p:nvSpPr>
          <p:cNvPr id="5" name="TextBox 4">
            <a:extLst>
              <a:ext uri="{FF2B5EF4-FFF2-40B4-BE49-F238E27FC236}">
                <a16:creationId xmlns:a16="http://schemas.microsoft.com/office/drawing/2014/main" id="{5BAD0C2D-C8F9-1305-2445-335BA676C8D8}"/>
              </a:ext>
            </a:extLst>
          </p:cNvPr>
          <p:cNvSpPr txBox="1"/>
          <p:nvPr/>
        </p:nvSpPr>
        <p:spPr>
          <a:xfrm>
            <a:off x="762000" y="1841500"/>
            <a:ext cx="6223000" cy="2857321"/>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Centralizes hospital records, appointments, orders, and communication into one platform.</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Reduces paperwork and lowers the chance of manual record loss or duplication.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Improves visibility of appointments and operational actions through structured dashboards.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Supports direct interaction between users through real-time chat and notifications.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Provides role-based access control and secure authentication practices.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Demonstrates maintainable full stack design using MERN and MVC.</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Adds practical usability features such as cart quantity management, order confirmation, and document upload.</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Creates a foundation for advanced extensions such as telemedicine and AI-based support.</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8030360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8EE6B8-3A1A-DD63-7AF5-5287ECC89640}"/>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8B. LIMITATIONS AND CONSTRAINTS</a:t>
            </a:r>
          </a:p>
        </p:txBody>
      </p:sp>
      <p:sp>
        <p:nvSpPr>
          <p:cNvPr id="3" name="Rectangle 2">
            <a:extLst>
              <a:ext uri="{FF2B5EF4-FFF2-40B4-BE49-F238E27FC236}">
                <a16:creationId xmlns:a16="http://schemas.microsoft.com/office/drawing/2014/main" id="{B8E0AB1D-51A8-D31B-7719-DC3091215824}"/>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28FA929-FE41-9B10-A387-2063D77423B4}"/>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63</a:t>
            </a:r>
          </a:p>
        </p:txBody>
      </p:sp>
      <p:sp>
        <p:nvSpPr>
          <p:cNvPr id="5" name="TextBox 4">
            <a:extLst>
              <a:ext uri="{FF2B5EF4-FFF2-40B4-BE49-F238E27FC236}">
                <a16:creationId xmlns:a16="http://schemas.microsoft.com/office/drawing/2014/main" id="{71A2BD50-E86B-5F3D-F43D-03AE8D712024}"/>
              </a:ext>
            </a:extLst>
          </p:cNvPr>
          <p:cNvSpPr txBox="1"/>
          <p:nvPr/>
        </p:nvSpPr>
        <p:spPr>
          <a:xfrm>
            <a:off x="762000" y="1841500"/>
            <a:ext cx="6223000" cy="2677784"/>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Online payment gateways are not fully integrated; the current order flow uses COD only.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Uploaded files are stored locally rather than in cloud storage.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UI is improved but still intentionally simple for academic clarity rather than enterprise polish.</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The AI doctor assistant provides informational guidance and not a clinical diagnosis.</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Video consultation, wearable device linkage, and advanced analytics are not implemented in the current version.</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Testing is based on local prototype execution and seeded dummy data rather than production deployment.</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23E018F3-AF2E-E746-38A0-C1DE02B8898A}"/>
              </a:ext>
            </a:extLst>
          </p:cNvPr>
          <p:cNvSpPr txBox="1"/>
          <p:nvPr/>
        </p:nvSpPr>
        <p:spPr>
          <a:xfrm>
            <a:off x="584200" y="7810500"/>
            <a:ext cx="6388100" cy="525337"/>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These limitations do not reduce the academic validity of the project; instead, they define the boundary of the current prototype and identify the areas most suitable for future enhancement.</a:t>
            </a:r>
            <a:endParaRPr lang="en-IN" sz="11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13399002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EC30BA-5236-0142-B6CD-F022767172F4}"/>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CHAPTER 9: CONCLUSION</a:t>
            </a:r>
          </a:p>
        </p:txBody>
      </p:sp>
      <p:sp>
        <p:nvSpPr>
          <p:cNvPr id="3" name="Rectangle 2">
            <a:extLst>
              <a:ext uri="{FF2B5EF4-FFF2-40B4-BE49-F238E27FC236}">
                <a16:creationId xmlns:a16="http://schemas.microsoft.com/office/drawing/2014/main" id="{D6714BA6-D860-36E3-F247-E747CFBD4B8E}"/>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BF8A97B-7F57-9906-E422-FDC6E91428E3}"/>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64</a:t>
            </a:r>
          </a:p>
        </p:txBody>
      </p:sp>
      <p:sp>
        <p:nvSpPr>
          <p:cNvPr id="5" name="TextBox 4">
            <a:extLst>
              <a:ext uri="{FF2B5EF4-FFF2-40B4-BE49-F238E27FC236}">
                <a16:creationId xmlns:a16="http://schemas.microsoft.com/office/drawing/2014/main" id="{1C01969E-00A2-6E5E-30A7-85EDD3AC8BB0}"/>
              </a:ext>
            </a:extLst>
          </p:cNvPr>
          <p:cNvSpPr txBox="1"/>
          <p:nvPr/>
        </p:nvSpPr>
        <p:spPr>
          <a:xfrm>
            <a:off x="584200" y="1397000"/>
            <a:ext cx="6388100" cy="3614707"/>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The Smart Hospital Management System successfully addresses the problem of manual hospital record management by providing a centralized, role-based, and full stack digital solution. The project demonstrates how MERN technologies can be combined with MVC architecture to implement a secure and modular application for hospital operations.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The final system includes authentication, OTP verification, admin CRUD operations, patient and appointment management, report uploads, order processing with cart and COD, real-time chat, notifications, map integration, and an AI doctor assistant. Each of these modules contributes to a more connected and user-friendly workflow than the existing manual system.</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From an academic perspective, the project satisfies the major requirements of analysis, design, implementation, testing, and discussion. From a practical perspective, it establishes a strong prototype that can be further expanded into a more complete hospital management ecosystem.</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0474969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2F44AC-2089-B76F-BA53-13B9FDD69587}"/>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CHAPTER 10: FUTURE SCOPE</a:t>
            </a:r>
          </a:p>
        </p:txBody>
      </p:sp>
      <p:sp>
        <p:nvSpPr>
          <p:cNvPr id="3" name="Rectangle 2">
            <a:extLst>
              <a:ext uri="{FF2B5EF4-FFF2-40B4-BE49-F238E27FC236}">
                <a16:creationId xmlns:a16="http://schemas.microsoft.com/office/drawing/2014/main" id="{4E3A8C92-D072-4C8D-2F50-622B8ABDB78C}"/>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2571B44-C205-A724-49D2-F35AF9E8F9B2}"/>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65</a:t>
            </a:r>
          </a:p>
        </p:txBody>
      </p:sp>
      <p:graphicFrame>
        <p:nvGraphicFramePr>
          <p:cNvPr id="5" name="Table 4">
            <a:extLst>
              <a:ext uri="{FF2B5EF4-FFF2-40B4-BE49-F238E27FC236}">
                <a16:creationId xmlns:a16="http://schemas.microsoft.com/office/drawing/2014/main" id="{E1F38145-338C-D233-100D-FADACDB03499}"/>
              </a:ext>
            </a:extLst>
          </p:cNvPr>
          <p:cNvGraphicFramePr>
            <a:graphicFrameLocks noGrp="1"/>
          </p:cNvGraphicFramePr>
          <p:nvPr>
            <p:extLst>
              <p:ext uri="{D42A27DB-BD31-4B8C-83A1-F6EECF244321}">
                <p14:modId xmlns:p14="http://schemas.microsoft.com/office/powerpoint/2010/main" val="1143406478"/>
              </p:ext>
            </p:extLst>
          </p:nvPr>
        </p:nvGraphicFramePr>
        <p:xfrm>
          <a:off x="584199" y="1841500"/>
          <a:ext cx="6388100" cy="4953000"/>
        </p:xfrm>
        <a:graphic>
          <a:graphicData uri="http://schemas.openxmlformats.org/drawingml/2006/table">
            <a:tbl>
              <a:tblPr firstRow="1" bandRow="1">
                <a:tableStyleId>{5C22544A-7EE6-4342-B048-85BDC9FD1C3A}</a:tableStyleId>
              </a:tblPr>
              <a:tblGrid>
                <a:gridCol w="2129367">
                  <a:extLst>
                    <a:ext uri="{9D8B030D-6E8A-4147-A177-3AD203B41FA5}">
                      <a16:colId xmlns:a16="http://schemas.microsoft.com/office/drawing/2014/main" val="938909777"/>
                    </a:ext>
                  </a:extLst>
                </a:gridCol>
                <a:gridCol w="2129367">
                  <a:extLst>
                    <a:ext uri="{9D8B030D-6E8A-4147-A177-3AD203B41FA5}">
                      <a16:colId xmlns:a16="http://schemas.microsoft.com/office/drawing/2014/main" val="3074592628"/>
                    </a:ext>
                  </a:extLst>
                </a:gridCol>
                <a:gridCol w="2129367">
                  <a:extLst>
                    <a:ext uri="{9D8B030D-6E8A-4147-A177-3AD203B41FA5}">
                      <a16:colId xmlns:a16="http://schemas.microsoft.com/office/drawing/2014/main" val="816230148"/>
                    </a:ext>
                  </a:extLst>
                </a:gridCol>
              </a:tblGrid>
              <a:tr h="707571">
                <a:tc>
                  <a:txBody>
                    <a:bodyPr/>
                    <a:lstStyle/>
                    <a:p>
                      <a:r>
                        <a:rPr lang="en-IN" sz="1000" b="1">
                          <a:latin typeface="Times New Roman" panose="02020603050405020304" pitchFamily="18" charset="0"/>
                        </a:rPr>
                        <a:t>Enhancement Area</a:t>
                      </a:r>
                    </a:p>
                  </a:txBody>
                  <a:tcPr>
                    <a:solidFill>
                      <a:srgbClr val="E9E9E9"/>
                    </a:solidFill>
                  </a:tcPr>
                </a:tc>
                <a:tc>
                  <a:txBody>
                    <a:bodyPr/>
                    <a:lstStyle/>
                    <a:p>
                      <a:r>
                        <a:rPr lang="en-IN" sz="1000" b="1">
                          <a:latin typeface="Times New Roman" panose="02020603050405020304" pitchFamily="18" charset="0"/>
                        </a:rPr>
                        <a:t>Possible Extension</a:t>
                      </a:r>
                    </a:p>
                  </a:txBody>
                  <a:tcPr>
                    <a:solidFill>
                      <a:srgbClr val="E9E9E9"/>
                    </a:solidFill>
                  </a:tcPr>
                </a:tc>
                <a:tc>
                  <a:txBody>
                    <a:bodyPr/>
                    <a:lstStyle/>
                    <a:p>
                      <a:r>
                        <a:rPr lang="en-IN" sz="1000" b="1">
                          <a:latin typeface="Times New Roman" panose="02020603050405020304" pitchFamily="18" charset="0"/>
                        </a:rPr>
                        <a:t>Expected Benefit</a:t>
                      </a:r>
                    </a:p>
                  </a:txBody>
                  <a:tcPr>
                    <a:solidFill>
                      <a:srgbClr val="E9E9E9"/>
                    </a:solidFill>
                  </a:tcPr>
                </a:tc>
                <a:extLst>
                  <a:ext uri="{0D108BD9-81ED-4DB2-BD59-A6C34878D82A}">
                    <a16:rowId xmlns:a16="http://schemas.microsoft.com/office/drawing/2014/main" val="2578018860"/>
                  </a:ext>
                </a:extLst>
              </a:tr>
              <a:tr h="707571">
                <a:tc>
                  <a:txBody>
                    <a:bodyPr/>
                    <a:lstStyle/>
                    <a:p>
                      <a:r>
                        <a:rPr lang="en-IN" sz="900">
                          <a:latin typeface="Times New Roman" panose="02020603050405020304" pitchFamily="18" charset="0"/>
                        </a:rPr>
                        <a:t>Telemedicine</a:t>
                      </a:r>
                    </a:p>
                  </a:txBody>
                  <a:tcPr/>
                </a:tc>
                <a:tc>
                  <a:txBody>
                    <a:bodyPr/>
                    <a:lstStyle/>
                    <a:p>
                      <a:r>
                        <a:rPr lang="en-US" sz="900">
                          <a:latin typeface="Times New Roman" panose="02020603050405020304" pitchFamily="18" charset="0"/>
                        </a:rPr>
                        <a:t>Video consultation and remote follow-up</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Improved accessibility for patients</a:t>
                      </a:r>
                    </a:p>
                  </a:txBody>
                  <a:tcPr/>
                </a:tc>
                <a:extLst>
                  <a:ext uri="{0D108BD9-81ED-4DB2-BD59-A6C34878D82A}">
                    <a16:rowId xmlns:a16="http://schemas.microsoft.com/office/drawing/2014/main" val="2680051417"/>
                  </a:ext>
                </a:extLst>
              </a:tr>
              <a:tr h="707571">
                <a:tc>
                  <a:txBody>
                    <a:bodyPr/>
                    <a:lstStyle/>
                    <a:p>
                      <a:r>
                        <a:rPr lang="en-IN" sz="900">
                          <a:latin typeface="Times New Roman" panose="02020603050405020304" pitchFamily="18" charset="0"/>
                        </a:rPr>
                        <a:t>Wearable Integration</a:t>
                      </a:r>
                    </a:p>
                  </a:txBody>
                  <a:tcPr/>
                </a:tc>
                <a:tc>
                  <a:txBody>
                    <a:bodyPr/>
                    <a:lstStyle/>
                    <a:p>
                      <a:r>
                        <a:rPr lang="en-US" sz="900">
                          <a:latin typeface="Times New Roman" panose="02020603050405020304" pitchFamily="18" charset="0"/>
                        </a:rPr>
                        <a:t>Vital sign tracking through health devices</a:t>
                      </a:r>
                      <a:endParaRPr lang="en-IN" sz="900">
                        <a:latin typeface="Times New Roman" panose="02020603050405020304" pitchFamily="18" charset="0"/>
                      </a:endParaRPr>
                    </a:p>
                  </a:txBody>
                  <a:tcPr/>
                </a:tc>
                <a:tc>
                  <a:txBody>
                    <a:bodyPr/>
                    <a:lstStyle/>
                    <a:p>
                      <a:r>
                        <a:rPr lang="en-US" sz="900">
                          <a:latin typeface="Times New Roman" panose="02020603050405020304" pitchFamily="18" charset="0"/>
                        </a:rPr>
                        <a:t>Continuous monitoring and richer data</a:t>
                      </a:r>
                      <a:endParaRPr lang="en-IN" sz="900">
                        <a:latin typeface="Times New Roman" panose="02020603050405020304" pitchFamily="18" charset="0"/>
                      </a:endParaRPr>
                    </a:p>
                  </a:txBody>
                  <a:tcPr/>
                </a:tc>
                <a:extLst>
                  <a:ext uri="{0D108BD9-81ED-4DB2-BD59-A6C34878D82A}">
                    <a16:rowId xmlns:a16="http://schemas.microsoft.com/office/drawing/2014/main" val="1884912777"/>
                  </a:ext>
                </a:extLst>
              </a:tr>
              <a:tr h="707571">
                <a:tc>
                  <a:txBody>
                    <a:bodyPr/>
                    <a:lstStyle/>
                    <a:p>
                      <a:r>
                        <a:rPr lang="en-IN" sz="900">
                          <a:latin typeface="Times New Roman" panose="02020603050405020304" pitchFamily="18" charset="0"/>
                        </a:rPr>
                        <a:t>Payments</a:t>
                      </a:r>
                    </a:p>
                  </a:txBody>
                  <a:tcPr/>
                </a:tc>
                <a:tc>
                  <a:txBody>
                    <a:bodyPr/>
                    <a:lstStyle/>
                    <a:p>
                      <a:r>
                        <a:rPr lang="en-IN" sz="900">
                          <a:latin typeface="Times New Roman" panose="02020603050405020304" pitchFamily="18" charset="0"/>
                        </a:rPr>
                        <a:t>UPI or gateway integration</a:t>
                      </a:r>
                    </a:p>
                  </a:txBody>
                  <a:tcPr/>
                </a:tc>
                <a:tc>
                  <a:txBody>
                    <a:bodyPr/>
                    <a:lstStyle/>
                    <a:p>
                      <a:r>
                        <a:rPr lang="en-IN" sz="900">
                          <a:latin typeface="Times New Roman" panose="02020603050405020304" pitchFamily="18" charset="0"/>
                        </a:rPr>
                        <a:t>Complete digital billing experience</a:t>
                      </a:r>
                    </a:p>
                  </a:txBody>
                  <a:tcPr/>
                </a:tc>
                <a:extLst>
                  <a:ext uri="{0D108BD9-81ED-4DB2-BD59-A6C34878D82A}">
                    <a16:rowId xmlns:a16="http://schemas.microsoft.com/office/drawing/2014/main" val="3187598914"/>
                  </a:ext>
                </a:extLst>
              </a:tr>
              <a:tr h="707571">
                <a:tc>
                  <a:txBody>
                    <a:bodyPr/>
                    <a:lstStyle/>
                    <a:p>
                      <a:r>
                        <a:rPr lang="en-IN" sz="900">
                          <a:latin typeface="Times New Roman" panose="02020603050405020304" pitchFamily="18" charset="0"/>
                        </a:rPr>
                        <a:t>Cloud Storage</a:t>
                      </a:r>
                    </a:p>
                  </a:txBody>
                  <a:tcPr/>
                </a:tc>
                <a:tc>
                  <a:txBody>
                    <a:bodyPr/>
                    <a:lstStyle/>
                    <a:p>
                      <a:r>
                        <a:rPr lang="en-IN" sz="900">
                          <a:latin typeface="Times New Roman" panose="02020603050405020304" pitchFamily="18" charset="0"/>
                        </a:rPr>
                        <a:t>Document storage on cloud platforms</a:t>
                      </a:r>
                    </a:p>
                  </a:txBody>
                  <a:tcPr/>
                </a:tc>
                <a:tc>
                  <a:txBody>
                    <a:bodyPr/>
                    <a:lstStyle/>
                    <a:p>
                      <a:r>
                        <a:rPr lang="en-US" sz="900">
                          <a:latin typeface="Times New Roman" panose="02020603050405020304" pitchFamily="18" charset="0"/>
                        </a:rPr>
                        <a:t>Scalable and secure report handling</a:t>
                      </a:r>
                      <a:endParaRPr lang="en-IN" sz="900">
                        <a:latin typeface="Times New Roman" panose="02020603050405020304" pitchFamily="18" charset="0"/>
                      </a:endParaRPr>
                    </a:p>
                  </a:txBody>
                  <a:tcPr/>
                </a:tc>
                <a:extLst>
                  <a:ext uri="{0D108BD9-81ED-4DB2-BD59-A6C34878D82A}">
                    <a16:rowId xmlns:a16="http://schemas.microsoft.com/office/drawing/2014/main" val="2556804355"/>
                  </a:ext>
                </a:extLst>
              </a:tr>
              <a:tr h="707571">
                <a:tc>
                  <a:txBody>
                    <a:bodyPr/>
                    <a:lstStyle/>
                    <a:p>
                      <a:r>
                        <a:rPr lang="en-IN" sz="900">
                          <a:latin typeface="Times New Roman" panose="02020603050405020304" pitchFamily="18" charset="0"/>
                        </a:rPr>
                        <a:t>Analytics</a:t>
                      </a:r>
                    </a:p>
                  </a:txBody>
                  <a:tcPr/>
                </a:tc>
                <a:tc>
                  <a:txBody>
                    <a:bodyPr/>
                    <a:lstStyle/>
                    <a:p>
                      <a:r>
                        <a:rPr lang="en-US" sz="900">
                          <a:latin typeface="Times New Roman" panose="02020603050405020304" pitchFamily="18" charset="0"/>
                        </a:rPr>
                        <a:t>Charts and trend reports for admin</a:t>
                      </a:r>
                      <a:endParaRPr lang="en-IN" sz="900">
                        <a:latin typeface="Times New Roman" panose="02020603050405020304" pitchFamily="18" charset="0"/>
                      </a:endParaRPr>
                    </a:p>
                  </a:txBody>
                  <a:tcPr/>
                </a:tc>
                <a:tc>
                  <a:txBody>
                    <a:bodyPr/>
                    <a:lstStyle/>
                    <a:p>
                      <a:r>
                        <a:rPr lang="en-IN" sz="900">
                          <a:latin typeface="Times New Roman" panose="02020603050405020304" pitchFamily="18" charset="0"/>
                        </a:rPr>
                        <a:t>Operational decision support</a:t>
                      </a:r>
                    </a:p>
                  </a:txBody>
                  <a:tcPr/>
                </a:tc>
                <a:extLst>
                  <a:ext uri="{0D108BD9-81ED-4DB2-BD59-A6C34878D82A}">
                    <a16:rowId xmlns:a16="http://schemas.microsoft.com/office/drawing/2014/main" val="6457025"/>
                  </a:ext>
                </a:extLst>
              </a:tr>
              <a:tr h="707571">
                <a:tc>
                  <a:txBody>
                    <a:bodyPr/>
                    <a:lstStyle/>
                    <a:p>
                      <a:r>
                        <a:rPr lang="en-IN" sz="900">
                          <a:latin typeface="Times New Roman" panose="02020603050405020304" pitchFamily="18" charset="0"/>
                        </a:rPr>
                        <a:t>Mobile App</a:t>
                      </a:r>
                    </a:p>
                  </a:txBody>
                  <a:tcPr/>
                </a:tc>
                <a:tc>
                  <a:txBody>
                    <a:bodyPr/>
                    <a:lstStyle/>
                    <a:p>
                      <a:r>
                        <a:rPr lang="en-IN" sz="900">
                          <a:latin typeface="Times New Roman" panose="02020603050405020304" pitchFamily="18" charset="0"/>
                        </a:rPr>
                        <a:t>React Native companion application</a:t>
                      </a:r>
                    </a:p>
                  </a:txBody>
                  <a:tcPr/>
                </a:tc>
                <a:tc>
                  <a:txBody>
                    <a:bodyPr/>
                    <a:lstStyle/>
                    <a:p>
                      <a:r>
                        <a:rPr lang="en-IN" sz="900">
                          <a:latin typeface="Times New Roman" panose="02020603050405020304" pitchFamily="18" charset="0"/>
                        </a:rPr>
                        <a:t>Broader access across devices</a:t>
                      </a:r>
                    </a:p>
                  </a:txBody>
                  <a:tcPr/>
                </a:tc>
                <a:extLst>
                  <a:ext uri="{0D108BD9-81ED-4DB2-BD59-A6C34878D82A}">
                    <a16:rowId xmlns:a16="http://schemas.microsoft.com/office/drawing/2014/main" val="4116946446"/>
                  </a:ext>
                </a:extLst>
              </a:tr>
            </a:tbl>
          </a:graphicData>
        </a:graphic>
      </p:graphicFrame>
      <p:sp>
        <p:nvSpPr>
          <p:cNvPr id="6" name="TextBox 5">
            <a:extLst>
              <a:ext uri="{FF2B5EF4-FFF2-40B4-BE49-F238E27FC236}">
                <a16:creationId xmlns:a16="http://schemas.microsoft.com/office/drawing/2014/main" id="{D38E19F7-203D-E9C8-25C9-E2B3A8224AF1}"/>
              </a:ext>
            </a:extLst>
          </p:cNvPr>
          <p:cNvSpPr txBox="1"/>
          <p:nvPr/>
        </p:nvSpPr>
        <p:spPr>
          <a:xfrm>
            <a:off x="584200" y="7429500"/>
            <a:ext cx="6388100" cy="753861"/>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Future work may also include multilingual support, prescription PDF generation, doctor shift planning, and richer AI-assisted triage workflows. Because the current codebase is modular, these enhancements can be added progressively without requiring a complete redesign.</a:t>
            </a:r>
            <a:endParaRPr lang="en-IN" sz="1100">
              <a:solidFill>
                <a:srgbClr val="30241E"/>
              </a:solidFill>
              <a:latin typeface="Times New Roman" panose="02020603050405020304" pitchFamily="18" charset="0"/>
            </a:endParaRPr>
          </a:p>
        </p:txBody>
      </p:sp>
      <p:sp>
        <p:nvSpPr>
          <p:cNvPr id="7" name="TextBox 6">
            <a:extLst>
              <a:ext uri="{FF2B5EF4-FFF2-40B4-BE49-F238E27FC236}">
                <a16:creationId xmlns:a16="http://schemas.microsoft.com/office/drawing/2014/main" id="{92B67801-2B3A-350C-11F1-47B75A2C0B03}"/>
              </a:ext>
            </a:extLst>
          </p:cNvPr>
          <p:cNvSpPr txBox="1"/>
          <p:nvPr/>
        </p:nvSpPr>
        <p:spPr>
          <a:xfrm>
            <a:off x="762000" y="9575800"/>
            <a:ext cx="5969000" cy="278218"/>
          </a:xfrm>
          <a:prstGeom prst="rect">
            <a:avLst/>
          </a:prstGeom>
          <a:noFill/>
        </p:spPr>
        <p:txBody>
          <a:bodyPr vert="horz" wrap="square" rtlCol="0">
            <a:spAutoFit/>
          </a:bodyPr>
          <a:lstStyle/>
          <a:p>
            <a:pPr algn="ctr">
              <a:lnSpc>
                <a:spcPct val="135000"/>
              </a:lnSpc>
              <a:spcAft>
                <a:spcPts val="600"/>
              </a:spcAft>
            </a:pPr>
            <a:r>
              <a:rPr lang="en-US" sz="1000" i="1">
                <a:solidFill>
                  <a:srgbClr val="696969"/>
                </a:solidFill>
                <a:latin typeface="Times New Roman" panose="02020603050405020304" pitchFamily="18" charset="0"/>
              </a:rPr>
              <a:t>Table 11. Future enhancement roadmap for the proposed system.</a:t>
            </a:r>
            <a:endParaRPr lang="en-IN" sz="1000" i="1">
              <a:solidFill>
                <a:srgbClr val="696969"/>
              </a:solidFill>
              <a:latin typeface="Times New Roman" panose="02020603050405020304" pitchFamily="18" charset="0"/>
            </a:endParaRPr>
          </a:p>
        </p:txBody>
      </p:sp>
    </p:spTree>
    <p:extLst>
      <p:ext uri="{BB962C8B-B14F-4D97-AF65-F5344CB8AC3E}">
        <p14:creationId xmlns:p14="http://schemas.microsoft.com/office/powerpoint/2010/main" val="13645931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8EDEB8-D63B-DFDD-3B60-34CDAAE7D6F4}"/>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REFERENCES</a:t>
            </a:r>
          </a:p>
        </p:txBody>
      </p:sp>
      <p:sp>
        <p:nvSpPr>
          <p:cNvPr id="3" name="Rectangle 2">
            <a:extLst>
              <a:ext uri="{FF2B5EF4-FFF2-40B4-BE49-F238E27FC236}">
                <a16:creationId xmlns:a16="http://schemas.microsoft.com/office/drawing/2014/main" id="{07985612-68D6-1E39-76F9-511CB47EFA30}"/>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7CDC812-6D1D-7EC8-B0E0-5483CA4C474D}"/>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66</a:t>
            </a:r>
          </a:p>
        </p:txBody>
      </p:sp>
      <p:sp>
        <p:nvSpPr>
          <p:cNvPr id="5" name="TextBox 4">
            <a:extLst>
              <a:ext uri="{FF2B5EF4-FFF2-40B4-BE49-F238E27FC236}">
                <a16:creationId xmlns:a16="http://schemas.microsoft.com/office/drawing/2014/main" id="{C559A0B6-B75F-5803-F433-985B9937F121}"/>
              </a:ext>
            </a:extLst>
          </p:cNvPr>
          <p:cNvSpPr txBox="1"/>
          <p:nvPr/>
        </p:nvSpPr>
        <p:spPr>
          <a:xfrm>
            <a:off x="660400" y="1587500"/>
            <a:ext cx="6223000" cy="4163897"/>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[1] A. R. Bakker and J. L. Mol, ""Hospital information systems,"" Eff Health Care, vol. 1, no. 4, pp. 215-223, 1983.</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[2] P. L. Reichertz, ""Hospital information systems - past, present, future,"" Int J Med Inform, vol. 75, no. 3-4, pp. 282-299, 2006.</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[3] C. A. Bain and C. Standing, ""A technology ecosystem perspective on hospital management information systems: lessons from the health literature,"" Int J Electron Healthc, vol. 5, no. 2, pp. 193-210, 2009.</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[4] J. Sligo, R. Gauld, V. Roberts, and L. Villa, ""A literature review for large-scale health information system project planning, implementation and evaluation,"" Int J Med Inform, vol. 97, pp. 86-97, 2017.</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[5] P. W. Handayani, A. N. Hidayanto, and I. Budi, ""User acceptance factors of hospital information systems and related technologies: Systematic review,"" Inform Health Soc Care, vol. 43, no. 4, pp. 401-426, 2018.</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[6] M. Khalifa and O. Alswailem, ""Hospital information systems (HIS) acceptance and satisfaction: a case study of a tertiary care hospital,"" Procedia Comput Sci, vol. 63, pp. 198-204, 2015.</a:t>
            </a:r>
          </a:p>
        </p:txBody>
      </p:sp>
    </p:spTree>
    <p:extLst>
      <p:ext uri="{BB962C8B-B14F-4D97-AF65-F5344CB8AC3E}">
        <p14:creationId xmlns:p14="http://schemas.microsoft.com/office/powerpoint/2010/main" val="28072248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4299E1-9C5A-31C9-9E67-495ACC88C561}"/>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REFERENCES (CONTINUED)</a:t>
            </a:r>
          </a:p>
        </p:txBody>
      </p:sp>
      <p:sp>
        <p:nvSpPr>
          <p:cNvPr id="3" name="Rectangle 2">
            <a:extLst>
              <a:ext uri="{FF2B5EF4-FFF2-40B4-BE49-F238E27FC236}">
                <a16:creationId xmlns:a16="http://schemas.microsoft.com/office/drawing/2014/main" id="{55317781-FE56-106F-2CE6-6944D4DF9AB1}"/>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AD5E778-B6B9-8DC6-01EA-FE2DFF912B84}"/>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67</a:t>
            </a:r>
          </a:p>
        </p:txBody>
      </p:sp>
      <p:sp>
        <p:nvSpPr>
          <p:cNvPr id="5" name="TextBox 4">
            <a:extLst>
              <a:ext uri="{FF2B5EF4-FFF2-40B4-BE49-F238E27FC236}">
                <a16:creationId xmlns:a16="http://schemas.microsoft.com/office/drawing/2014/main" id="{EE2CB612-EA52-DA4F-0047-DFDCA9651B97}"/>
              </a:ext>
            </a:extLst>
          </p:cNvPr>
          <p:cNvSpPr txBox="1"/>
          <p:nvPr/>
        </p:nvSpPr>
        <p:spPr>
          <a:xfrm>
            <a:off x="660400" y="1587500"/>
            <a:ext cx="6223000" cy="5872057"/>
          </a:xfrm>
          <a:prstGeom prst="rect">
            <a:avLst/>
          </a:prstGeom>
          <a:noFill/>
        </p:spPr>
        <p:txBody>
          <a:bodyPr vert="horz" wrap="square" rtlCol="0">
            <a:spAutoFit/>
          </a:bodyPr>
          <a:lstStyle/>
          <a:p>
            <a:pPr>
              <a:lnSpc>
                <a:spcPct val="135000"/>
              </a:lnSpc>
              <a:spcAft>
                <a:spcPts val="600"/>
              </a:spcAft>
            </a:pPr>
            <a:r>
              <a:rPr lang="en-IN" sz="1000">
                <a:solidFill>
                  <a:srgbClr val="30241E"/>
                </a:solidFill>
                <a:latin typeface="Times New Roman" panose="02020603050405020304" pitchFamily="18" charset="0"/>
              </a:rPr>
              <a:t>[7] J. S. McCullough, ""The adoption of hospital information systems,"" Health Econ, vol. 17, no. 5, pp. 649-664, 2008.</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[8] MongoDB, ""MongoDB Documentation."" [Online]. Available: https://www.mongodb.com/docs/ . [Accessed: Apr. 18, 2026].</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[9] Express.js, ""Express Documentation."" [Online]. Available: https://expressjs.com/ . [Accessed: Apr. 18, 2026].</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[10] React, ""React Documentation."" [Online]. Available: https://react.dev/ . [Accessed: Apr. 18, 2026].</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[11] Node.js, ""Node.js Documentation."" [Online]. Available: https://nodejs.org/en/docs . [Accessed: Apr. 18, 2026].</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[12] Socket.IO, ""Socket.IO Documentation."" [Online]. Available: https://socket.io/docs/v4/ . [Accessed: Apr. 18, 2026].</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[13] Mongoose, ""Mongoose Documentation."" [Online]. Available: https://mongoosejs.com/docs/ . [Accessed: Apr. 18, 2026].</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[14] IETF, ""RFC 7519: JSON Web Token (JWT)."" [Online]. Available: https://datatracker.ietf.org/doc/html/rfc7519 . [Accessed: Apr. 18, 2026].</a:t>
            </a:r>
          </a:p>
          <a:p>
            <a:pPr>
              <a:lnSpc>
                <a:spcPct val="135000"/>
              </a:lnSpc>
              <a:spcAft>
                <a:spcPts val="600"/>
              </a:spcAft>
            </a:pPr>
            <a:endParaRPr lang="en-IN" sz="1000">
              <a:solidFill>
                <a:srgbClr val="30241E"/>
              </a:solidFill>
              <a:latin typeface="Times New Roman" panose="02020603050405020304" pitchFamily="18" charset="0"/>
            </a:endParaRPr>
          </a:p>
          <a:p>
            <a:pPr>
              <a:lnSpc>
                <a:spcPct val="135000"/>
              </a:lnSpc>
              <a:spcAft>
                <a:spcPts val="600"/>
              </a:spcAft>
            </a:pPr>
            <a:r>
              <a:rPr lang="en-IN" sz="1000">
                <a:solidFill>
                  <a:srgbClr val="30241E"/>
                </a:solidFill>
                <a:latin typeface="Times New Roman" panose="02020603050405020304" pitchFamily="18" charset="0"/>
              </a:rPr>
              <a:t>[15] Leaflet, ""Leaflet Documentation."" [Online]. Available: https://leafletjs.com/ . [Accessed: Apr. 18, 2026].</a:t>
            </a:r>
          </a:p>
        </p:txBody>
      </p:sp>
    </p:spTree>
    <p:extLst>
      <p:ext uri="{BB962C8B-B14F-4D97-AF65-F5344CB8AC3E}">
        <p14:creationId xmlns:p14="http://schemas.microsoft.com/office/powerpoint/2010/main" val="17923519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24110F-574E-AE72-5535-64CF5EC1968E}"/>
              </a:ext>
            </a:extLst>
          </p:cNvPr>
          <p:cNvSpPr txBox="1"/>
          <p:nvPr/>
        </p:nvSpPr>
        <p:spPr>
          <a:xfrm>
            <a:off x="584200" y="431800"/>
            <a:ext cx="6388100" cy="338554"/>
          </a:xfrm>
          <a:prstGeom prst="rect">
            <a:avLst/>
          </a:prstGeom>
          <a:noFill/>
        </p:spPr>
        <p:txBody>
          <a:bodyPr vert="horz" rtlCol="0">
            <a:spAutoFit/>
          </a:bodyPr>
          <a:lstStyle/>
          <a:p>
            <a:r>
              <a:rPr lang="fr-FR" sz="1600" b="1">
                <a:solidFill>
                  <a:srgbClr val="0C0428"/>
                </a:solidFill>
                <a:latin typeface="Times New Roman" panose="02020603050405020304" pitchFamily="18" charset="0"/>
              </a:rPr>
              <a:t>APPENDIX A: SAMPLE API ENDPOINTS</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8EA6C1FD-63ED-4FD3-88D7-B9F7547AC23D}"/>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9976705-14C4-93B9-BC8C-6179EB66364B}"/>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68</a:t>
            </a:r>
          </a:p>
        </p:txBody>
      </p:sp>
      <p:sp>
        <p:nvSpPr>
          <p:cNvPr id="5" name="TextBox 4">
            <a:extLst>
              <a:ext uri="{FF2B5EF4-FFF2-40B4-BE49-F238E27FC236}">
                <a16:creationId xmlns:a16="http://schemas.microsoft.com/office/drawing/2014/main" id="{D12FEF79-A32C-496A-3095-D3A7990B6EAA}"/>
              </a:ext>
            </a:extLst>
          </p:cNvPr>
          <p:cNvSpPr txBox="1"/>
          <p:nvPr/>
        </p:nvSpPr>
        <p:spPr>
          <a:xfrm>
            <a:off x="762000" y="1587500"/>
            <a:ext cx="5969000" cy="5184304"/>
          </a:xfrm>
          <a:prstGeom prst="rect">
            <a:avLst/>
          </a:prstGeom>
          <a:noFill/>
        </p:spPr>
        <p:txBody>
          <a:bodyPr vert="horz" wrap="square" rtlCol="0">
            <a:spAutoFit/>
          </a:bodyPr>
          <a:lstStyle/>
          <a:p>
            <a:pPr>
              <a:lnSpc>
                <a:spcPct val="135000"/>
              </a:lnSpc>
              <a:spcAft>
                <a:spcPts val="600"/>
              </a:spcAft>
            </a:pPr>
            <a:r>
              <a:rPr lang="en-IN" sz="1100">
                <a:solidFill>
                  <a:srgbClr val="30241E"/>
                </a:solidFill>
                <a:latin typeface="Times New Roman" panose="02020603050405020304" pitchFamily="18" charset="0"/>
              </a:rPr>
              <a:t>POST   /api/auth/register            Create a new user account</a:t>
            </a:r>
          </a:p>
          <a:p>
            <a:pPr>
              <a:lnSpc>
                <a:spcPct val="135000"/>
              </a:lnSpc>
              <a:spcAft>
                <a:spcPts val="600"/>
              </a:spcAft>
            </a:pPr>
            <a:r>
              <a:rPr lang="en-IN" sz="1100">
                <a:solidFill>
                  <a:srgbClr val="30241E"/>
                </a:solidFill>
                <a:latin typeface="Times New Roman" panose="02020603050405020304" pitchFamily="18" charset="0"/>
              </a:rPr>
              <a:t>POST   /api/auth/login               Authenticate and issue JWT</a:t>
            </a:r>
          </a:p>
          <a:p>
            <a:pPr>
              <a:lnSpc>
                <a:spcPct val="135000"/>
              </a:lnSpc>
              <a:spcAft>
                <a:spcPts val="600"/>
              </a:spcAft>
            </a:pPr>
            <a:r>
              <a:rPr lang="en-IN" sz="1100">
                <a:solidFill>
                  <a:srgbClr val="30241E"/>
                </a:solidFill>
                <a:latin typeface="Times New Roman" panose="02020603050405020304" pitchFamily="18" charset="0"/>
              </a:rPr>
              <a:t>POST   /api/auth/send-otp            Generate and send email OTP</a:t>
            </a:r>
          </a:p>
          <a:p>
            <a:pPr>
              <a:lnSpc>
                <a:spcPct val="135000"/>
              </a:lnSpc>
              <a:spcAft>
                <a:spcPts val="600"/>
              </a:spcAft>
            </a:pPr>
            <a:r>
              <a:rPr lang="en-IN" sz="1100">
                <a:solidFill>
                  <a:srgbClr val="30241E"/>
                </a:solidFill>
                <a:latin typeface="Times New Roman" panose="02020603050405020304" pitchFamily="18" charset="0"/>
              </a:rPr>
              <a:t>POST   /api/auth/verify-otp          Verify OTP and mark user verified</a:t>
            </a:r>
          </a:p>
          <a:p>
            <a:pPr>
              <a:lnSpc>
                <a:spcPct val="135000"/>
              </a:lnSpc>
              <a:spcAft>
                <a:spcPts val="600"/>
              </a:spcAft>
            </a:pPr>
            <a:r>
              <a:rPr lang="en-IN" sz="1100">
                <a:solidFill>
                  <a:srgbClr val="30241E"/>
                </a:solidFill>
                <a:latin typeface="Times New Roman" panose="02020603050405020304" pitchFamily="18" charset="0"/>
              </a:rPr>
              <a:t>GET    /api/patients                 Fetch patient records</a:t>
            </a:r>
          </a:p>
          <a:p>
            <a:pPr>
              <a:lnSpc>
                <a:spcPct val="135000"/>
              </a:lnSpc>
              <a:spcAft>
                <a:spcPts val="600"/>
              </a:spcAft>
            </a:pPr>
            <a:r>
              <a:rPr lang="en-IN" sz="1100">
                <a:solidFill>
                  <a:srgbClr val="30241E"/>
                </a:solidFill>
                <a:latin typeface="Times New Roman" panose="02020603050405020304" pitchFamily="18" charset="0"/>
              </a:rPr>
              <a:t>POST   /api/patients                 Create patient profile</a:t>
            </a:r>
          </a:p>
          <a:p>
            <a:pPr>
              <a:lnSpc>
                <a:spcPct val="135000"/>
              </a:lnSpc>
              <a:spcAft>
                <a:spcPts val="600"/>
              </a:spcAft>
            </a:pPr>
            <a:r>
              <a:rPr lang="en-IN" sz="1100">
                <a:solidFill>
                  <a:srgbClr val="30241E"/>
                </a:solidFill>
                <a:latin typeface="Times New Roman" panose="02020603050405020304" pitchFamily="18" charset="0"/>
              </a:rPr>
              <a:t>PUT    /api/patients/:id             Update patient information</a:t>
            </a:r>
          </a:p>
          <a:p>
            <a:pPr>
              <a:lnSpc>
                <a:spcPct val="135000"/>
              </a:lnSpc>
              <a:spcAft>
                <a:spcPts val="600"/>
              </a:spcAft>
            </a:pPr>
            <a:r>
              <a:rPr lang="en-IN" sz="1100">
                <a:solidFill>
                  <a:srgbClr val="30241E"/>
                </a:solidFill>
                <a:latin typeface="Times New Roman" panose="02020603050405020304" pitchFamily="18" charset="0"/>
              </a:rPr>
              <a:t>DELETE /api/patients/:id             Delete patient record</a:t>
            </a:r>
          </a:p>
          <a:p>
            <a:pPr>
              <a:lnSpc>
                <a:spcPct val="135000"/>
              </a:lnSpc>
              <a:spcAft>
                <a:spcPts val="600"/>
              </a:spcAft>
            </a:pPr>
            <a:r>
              <a:rPr lang="en-IN" sz="1100">
                <a:solidFill>
                  <a:srgbClr val="30241E"/>
                </a:solidFill>
                <a:latin typeface="Times New Roman" panose="02020603050405020304" pitchFamily="18" charset="0"/>
              </a:rPr>
              <a:t>POST   /api/appointments             Create appointment</a:t>
            </a:r>
          </a:p>
          <a:p>
            <a:pPr>
              <a:lnSpc>
                <a:spcPct val="135000"/>
              </a:lnSpc>
              <a:spcAft>
                <a:spcPts val="600"/>
              </a:spcAft>
            </a:pPr>
            <a:r>
              <a:rPr lang="en-IN" sz="1100">
                <a:solidFill>
                  <a:srgbClr val="30241E"/>
                </a:solidFill>
                <a:latin typeface="Times New Roman" panose="02020603050405020304" pitchFamily="18" charset="0"/>
              </a:rPr>
              <a:t>PUT    /api/appointments/:id/status  Update appointment status</a:t>
            </a:r>
          </a:p>
          <a:p>
            <a:pPr>
              <a:lnSpc>
                <a:spcPct val="135000"/>
              </a:lnSpc>
              <a:spcAft>
                <a:spcPts val="600"/>
              </a:spcAft>
            </a:pPr>
            <a:r>
              <a:rPr lang="en-IN" sz="1100">
                <a:solidFill>
                  <a:srgbClr val="30241E"/>
                </a:solidFill>
                <a:latin typeface="Times New Roman" panose="02020603050405020304" pitchFamily="18" charset="0"/>
              </a:rPr>
              <a:t>POST   /api/orders/cart              Add item to cart</a:t>
            </a:r>
          </a:p>
          <a:p>
            <a:pPr>
              <a:lnSpc>
                <a:spcPct val="135000"/>
              </a:lnSpc>
              <a:spcAft>
                <a:spcPts val="600"/>
              </a:spcAft>
            </a:pPr>
            <a:r>
              <a:rPr lang="en-IN" sz="1100">
                <a:solidFill>
                  <a:srgbClr val="30241E"/>
                </a:solidFill>
                <a:latin typeface="Times New Roman" panose="02020603050405020304" pitchFamily="18" charset="0"/>
              </a:rPr>
              <a:t>PATCH  /api/orders/cart/remove-one   Remove one quantity from cart</a:t>
            </a:r>
          </a:p>
          <a:p>
            <a:pPr>
              <a:lnSpc>
                <a:spcPct val="135000"/>
              </a:lnSpc>
              <a:spcAft>
                <a:spcPts val="600"/>
              </a:spcAft>
            </a:pPr>
            <a:r>
              <a:rPr lang="en-IN" sz="1100">
                <a:solidFill>
                  <a:srgbClr val="30241E"/>
                </a:solidFill>
                <a:latin typeface="Times New Roman" panose="02020603050405020304" pitchFamily="18" charset="0"/>
              </a:rPr>
              <a:t>POST   /api/orders/place             Place order with COD</a:t>
            </a:r>
          </a:p>
          <a:p>
            <a:pPr>
              <a:lnSpc>
                <a:spcPct val="135000"/>
              </a:lnSpc>
              <a:spcAft>
                <a:spcPts val="600"/>
              </a:spcAft>
            </a:pPr>
            <a:r>
              <a:rPr lang="en-IN" sz="1100">
                <a:solidFill>
                  <a:srgbClr val="30241E"/>
                </a:solidFill>
                <a:latin typeface="Times New Roman" panose="02020603050405020304" pitchFamily="18" charset="0"/>
              </a:rPr>
              <a:t>DELETE /api/orders/:id               Delete delivered order history entry</a:t>
            </a:r>
          </a:p>
          <a:p>
            <a:pPr>
              <a:lnSpc>
                <a:spcPct val="135000"/>
              </a:lnSpc>
              <a:spcAft>
                <a:spcPts val="600"/>
              </a:spcAft>
            </a:pPr>
            <a:r>
              <a:rPr lang="en-IN" sz="1100">
                <a:solidFill>
                  <a:srgbClr val="30241E"/>
                </a:solidFill>
                <a:latin typeface="Times New Roman" panose="02020603050405020304" pitchFamily="18" charset="0"/>
              </a:rPr>
              <a:t>POST   /api/upload                   Upload report file</a:t>
            </a:r>
          </a:p>
          <a:p>
            <a:pPr>
              <a:lnSpc>
                <a:spcPct val="135000"/>
              </a:lnSpc>
              <a:spcAft>
                <a:spcPts val="600"/>
              </a:spcAft>
            </a:pPr>
            <a:r>
              <a:rPr lang="en-IN" sz="1100">
                <a:solidFill>
                  <a:srgbClr val="30241E"/>
                </a:solidFill>
                <a:latin typeface="Times New Roman" panose="02020603050405020304" pitchFamily="18" charset="0"/>
              </a:rPr>
              <a:t>GET    /api/notifications            List notifications</a:t>
            </a:r>
          </a:p>
          <a:p>
            <a:pPr>
              <a:lnSpc>
                <a:spcPct val="135000"/>
              </a:lnSpc>
              <a:spcAft>
                <a:spcPts val="600"/>
              </a:spcAft>
            </a:pPr>
            <a:r>
              <a:rPr lang="en-IN" sz="1100">
                <a:solidFill>
                  <a:srgbClr val="30241E"/>
                </a:solidFill>
                <a:latin typeface="Times New Roman" panose="02020603050405020304" pitchFamily="18" charset="0"/>
              </a:rPr>
              <a:t>POST   /api/ai/doctor                Symptom prompt to AI doctor assistant</a:t>
            </a:r>
          </a:p>
        </p:txBody>
      </p:sp>
    </p:spTree>
    <p:extLst>
      <p:ext uri="{BB962C8B-B14F-4D97-AF65-F5344CB8AC3E}">
        <p14:creationId xmlns:p14="http://schemas.microsoft.com/office/powerpoint/2010/main" val="5529722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4BDC72-251F-C3D3-E89C-E53617E001BB}"/>
              </a:ext>
            </a:extLst>
          </p:cNvPr>
          <p:cNvSpPr txBox="1"/>
          <p:nvPr/>
        </p:nvSpPr>
        <p:spPr>
          <a:xfrm>
            <a:off x="584200" y="431800"/>
            <a:ext cx="6388100" cy="338554"/>
          </a:xfrm>
          <a:prstGeom prst="rect">
            <a:avLst/>
          </a:prstGeom>
          <a:noFill/>
        </p:spPr>
        <p:txBody>
          <a:bodyPr vert="horz" rtlCol="0">
            <a:spAutoFit/>
          </a:bodyPr>
          <a:lstStyle/>
          <a:p>
            <a:r>
              <a:rPr lang="en-IN" sz="1600" b="1">
                <a:solidFill>
                  <a:srgbClr val="0C0428"/>
                </a:solidFill>
                <a:latin typeface="Times New Roman" panose="02020603050405020304" pitchFamily="18" charset="0"/>
              </a:rPr>
              <a:t>APPENDIX B: DUMMY DATA SAMPLES</a:t>
            </a:r>
          </a:p>
        </p:txBody>
      </p:sp>
      <p:sp>
        <p:nvSpPr>
          <p:cNvPr id="3" name="Rectangle 2">
            <a:extLst>
              <a:ext uri="{FF2B5EF4-FFF2-40B4-BE49-F238E27FC236}">
                <a16:creationId xmlns:a16="http://schemas.microsoft.com/office/drawing/2014/main" id="{29BD2CC4-3E50-7C51-5546-D18671229441}"/>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F8038DD-B13E-0652-BB13-626879AEBC6B}"/>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69</a:t>
            </a:r>
          </a:p>
        </p:txBody>
      </p:sp>
      <p:sp>
        <p:nvSpPr>
          <p:cNvPr id="5" name="TextBox 4">
            <a:extLst>
              <a:ext uri="{FF2B5EF4-FFF2-40B4-BE49-F238E27FC236}">
                <a16:creationId xmlns:a16="http://schemas.microsoft.com/office/drawing/2014/main" id="{2150FBF7-2DAA-E54A-431A-E642D4AAD176}"/>
              </a:ext>
            </a:extLst>
          </p:cNvPr>
          <p:cNvSpPr txBox="1"/>
          <p:nvPr/>
        </p:nvSpPr>
        <p:spPr>
          <a:xfrm>
            <a:off x="584200" y="1397000"/>
            <a:ext cx="6388100" cy="3116109"/>
          </a:xfrm>
          <a:prstGeom prst="rect">
            <a:avLst/>
          </a:prstGeom>
          <a:noFill/>
        </p:spPr>
        <p:txBody>
          <a:bodyPr vert="horz" wrap="square" rtlCol="0">
            <a:spAutoFit/>
          </a:bodyPr>
          <a:lstStyle/>
          <a:p>
            <a:pPr algn="just">
              <a:lnSpc>
                <a:spcPct val="135000"/>
              </a:lnSpc>
              <a:spcAft>
                <a:spcPts val="600"/>
              </a:spcAft>
            </a:pPr>
            <a:r>
              <a:rPr lang="en-US" sz="1200">
                <a:solidFill>
                  <a:srgbClr val="30241E"/>
                </a:solidFill>
                <a:latin typeface="Times New Roman" panose="02020603050405020304" pitchFamily="18" charset="0"/>
              </a:rPr>
              <a:t>Representative demo accounts used for testing include: Admin - admin@hospital.com / 123456, Doctor - doctor@hospital.com / 123456, and Patient - patient@hospital.com / 123456. Dummy patient examples include records such as Rahul Verma and other manually added profiles from the admin dashboard.</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Sample medical store entries include tablet, syrup, and report-related consumables with stored price and quantity data. Example appointment states include Scheduled, Completed, and Cancelled. Notifications are generated on order placement, appointment updates, and welcome or system events.</a:t>
            </a:r>
          </a:p>
          <a:p>
            <a:pPr algn="just">
              <a:lnSpc>
                <a:spcPct val="135000"/>
              </a:lnSpc>
              <a:spcAft>
                <a:spcPts val="600"/>
              </a:spcAft>
            </a:pPr>
            <a:endParaRPr lang="en-US" sz="1200">
              <a:solidFill>
                <a:srgbClr val="30241E"/>
              </a:solidFill>
              <a:latin typeface="Times New Roman" panose="02020603050405020304" pitchFamily="18" charset="0"/>
            </a:endParaRPr>
          </a:p>
          <a:p>
            <a:pPr algn="just">
              <a:lnSpc>
                <a:spcPct val="135000"/>
              </a:lnSpc>
              <a:spcAft>
                <a:spcPts val="600"/>
              </a:spcAft>
            </a:pPr>
            <a:r>
              <a:rPr lang="en-US" sz="1200">
                <a:solidFill>
                  <a:srgbClr val="30241E"/>
                </a:solidFill>
                <a:latin typeface="Times New Roman" panose="02020603050405020304" pitchFamily="18" charset="0"/>
              </a:rPr>
              <a:t>This appendix confirms that the system was designed to be demonstrable without external datasets while still preserving realistic hospital management behavior.</a:t>
            </a:r>
            <a:endParaRPr lang="en-IN" sz="1200">
              <a:solidFill>
                <a:srgbClr val="30241E"/>
              </a:solidFill>
              <a:latin typeface="Times New Roman" panose="02020603050405020304" pitchFamily="18" charset="0"/>
            </a:endParaRPr>
          </a:p>
        </p:txBody>
      </p:sp>
      <p:sp>
        <p:nvSpPr>
          <p:cNvPr id="6" name="TextBox 5">
            <a:extLst>
              <a:ext uri="{FF2B5EF4-FFF2-40B4-BE49-F238E27FC236}">
                <a16:creationId xmlns:a16="http://schemas.microsoft.com/office/drawing/2014/main" id="{C4D0FE13-9BD5-4B0D-0835-7A4677B3F0E8}"/>
              </a:ext>
            </a:extLst>
          </p:cNvPr>
          <p:cNvSpPr txBox="1"/>
          <p:nvPr/>
        </p:nvSpPr>
        <p:spPr>
          <a:xfrm>
            <a:off x="762000" y="6604000"/>
            <a:ext cx="6223000" cy="1537985"/>
          </a:xfrm>
          <a:prstGeom prst="rect">
            <a:avLst/>
          </a:prstGeom>
          <a:noFill/>
        </p:spPr>
        <p:txBody>
          <a:bodyPr vert="horz" rtlCol="0">
            <a:spAutoFit/>
          </a:bodyPr>
          <a:lstStyle/>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Cart behavior: repeated product addition increments quantity.</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Cart removal behavior: remove action decreases one quantity at a time.</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Order history behavior: deletion is allowed only when an order is marked delivered.</a:t>
            </a:r>
          </a:p>
          <a:p>
            <a:pPr marL="228600" indent="-228600">
              <a:lnSpc>
                <a:spcPct val="130000"/>
              </a:lnSpc>
              <a:spcAft>
                <a:spcPts val="700"/>
              </a:spcAft>
              <a:buFont typeface="+mj-lt"/>
              <a:buChar char="•"/>
            </a:pPr>
            <a:r>
              <a:rPr lang="en-US" sz="1200">
                <a:solidFill>
                  <a:srgbClr val="30241E"/>
                </a:solidFill>
                <a:latin typeface="Times New Roman" panose="02020603050405020304" pitchFamily="18" charset="0"/>
              </a:rPr>
              <a:t>Confirmation behavior: placing COD order redirects to a confirmation page with total amount and continue buying action.</a:t>
            </a:r>
            <a:endParaRPr lang="en-IN" sz="1200">
              <a:solidFill>
                <a:srgbClr val="30241E"/>
              </a:solidFill>
              <a:latin typeface="Times New Roman" panose="02020603050405020304" pitchFamily="18" charset="0"/>
            </a:endParaRPr>
          </a:p>
        </p:txBody>
      </p:sp>
    </p:spTree>
    <p:extLst>
      <p:ext uri="{BB962C8B-B14F-4D97-AF65-F5344CB8AC3E}">
        <p14:creationId xmlns:p14="http://schemas.microsoft.com/office/powerpoint/2010/main" val="34071757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83A255-681A-316B-5555-66B20DE472A2}"/>
              </a:ext>
            </a:extLst>
          </p:cNvPr>
          <p:cNvSpPr txBox="1"/>
          <p:nvPr/>
        </p:nvSpPr>
        <p:spPr>
          <a:xfrm>
            <a:off x="584200" y="431800"/>
            <a:ext cx="6388100" cy="338554"/>
          </a:xfrm>
          <a:prstGeom prst="rect">
            <a:avLst/>
          </a:prstGeom>
          <a:noFill/>
        </p:spPr>
        <p:txBody>
          <a:bodyPr vert="horz" rtlCol="0">
            <a:spAutoFit/>
          </a:bodyPr>
          <a:lstStyle/>
          <a:p>
            <a:r>
              <a:rPr lang="fr-FR" sz="1600" b="1">
                <a:solidFill>
                  <a:srgbClr val="0C0428"/>
                </a:solidFill>
                <a:latin typeface="Times New Roman" panose="02020603050405020304" pitchFamily="18" charset="0"/>
              </a:rPr>
              <a:t>APPENDIX C: SOURCE CODE ORGANIZATION</a:t>
            </a:r>
            <a:endParaRPr lang="en-IN" sz="1600" b="1">
              <a:solidFill>
                <a:srgbClr val="0C0428"/>
              </a:solidFill>
              <a:latin typeface="Times New Roman" panose="02020603050405020304" pitchFamily="18" charset="0"/>
            </a:endParaRPr>
          </a:p>
        </p:txBody>
      </p:sp>
      <p:sp>
        <p:nvSpPr>
          <p:cNvPr id="3" name="Rectangle 2">
            <a:extLst>
              <a:ext uri="{FF2B5EF4-FFF2-40B4-BE49-F238E27FC236}">
                <a16:creationId xmlns:a16="http://schemas.microsoft.com/office/drawing/2014/main" id="{0D0EAF5D-50EE-2F6A-344D-7B045166ADAA}"/>
              </a:ext>
            </a:extLst>
          </p:cNvPr>
          <p:cNvSpPr/>
          <p:nvPr/>
        </p:nvSpPr>
        <p:spPr>
          <a:xfrm>
            <a:off x="584200" y="1168400"/>
            <a:ext cx="1397000" cy="38100"/>
          </a:xfrm>
          <a:prstGeom prst="rect">
            <a:avLst/>
          </a:prstGeom>
          <a:solidFill>
            <a:srgbClr val="0A6BA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943DD83-6162-5979-E822-C04AE9051EF4}"/>
              </a:ext>
            </a:extLst>
          </p:cNvPr>
          <p:cNvSpPr txBox="1"/>
          <p:nvPr/>
        </p:nvSpPr>
        <p:spPr>
          <a:xfrm>
            <a:off x="3302000" y="10210800"/>
            <a:ext cx="952500" cy="246221"/>
          </a:xfrm>
          <a:prstGeom prst="rect">
            <a:avLst/>
          </a:prstGeom>
          <a:noFill/>
        </p:spPr>
        <p:txBody>
          <a:bodyPr vert="horz" rtlCol="0">
            <a:spAutoFit/>
          </a:bodyPr>
          <a:lstStyle/>
          <a:p>
            <a:pPr algn="ctr"/>
            <a:r>
              <a:rPr lang="en-IN" sz="1000">
                <a:solidFill>
                  <a:srgbClr val="696969"/>
                </a:solidFill>
                <a:latin typeface="Times New Roman" panose="02020603050405020304" pitchFamily="18" charset="0"/>
              </a:rPr>
              <a:t>70</a:t>
            </a:r>
          </a:p>
        </p:txBody>
      </p:sp>
      <p:sp>
        <p:nvSpPr>
          <p:cNvPr id="5" name="TextBox 4">
            <a:extLst>
              <a:ext uri="{FF2B5EF4-FFF2-40B4-BE49-F238E27FC236}">
                <a16:creationId xmlns:a16="http://schemas.microsoft.com/office/drawing/2014/main" id="{AE5CA8A3-F36E-963F-E757-3BAACFB01CDF}"/>
              </a:ext>
            </a:extLst>
          </p:cNvPr>
          <p:cNvSpPr txBox="1"/>
          <p:nvPr/>
        </p:nvSpPr>
        <p:spPr>
          <a:xfrm>
            <a:off x="1016000" y="1841500"/>
            <a:ext cx="2794000" cy="8816131"/>
          </a:xfrm>
          <a:prstGeom prst="rect">
            <a:avLst/>
          </a:prstGeom>
          <a:noFill/>
        </p:spPr>
        <p:txBody>
          <a:bodyPr vert="horz" wrap="square" rtlCol="0">
            <a:spAutoFit/>
          </a:bodyPr>
          <a:lstStyle/>
          <a:p>
            <a:pPr>
              <a:lnSpc>
                <a:spcPct val="135000"/>
              </a:lnSpc>
              <a:spcAft>
                <a:spcPts val="600"/>
              </a:spcAft>
            </a:pPr>
            <a:r>
              <a:rPr lang="en-IN" sz="1200">
                <a:solidFill>
                  <a:srgbClr val="30241E"/>
                </a:solidFill>
                <a:latin typeface="Times New Roman" panose="02020603050405020304" pitchFamily="18" charset="0"/>
              </a:rPr>
              <a:t>backend/</a:t>
            </a:r>
          </a:p>
          <a:p>
            <a:pPr>
              <a:lnSpc>
                <a:spcPct val="135000"/>
              </a:lnSpc>
              <a:spcAft>
                <a:spcPts val="600"/>
              </a:spcAft>
            </a:pPr>
            <a:r>
              <a:rPr lang="en-IN" sz="1200">
                <a:solidFill>
                  <a:srgbClr val="30241E"/>
                </a:solidFill>
                <a:latin typeface="Times New Roman" panose="02020603050405020304" pitchFamily="18" charset="0"/>
              </a:rPr>
              <a:t>  config/</a:t>
            </a:r>
          </a:p>
          <a:p>
            <a:pPr>
              <a:lnSpc>
                <a:spcPct val="135000"/>
              </a:lnSpc>
              <a:spcAft>
                <a:spcPts val="600"/>
              </a:spcAft>
            </a:pPr>
            <a:r>
              <a:rPr lang="en-IN" sz="1200">
                <a:solidFill>
                  <a:srgbClr val="30241E"/>
                </a:solidFill>
                <a:latin typeface="Times New Roman" panose="02020603050405020304" pitchFamily="18" charset="0"/>
              </a:rPr>
              <a:t>  controllers/</a:t>
            </a:r>
          </a:p>
          <a:p>
            <a:pPr>
              <a:lnSpc>
                <a:spcPct val="135000"/>
              </a:lnSpc>
              <a:spcAft>
                <a:spcPts val="600"/>
              </a:spcAft>
            </a:pPr>
            <a:r>
              <a:rPr lang="en-IN" sz="1200">
                <a:solidFill>
                  <a:srgbClr val="30241E"/>
                </a:solidFill>
                <a:latin typeface="Times New Roman" panose="02020603050405020304" pitchFamily="18" charset="0"/>
              </a:rPr>
              <a:t>  middleware/</a:t>
            </a:r>
          </a:p>
          <a:p>
            <a:pPr>
              <a:lnSpc>
                <a:spcPct val="135000"/>
              </a:lnSpc>
              <a:spcAft>
                <a:spcPts val="600"/>
              </a:spcAft>
            </a:pPr>
            <a:r>
              <a:rPr lang="en-IN" sz="1200">
                <a:solidFill>
                  <a:srgbClr val="30241E"/>
                </a:solidFill>
                <a:latin typeface="Times New Roman" panose="02020603050405020304" pitchFamily="18" charset="0"/>
              </a:rPr>
              <a:t>  models/</a:t>
            </a:r>
          </a:p>
          <a:p>
            <a:pPr>
              <a:lnSpc>
                <a:spcPct val="135000"/>
              </a:lnSpc>
              <a:spcAft>
                <a:spcPts val="600"/>
              </a:spcAft>
            </a:pPr>
            <a:r>
              <a:rPr lang="en-IN" sz="1200">
                <a:solidFill>
                  <a:srgbClr val="30241E"/>
                </a:solidFill>
                <a:latin typeface="Times New Roman" panose="02020603050405020304" pitchFamily="18" charset="0"/>
              </a:rPr>
              <a:t>  routes/</a:t>
            </a:r>
          </a:p>
          <a:p>
            <a:pPr>
              <a:lnSpc>
                <a:spcPct val="135000"/>
              </a:lnSpc>
              <a:spcAft>
                <a:spcPts val="600"/>
              </a:spcAft>
            </a:pPr>
            <a:r>
              <a:rPr lang="en-IN" sz="1200">
                <a:solidFill>
                  <a:srgbClr val="30241E"/>
                </a:solidFill>
                <a:latin typeface="Times New Roman" panose="02020603050405020304" pitchFamily="18" charset="0"/>
              </a:rPr>
              <a:t>  seed/</a:t>
            </a:r>
          </a:p>
          <a:p>
            <a:pPr>
              <a:lnSpc>
                <a:spcPct val="135000"/>
              </a:lnSpc>
              <a:spcAft>
                <a:spcPts val="600"/>
              </a:spcAft>
            </a:pPr>
            <a:r>
              <a:rPr lang="en-IN" sz="1200">
                <a:solidFill>
                  <a:srgbClr val="30241E"/>
                </a:solidFill>
                <a:latin typeface="Times New Roman" panose="02020603050405020304" pitchFamily="18" charset="0"/>
              </a:rPr>
              <a:t>  uploads/</a:t>
            </a:r>
          </a:p>
          <a:p>
            <a:pPr>
              <a:lnSpc>
                <a:spcPct val="135000"/>
              </a:lnSpc>
              <a:spcAft>
                <a:spcPts val="600"/>
              </a:spcAft>
            </a:pPr>
            <a:r>
              <a:rPr lang="en-IN" sz="1200">
                <a:solidFill>
                  <a:srgbClr val="30241E"/>
                </a:solidFill>
                <a:latin typeface="Times New Roman" panose="02020603050405020304" pitchFamily="18" charset="0"/>
              </a:rPr>
              <a:t>  utils/</a:t>
            </a:r>
          </a:p>
          <a:p>
            <a:pPr>
              <a:lnSpc>
                <a:spcPct val="135000"/>
              </a:lnSpc>
              <a:spcAft>
                <a:spcPts val="600"/>
              </a:spcAft>
            </a:pPr>
            <a:r>
              <a:rPr lang="en-IN" sz="1200">
                <a:solidFill>
                  <a:srgbClr val="30241E"/>
                </a:solidFill>
                <a:latin typeface="Times New Roman" panose="02020603050405020304" pitchFamily="18" charset="0"/>
              </a:rPr>
              <a:t>  server.js</a:t>
            </a:r>
          </a:p>
          <a:p>
            <a:pPr>
              <a:lnSpc>
                <a:spcPct val="135000"/>
              </a:lnSpc>
              <a:spcAft>
                <a:spcPts val="600"/>
              </a:spcAft>
            </a:pPr>
            <a:endParaRPr lang="en-IN" sz="1200">
              <a:solidFill>
                <a:srgbClr val="30241E"/>
              </a:solidFill>
              <a:latin typeface="Times New Roman" panose="02020603050405020304" pitchFamily="18" charset="0"/>
            </a:endParaRPr>
          </a:p>
          <a:p>
            <a:pPr>
              <a:lnSpc>
                <a:spcPct val="135000"/>
              </a:lnSpc>
              <a:spcAft>
                <a:spcPts val="600"/>
              </a:spcAft>
            </a:pPr>
            <a:r>
              <a:rPr lang="en-IN" sz="1200">
                <a:solidFill>
                  <a:srgbClr val="30241E"/>
                </a:solidFill>
                <a:latin typeface="Times New Roman" panose="02020603050405020304" pitchFamily="18" charset="0"/>
              </a:rPr>
              <a:t>frontend/</a:t>
            </a:r>
          </a:p>
          <a:p>
            <a:pPr>
              <a:lnSpc>
                <a:spcPct val="135000"/>
              </a:lnSpc>
              <a:spcAft>
                <a:spcPts val="600"/>
              </a:spcAft>
            </a:pPr>
            <a:r>
              <a:rPr lang="en-IN" sz="1200">
                <a:solidFill>
                  <a:srgbClr val="30241E"/>
                </a:solidFill>
                <a:latin typeface="Times New Roman" panose="02020603050405020304" pitchFamily="18" charset="0"/>
              </a:rPr>
              <a:t>  src/</a:t>
            </a:r>
          </a:p>
          <a:p>
            <a:pPr>
              <a:lnSpc>
                <a:spcPct val="135000"/>
              </a:lnSpc>
              <a:spcAft>
                <a:spcPts val="600"/>
              </a:spcAft>
            </a:pPr>
            <a:r>
              <a:rPr lang="en-IN" sz="1200">
                <a:solidFill>
                  <a:srgbClr val="30241E"/>
                </a:solidFill>
                <a:latin typeface="Times New Roman" panose="02020603050405020304" pitchFamily="18" charset="0"/>
              </a:rPr>
              <a:t>    components/</a:t>
            </a:r>
          </a:p>
          <a:p>
            <a:pPr>
              <a:lnSpc>
                <a:spcPct val="135000"/>
              </a:lnSpc>
              <a:spcAft>
                <a:spcPts val="600"/>
              </a:spcAft>
            </a:pPr>
            <a:r>
              <a:rPr lang="en-IN" sz="1200">
                <a:solidFill>
                  <a:srgbClr val="30241E"/>
                </a:solidFill>
                <a:latin typeface="Times New Roman" panose="02020603050405020304" pitchFamily="18" charset="0"/>
              </a:rPr>
              <a:t>    context/</a:t>
            </a:r>
          </a:p>
          <a:p>
            <a:pPr>
              <a:lnSpc>
                <a:spcPct val="135000"/>
              </a:lnSpc>
              <a:spcAft>
                <a:spcPts val="600"/>
              </a:spcAft>
            </a:pPr>
            <a:r>
              <a:rPr lang="en-IN" sz="1200">
                <a:solidFill>
                  <a:srgbClr val="30241E"/>
                </a:solidFill>
                <a:latin typeface="Times New Roman" panose="02020603050405020304" pitchFamily="18" charset="0"/>
              </a:rPr>
              <a:t>    pages/</a:t>
            </a:r>
          </a:p>
          <a:p>
            <a:pPr>
              <a:lnSpc>
                <a:spcPct val="135000"/>
              </a:lnSpc>
              <a:spcAft>
                <a:spcPts val="600"/>
              </a:spcAft>
            </a:pPr>
            <a:r>
              <a:rPr lang="en-IN" sz="1200">
                <a:solidFill>
                  <a:srgbClr val="30241E"/>
                </a:solidFill>
                <a:latin typeface="Times New Roman" panose="02020603050405020304" pitchFamily="18" charset="0"/>
              </a:rPr>
              <a:t>    services/</a:t>
            </a:r>
          </a:p>
          <a:p>
            <a:pPr>
              <a:lnSpc>
                <a:spcPct val="135000"/>
              </a:lnSpc>
              <a:spcAft>
                <a:spcPts val="600"/>
              </a:spcAft>
            </a:pPr>
            <a:r>
              <a:rPr lang="en-IN" sz="1200">
                <a:solidFill>
                  <a:srgbClr val="30241E"/>
                </a:solidFill>
                <a:latin typeface="Times New Roman" panose="02020603050405020304" pitchFamily="18" charset="0"/>
              </a:rPr>
              <a:t>    styles/</a:t>
            </a:r>
          </a:p>
          <a:p>
            <a:pPr>
              <a:lnSpc>
                <a:spcPct val="135000"/>
              </a:lnSpc>
              <a:spcAft>
                <a:spcPts val="600"/>
              </a:spcAft>
            </a:pPr>
            <a:r>
              <a:rPr lang="en-IN" sz="1200">
                <a:solidFill>
                  <a:srgbClr val="30241E"/>
                </a:solidFill>
                <a:latin typeface="Times New Roman" panose="02020603050405020304" pitchFamily="18" charset="0"/>
              </a:rPr>
              <a:t>  App.jsx</a:t>
            </a:r>
          </a:p>
          <a:p>
            <a:pPr>
              <a:lnSpc>
                <a:spcPct val="135000"/>
              </a:lnSpc>
              <a:spcAft>
                <a:spcPts val="600"/>
              </a:spcAft>
            </a:pPr>
            <a:endParaRPr lang="en-IN" sz="1200">
              <a:solidFill>
                <a:srgbClr val="30241E"/>
              </a:solidFill>
              <a:latin typeface="Times New Roman" panose="02020603050405020304" pitchFamily="18" charset="0"/>
            </a:endParaRPr>
          </a:p>
          <a:p>
            <a:pPr>
              <a:lnSpc>
                <a:spcPct val="135000"/>
              </a:lnSpc>
              <a:spcAft>
                <a:spcPts val="600"/>
              </a:spcAft>
            </a:pPr>
            <a:r>
              <a:rPr lang="en-IN" sz="1200">
                <a:solidFill>
                  <a:srgbClr val="30241E"/>
                </a:solidFill>
                <a:latin typeface="Times New Roman" panose="02020603050405020304" pitchFamily="18" charset="0"/>
              </a:rPr>
              <a:t>report/</a:t>
            </a:r>
          </a:p>
          <a:p>
            <a:pPr>
              <a:lnSpc>
                <a:spcPct val="135000"/>
              </a:lnSpc>
              <a:spcAft>
                <a:spcPts val="600"/>
              </a:spcAft>
            </a:pPr>
            <a:r>
              <a:rPr lang="en-IN" sz="1200">
                <a:solidFill>
                  <a:srgbClr val="30241E"/>
                </a:solidFill>
                <a:latin typeface="Times New Roman" panose="02020603050405020304" pitchFamily="18" charset="0"/>
              </a:rPr>
              <a:t>  Smart_Hospital_Management_System_Standards_Report.pdf</a:t>
            </a:r>
          </a:p>
          <a:p>
            <a:pPr>
              <a:lnSpc>
                <a:spcPct val="135000"/>
              </a:lnSpc>
              <a:spcAft>
                <a:spcPts val="600"/>
              </a:spcAft>
            </a:pPr>
            <a:r>
              <a:rPr lang="en-IN" sz="1200">
                <a:solidFill>
                  <a:srgbClr val="30241E"/>
                </a:solidFill>
                <a:latin typeface="Times New Roman" panose="02020603050405020304" pitchFamily="18" charset="0"/>
              </a:rPr>
              <a:t>  Smart_Hospital_Management_System_Standards_Report.pptx</a:t>
            </a:r>
          </a:p>
          <a:p>
            <a:pPr>
              <a:lnSpc>
                <a:spcPct val="135000"/>
              </a:lnSpc>
              <a:spcAft>
                <a:spcPts val="600"/>
              </a:spcAft>
            </a:pPr>
            <a:r>
              <a:rPr lang="en-IN" sz="1200">
                <a:solidFill>
                  <a:srgbClr val="30241E"/>
                </a:solidFill>
                <a:latin typeface="Times New Roman" panose="02020603050405020304" pitchFamily="18" charset="0"/>
              </a:rPr>
              <a:t>  diagrams/</a:t>
            </a:r>
          </a:p>
        </p:txBody>
      </p:sp>
      <p:sp>
        <p:nvSpPr>
          <p:cNvPr id="6" name="TextBox 5">
            <a:extLst>
              <a:ext uri="{FF2B5EF4-FFF2-40B4-BE49-F238E27FC236}">
                <a16:creationId xmlns:a16="http://schemas.microsoft.com/office/drawing/2014/main" id="{5568EC79-BBB4-1A65-E9DC-87754D0E8B98}"/>
              </a:ext>
            </a:extLst>
          </p:cNvPr>
          <p:cNvSpPr txBox="1"/>
          <p:nvPr/>
        </p:nvSpPr>
        <p:spPr>
          <a:xfrm>
            <a:off x="4064000" y="2413000"/>
            <a:ext cx="2794000" cy="1439433"/>
          </a:xfrm>
          <a:prstGeom prst="rect">
            <a:avLst/>
          </a:prstGeom>
          <a:noFill/>
        </p:spPr>
        <p:txBody>
          <a:bodyPr vert="horz" wrap="square" rtlCol="0">
            <a:spAutoFit/>
          </a:bodyPr>
          <a:lstStyle/>
          <a:p>
            <a:pPr algn="just">
              <a:lnSpc>
                <a:spcPct val="135000"/>
              </a:lnSpc>
              <a:spcAft>
                <a:spcPts val="600"/>
              </a:spcAft>
            </a:pPr>
            <a:r>
              <a:rPr lang="en-US" sz="1100">
                <a:solidFill>
                  <a:srgbClr val="30241E"/>
                </a:solidFill>
                <a:latin typeface="Times New Roman" panose="02020603050405020304" pitchFamily="18" charset="0"/>
              </a:rPr>
              <a:t>The report diagrams have also been exported separately to the diagrams folder for easy reuse in presentations or document editing. This appendix gives a compact overview of the implemented codebase and the generated report assets.</a:t>
            </a:r>
            <a:endParaRPr lang="en-IN" sz="1100">
              <a:solidFill>
                <a:srgbClr val="30241E"/>
              </a:solidFill>
              <a:latin typeface="Times New Roman" panose="02020603050405020304" pitchFamily="18" charset="0"/>
            </a:endParaRPr>
          </a:p>
        </p:txBody>
      </p:sp>
      <p:sp>
        <p:nvSpPr>
          <p:cNvPr id="7" name="TextBox 6">
            <a:extLst>
              <a:ext uri="{FF2B5EF4-FFF2-40B4-BE49-F238E27FC236}">
                <a16:creationId xmlns:a16="http://schemas.microsoft.com/office/drawing/2014/main" id="{5869CC31-3045-4523-41BC-0CED9CD7ED2D}"/>
              </a:ext>
            </a:extLst>
          </p:cNvPr>
          <p:cNvSpPr txBox="1"/>
          <p:nvPr/>
        </p:nvSpPr>
        <p:spPr>
          <a:xfrm>
            <a:off x="4191000" y="5334000"/>
            <a:ext cx="2286000" cy="1721562"/>
          </a:xfrm>
          <a:prstGeom prst="rect">
            <a:avLst/>
          </a:prstGeom>
          <a:noFill/>
        </p:spPr>
        <p:txBody>
          <a:bodyPr vert="horz" rtlCol="0">
            <a:spAutoFit/>
          </a:bodyPr>
          <a:lstStyle/>
          <a:p>
            <a:pPr marL="228600" indent="-228600">
              <a:lnSpc>
                <a:spcPct val="130000"/>
              </a:lnSpc>
              <a:spcAft>
                <a:spcPts val="700"/>
              </a:spcAft>
              <a:buFont typeface="+mj-lt"/>
              <a:buChar char="•"/>
            </a:pPr>
            <a:r>
              <a:rPr lang="en-IN" sz="1000">
                <a:solidFill>
                  <a:srgbClr val="30241E"/>
                </a:solidFill>
                <a:latin typeface="Times New Roman" panose="02020603050405020304" pitchFamily="18" charset="0"/>
              </a:rPr>
              <a:t>01_system_architecture.png</a:t>
            </a:r>
          </a:p>
          <a:p>
            <a:pPr marL="228600" indent="-228600">
              <a:lnSpc>
                <a:spcPct val="130000"/>
              </a:lnSpc>
              <a:spcAft>
                <a:spcPts val="700"/>
              </a:spcAft>
              <a:buFont typeface="+mj-lt"/>
              <a:buChar char="•"/>
            </a:pPr>
            <a:r>
              <a:rPr lang="en-IN" sz="1000">
                <a:solidFill>
                  <a:srgbClr val="30241E"/>
                </a:solidFill>
                <a:latin typeface="Times New Roman" panose="02020603050405020304" pitchFamily="18" charset="0"/>
              </a:rPr>
              <a:t>03_dfd_level_0.png</a:t>
            </a:r>
          </a:p>
          <a:p>
            <a:pPr marL="228600" indent="-228600">
              <a:lnSpc>
                <a:spcPct val="130000"/>
              </a:lnSpc>
              <a:spcAft>
                <a:spcPts val="700"/>
              </a:spcAft>
              <a:buFont typeface="+mj-lt"/>
              <a:buChar char="•"/>
            </a:pPr>
            <a:r>
              <a:rPr lang="en-IN" sz="1000">
                <a:solidFill>
                  <a:srgbClr val="30241E"/>
                </a:solidFill>
                <a:latin typeface="Times New Roman" panose="02020603050405020304" pitchFamily="18" charset="0"/>
              </a:rPr>
              <a:t>04_dfd_level_1_patient.png</a:t>
            </a:r>
          </a:p>
          <a:p>
            <a:pPr marL="228600" indent="-228600">
              <a:lnSpc>
                <a:spcPct val="130000"/>
              </a:lnSpc>
              <a:spcAft>
                <a:spcPts val="700"/>
              </a:spcAft>
              <a:buFont typeface="+mj-lt"/>
              <a:buChar char="•"/>
            </a:pPr>
            <a:r>
              <a:rPr lang="en-IN" sz="1000">
                <a:solidFill>
                  <a:srgbClr val="30241E"/>
                </a:solidFill>
                <a:latin typeface="Times New Roman" panose="02020603050405020304" pitchFamily="18" charset="0"/>
              </a:rPr>
              <a:t>05_dfd_level_1_admin_doctor.png</a:t>
            </a:r>
          </a:p>
          <a:p>
            <a:pPr marL="228600" indent="-228600">
              <a:lnSpc>
                <a:spcPct val="130000"/>
              </a:lnSpc>
              <a:spcAft>
                <a:spcPts val="700"/>
              </a:spcAft>
              <a:buFont typeface="+mj-lt"/>
              <a:buChar char="•"/>
            </a:pPr>
            <a:r>
              <a:rPr lang="en-IN" sz="1000">
                <a:solidFill>
                  <a:srgbClr val="30241E"/>
                </a:solidFill>
                <a:latin typeface="Times New Roman" panose="02020603050405020304" pitchFamily="18" charset="0"/>
              </a:rPr>
              <a:t>06_use_case_diagram.png</a:t>
            </a:r>
          </a:p>
          <a:p>
            <a:pPr marL="228600" indent="-228600">
              <a:lnSpc>
                <a:spcPct val="130000"/>
              </a:lnSpc>
              <a:spcAft>
                <a:spcPts val="700"/>
              </a:spcAft>
              <a:buFont typeface="+mj-lt"/>
              <a:buChar char="•"/>
            </a:pPr>
            <a:r>
              <a:rPr lang="en-IN" sz="1000">
                <a:solidFill>
                  <a:srgbClr val="30241E"/>
                </a:solidFill>
                <a:latin typeface="Times New Roman" panose="02020603050405020304" pitchFamily="18" charset="0"/>
              </a:rPr>
              <a:t>07_sequence_diagram.png</a:t>
            </a:r>
          </a:p>
        </p:txBody>
      </p:sp>
    </p:spTree>
    <p:extLst>
      <p:ext uri="{BB962C8B-B14F-4D97-AF65-F5344CB8AC3E}">
        <p14:creationId xmlns:p14="http://schemas.microsoft.com/office/powerpoint/2010/main" val="2919678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8828</Words>
  <Application>Microsoft Office PowerPoint</Application>
  <PresentationFormat>Custom</PresentationFormat>
  <Paragraphs>970</Paragraphs>
  <Slides>70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Shreyansh Verma</dc:creator>
  <cp:lastModifiedBy>Shreyansh Verma</cp:lastModifiedBy>
  <cp:revision>3</cp:revision>
  <dcterms:created xsi:type="dcterms:W3CDTF">2026-04-17T19:24:52Z</dcterms:created>
  <dcterms:modified xsi:type="dcterms:W3CDTF">2026-04-17T19:26:45Z</dcterms:modified>
</cp:coreProperties>
</file>